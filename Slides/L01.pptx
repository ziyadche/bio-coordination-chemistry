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62" r:id="rId2"/>
    <p:sldId id="267" r:id="rId3"/>
    <p:sldId id="261" r:id="rId4"/>
    <p:sldId id="256" r:id="rId5"/>
    <p:sldId id="291" r:id="rId6"/>
    <p:sldId id="268" r:id="rId7"/>
    <p:sldId id="269" r:id="rId8"/>
    <p:sldId id="270" r:id="rId9"/>
    <p:sldId id="299" r:id="rId10"/>
    <p:sldId id="296" r:id="rId11"/>
    <p:sldId id="295" r:id="rId12"/>
    <p:sldId id="292" r:id="rId13"/>
    <p:sldId id="271" r:id="rId14"/>
    <p:sldId id="272" r:id="rId15"/>
    <p:sldId id="294" r:id="rId16"/>
    <p:sldId id="297" r:id="rId17"/>
    <p:sldId id="298" r:id="rId18"/>
    <p:sldId id="301" r:id="rId19"/>
    <p:sldId id="300" r:id="rId20"/>
    <p:sldId id="302" r:id="rId21"/>
    <p:sldId id="303" r:id="rId22"/>
    <p:sldId id="304" r:id="rId23"/>
    <p:sldId id="305" r:id="rId24"/>
    <p:sldId id="306" r:id="rId25"/>
    <p:sldId id="307" r:id="rId26"/>
    <p:sldId id="273" r:id="rId27"/>
    <p:sldId id="317" r:id="rId28"/>
    <p:sldId id="318" r:id="rId29"/>
    <p:sldId id="279" r:id="rId30"/>
    <p:sldId id="281" r:id="rId31"/>
    <p:sldId id="282" r:id="rId32"/>
    <p:sldId id="283" r:id="rId33"/>
    <p:sldId id="284" r:id="rId34"/>
    <p:sldId id="309" r:id="rId35"/>
    <p:sldId id="310" r:id="rId36"/>
    <p:sldId id="311" r:id="rId37"/>
    <p:sldId id="312" r:id="rId38"/>
    <p:sldId id="313" r:id="rId39"/>
    <p:sldId id="314" r:id="rId40"/>
    <p:sldId id="315" r:id="rId41"/>
    <p:sldId id="316"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2700">
          <p15:clr>
            <a:srgbClr val="A4A3A4"/>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00"/>
    <a:srgbClr val="336600"/>
    <a:srgbClr val="33CC33"/>
    <a:srgbClr val="008000"/>
    <a:srgbClr val="990000"/>
    <a:srgbClr val="0000FF"/>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939C94-1ED5-4642-861A-271D07BED751}" v="5" dt="2026-03-11T15:29:15.4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22" autoAdjust="0"/>
    <p:restoredTop sz="94414" autoAdjust="0"/>
  </p:normalViewPr>
  <p:slideViewPr>
    <p:cSldViewPr snapToGrid="0">
      <p:cViewPr varScale="1">
        <p:scale>
          <a:sx n="71" d="100"/>
          <a:sy n="71" d="100"/>
        </p:scale>
        <p:origin x="1114" y="283"/>
      </p:cViewPr>
      <p:guideLst>
        <p:guide orient="horz" pos="2160"/>
        <p:guide orient="horz" pos="270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Ziyad" userId="2029eb95e4d7ca24" providerId="LiveId" clId="{5AFDEDFA-7FFF-4964-9F1B-F9791404DBEF}"/>
    <pc:docChg chg="modSld modMainMaster">
      <pc:chgData name="Mohammed Ziyad" userId="2029eb95e4d7ca24" providerId="LiveId" clId="{5AFDEDFA-7FFF-4964-9F1B-F9791404DBEF}" dt="2026-03-11T15:29:15.445" v="3"/>
      <pc:docMkLst>
        <pc:docMk/>
      </pc:docMkLst>
      <pc:sldChg chg="setBg">
        <pc:chgData name="Mohammed Ziyad" userId="2029eb95e4d7ca24" providerId="LiveId" clId="{5AFDEDFA-7FFF-4964-9F1B-F9791404DBEF}" dt="2026-03-11T15:29:05.233" v="1"/>
        <pc:sldMkLst>
          <pc:docMk/>
          <pc:sldMk cId="0" sldId="262"/>
        </pc:sldMkLst>
      </pc:sldChg>
      <pc:sldChg chg="setBg">
        <pc:chgData name="Mohammed Ziyad" userId="2029eb95e4d7ca24" providerId="LiveId" clId="{5AFDEDFA-7FFF-4964-9F1B-F9791404DBEF}" dt="2026-03-11T15:29:15.445" v="3"/>
        <pc:sldMkLst>
          <pc:docMk/>
          <pc:sldMk cId="0" sldId="267"/>
        </pc:sldMkLst>
      </pc:sldChg>
      <pc:sldMasterChg chg="setBg modSldLayout">
        <pc:chgData name="Mohammed Ziyad" userId="2029eb95e4d7ca24" providerId="LiveId" clId="{5AFDEDFA-7FFF-4964-9F1B-F9791404DBEF}" dt="2026-03-11T15:29:15.445" v="3"/>
        <pc:sldMasterMkLst>
          <pc:docMk/>
          <pc:sldMasterMk cId="0" sldId="2147483648"/>
        </pc:sldMasterMkLst>
        <pc:sldLayoutChg chg="setBg">
          <pc:chgData name="Mohammed Ziyad" userId="2029eb95e4d7ca24" providerId="LiveId" clId="{5AFDEDFA-7FFF-4964-9F1B-F9791404DBEF}" dt="2026-03-11T15:29:15.445" v="3"/>
          <pc:sldLayoutMkLst>
            <pc:docMk/>
            <pc:sldMasterMk cId="0" sldId="2147483648"/>
            <pc:sldLayoutMk cId="2801167310" sldId="2147483649"/>
          </pc:sldLayoutMkLst>
        </pc:sldLayoutChg>
        <pc:sldLayoutChg chg="setBg">
          <pc:chgData name="Mohammed Ziyad" userId="2029eb95e4d7ca24" providerId="LiveId" clId="{5AFDEDFA-7FFF-4964-9F1B-F9791404DBEF}" dt="2026-03-11T15:29:15.445" v="3"/>
          <pc:sldLayoutMkLst>
            <pc:docMk/>
            <pc:sldMasterMk cId="0" sldId="2147483648"/>
            <pc:sldLayoutMk cId="1844074883" sldId="2147483650"/>
          </pc:sldLayoutMkLst>
        </pc:sldLayoutChg>
        <pc:sldLayoutChg chg="setBg">
          <pc:chgData name="Mohammed Ziyad" userId="2029eb95e4d7ca24" providerId="LiveId" clId="{5AFDEDFA-7FFF-4964-9F1B-F9791404DBEF}" dt="2026-03-11T15:29:15.445" v="3"/>
          <pc:sldLayoutMkLst>
            <pc:docMk/>
            <pc:sldMasterMk cId="0" sldId="2147483648"/>
            <pc:sldLayoutMk cId="4164296236" sldId="2147483651"/>
          </pc:sldLayoutMkLst>
        </pc:sldLayoutChg>
        <pc:sldLayoutChg chg="setBg">
          <pc:chgData name="Mohammed Ziyad" userId="2029eb95e4d7ca24" providerId="LiveId" clId="{5AFDEDFA-7FFF-4964-9F1B-F9791404DBEF}" dt="2026-03-11T15:29:15.445" v="3"/>
          <pc:sldLayoutMkLst>
            <pc:docMk/>
            <pc:sldMasterMk cId="0" sldId="2147483648"/>
            <pc:sldLayoutMk cId="4289910603" sldId="2147483652"/>
          </pc:sldLayoutMkLst>
        </pc:sldLayoutChg>
        <pc:sldLayoutChg chg="setBg">
          <pc:chgData name="Mohammed Ziyad" userId="2029eb95e4d7ca24" providerId="LiveId" clId="{5AFDEDFA-7FFF-4964-9F1B-F9791404DBEF}" dt="2026-03-11T15:29:15.445" v="3"/>
          <pc:sldLayoutMkLst>
            <pc:docMk/>
            <pc:sldMasterMk cId="0" sldId="2147483648"/>
            <pc:sldLayoutMk cId="3441930246" sldId="2147483653"/>
          </pc:sldLayoutMkLst>
        </pc:sldLayoutChg>
        <pc:sldLayoutChg chg="setBg">
          <pc:chgData name="Mohammed Ziyad" userId="2029eb95e4d7ca24" providerId="LiveId" clId="{5AFDEDFA-7FFF-4964-9F1B-F9791404DBEF}" dt="2026-03-11T15:29:15.445" v="3"/>
          <pc:sldLayoutMkLst>
            <pc:docMk/>
            <pc:sldMasterMk cId="0" sldId="2147483648"/>
            <pc:sldLayoutMk cId="1914761476" sldId="2147483654"/>
          </pc:sldLayoutMkLst>
        </pc:sldLayoutChg>
        <pc:sldLayoutChg chg="setBg">
          <pc:chgData name="Mohammed Ziyad" userId="2029eb95e4d7ca24" providerId="LiveId" clId="{5AFDEDFA-7FFF-4964-9F1B-F9791404DBEF}" dt="2026-03-11T15:29:15.445" v="3"/>
          <pc:sldLayoutMkLst>
            <pc:docMk/>
            <pc:sldMasterMk cId="0" sldId="2147483648"/>
            <pc:sldLayoutMk cId="1155961325" sldId="2147483655"/>
          </pc:sldLayoutMkLst>
        </pc:sldLayoutChg>
        <pc:sldLayoutChg chg="setBg">
          <pc:chgData name="Mohammed Ziyad" userId="2029eb95e4d7ca24" providerId="LiveId" clId="{5AFDEDFA-7FFF-4964-9F1B-F9791404DBEF}" dt="2026-03-11T15:29:15.445" v="3"/>
          <pc:sldLayoutMkLst>
            <pc:docMk/>
            <pc:sldMasterMk cId="0" sldId="2147483648"/>
            <pc:sldLayoutMk cId="2226062309" sldId="2147483656"/>
          </pc:sldLayoutMkLst>
        </pc:sldLayoutChg>
        <pc:sldLayoutChg chg="setBg">
          <pc:chgData name="Mohammed Ziyad" userId="2029eb95e4d7ca24" providerId="LiveId" clId="{5AFDEDFA-7FFF-4964-9F1B-F9791404DBEF}" dt="2026-03-11T15:29:15.445" v="3"/>
          <pc:sldLayoutMkLst>
            <pc:docMk/>
            <pc:sldMasterMk cId="0" sldId="2147483648"/>
            <pc:sldLayoutMk cId="2401606126" sldId="2147483657"/>
          </pc:sldLayoutMkLst>
        </pc:sldLayoutChg>
        <pc:sldLayoutChg chg="setBg">
          <pc:chgData name="Mohammed Ziyad" userId="2029eb95e4d7ca24" providerId="LiveId" clId="{5AFDEDFA-7FFF-4964-9F1B-F9791404DBEF}" dt="2026-03-11T15:29:15.445" v="3"/>
          <pc:sldLayoutMkLst>
            <pc:docMk/>
            <pc:sldMasterMk cId="0" sldId="2147483648"/>
            <pc:sldLayoutMk cId="861967495" sldId="2147483658"/>
          </pc:sldLayoutMkLst>
        </pc:sldLayoutChg>
        <pc:sldLayoutChg chg="setBg">
          <pc:chgData name="Mohammed Ziyad" userId="2029eb95e4d7ca24" providerId="LiveId" clId="{5AFDEDFA-7FFF-4964-9F1B-F9791404DBEF}" dt="2026-03-11T15:29:15.445" v="3"/>
          <pc:sldLayoutMkLst>
            <pc:docMk/>
            <pc:sldMasterMk cId="0" sldId="2147483648"/>
            <pc:sldLayoutMk cId="4169488281"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a:p>
        </p:txBody>
      </p:sp>
      <p:sp>
        <p:nvSpPr>
          <p:cNvPr id="655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55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p>
        </p:txBody>
      </p:sp>
      <p:sp>
        <p:nvSpPr>
          <p:cNvPr id="655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DA29A49F-BEAB-483F-A391-78BC6517D049}" type="slidenum">
              <a:rPr lang="en-US"/>
              <a:pPr>
                <a:defRPr/>
              </a:pPr>
              <a:t>‹#›</a:t>
            </a:fld>
            <a:endParaRPr lang="en-US"/>
          </a:p>
        </p:txBody>
      </p:sp>
    </p:spTree>
    <p:extLst>
      <p:ext uri="{BB962C8B-B14F-4D97-AF65-F5344CB8AC3E}">
        <p14:creationId xmlns:p14="http://schemas.microsoft.com/office/powerpoint/2010/main" val="37611200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EB49DDF-E984-48E6-9B12-4DC92C6F0E9E}" type="slidenum">
              <a:rPr lang="en-US"/>
              <a:pPr eaLnBrk="1" hangingPunct="1"/>
              <a:t>27</a:t>
            </a:fld>
            <a:endParaRPr lang="en-US"/>
          </a:p>
        </p:txBody>
      </p:sp>
      <p:sp>
        <p:nvSpPr>
          <p:cNvPr id="45059" name="Slide Image Placeholder 1"/>
          <p:cNvSpPr>
            <a:spLocks noGrp="1" noRot="1" noChangeAspect="1" noTextEdit="1"/>
          </p:cNvSpPr>
          <p:nvPr>
            <p:ph type="sldImg"/>
          </p:nvPr>
        </p:nvSpPr>
        <p:spPr>
          <a:ln/>
        </p:spPr>
      </p:sp>
      <p:sp>
        <p:nvSpPr>
          <p:cNvPr id="45060" name="Notes Placeholder 2"/>
          <p:cNvSpPr>
            <a:spLocks noGrp="1"/>
          </p:cNvSpPr>
          <p:nvPr>
            <p:ph type="body" idx="1"/>
          </p:nvPr>
        </p:nvSpPr>
        <p:spPr>
          <a:noFill/>
        </p:spPr>
        <p:txBody>
          <a:bodyPr/>
          <a:lstStyle/>
          <a:p>
            <a:pPr eaLnBrk="1" hangingPunct="1">
              <a:spcBef>
                <a:spcPct val="0"/>
              </a:spcBef>
            </a:pPr>
            <a:r>
              <a:rPr lang="en-US">
                <a:latin typeface="Arial" pitchFamily="34" charset="0"/>
              </a:rPr>
              <a:t>Last bullet is unclear. Please show example, or elaborate.</a:t>
            </a:r>
          </a:p>
        </p:txBody>
      </p:sp>
      <p:sp>
        <p:nvSpPr>
          <p:cNvPr id="45061"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fld id="{1DB86139-F93C-4BE8-B17B-5F8FCE3B4506}" type="slidenum">
              <a:rPr lang="en-US" sz="1200"/>
              <a:pPr algn="r" eaLnBrk="1" hangingPunct="1"/>
              <a:t>27</a:t>
            </a:fld>
            <a:endParaRPr lang="en-US" sz="1200"/>
          </a:p>
        </p:txBody>
      </p:sp>
    </p:spTree>
    <p:extLst>
      <p:ext uri="{BB962C8B-B14F-4D97-AF65-F5344CB8AC3E}">
        <p14:creationId xmlns:p14="http://schemas.microsoft.com/office/powerpoint/2010/main" val="1824057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FA525AA-1CF2-4DD1-BC4B-BC5B266A9FF3}" type="slidenum">
              <a:rPr lang="en-US"/>
              <a:pPr>
                <a:defRPr/>
              </a:pPr>
              <a:t>‹#›</a:t>
            </a:fld>
            <a:endParaRPr lang="en-US"/>
          </a:p>
        </p:txBody>
      </p:sp>
    </p:spTree>
    <p:extLst>
      <p:ext uri="{BB962C8B-B14F-4D97-AF65-F5344CB8AC3E}">
        <p14:creationId xmlns:p14="http://schemas.microsoft.com/office/powerpoint/2010/main" val="2801167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FA54794-C546-4878-B7AD-FD96181A5459}" type="slidenum">
              <a:rPr lang="en-US"/>
              <a:pPr>
                <a:defRPr/>
              </a:pPr>
              <a:t>‹#›</a:t>
            </a:fld>
            <a:endParaRPr lang="en-US"/>
          </a:p>
        </p:txBody>
      </p:sp>
    </p:spTree>
    <p:extLst>
      <p:ext uri="{BB962C8B-B14F-4D97-AF65-F5344CB8AC3E}">
        <p14:creationId xmlns:p14="http://schemas.microsoft.com/office/powerpoint/2010/main" val="1844074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550A97-931F-4C18-994A-EADCFC076664}" type="slidenum">
              <a:rPr lang="en-US"/>
              <a:pPr>
                <a:defRPr/>
              </a:pPr>
              <a:t>‹#›</a:t>
            </a:fld>
            <a:endParaRPr lang="en-US"/>
          </a:p>
        </p:txBody>
      </p:sp>
    </p:spTree>
    <p:extLst>
      <p:ext uri="{BB962C8B-B14F-4D97-AF65-F5344CB8AC3E}">
        <p14:creationId xmlns:p14="http://schemas.microsoft.com/office/powerpoint/2010/main" val="416429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D5796A5-A4B3-4FD0-AD35-846BA2503FAE}" type="slidenum">
              <a:rPr lang="en-US"/>
              <a:pPr>
                <a:defRPr/>
              </a:pPr>
              <a:t>‹#›</a:t>
            </a:fld>
            <a:endParaRPr lang="en-US"/>
          </a:p>
        </p:txBody>
      </p:sp>
    </p:spTree>
    <p:extLst>
      <p:ext uri="{BB962C8B-B14F-4D97-AF65-F5344CB8AC3E}">
        <p14:creationId xmlns:p14="http://schemas.microsoft.com/office/powerpoint/2010/main" val="428991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DDE82D7-A917-4203-8E22-80593C89CC4D}" type="slidenum">
              <a:rPr lang="en-US"/>
              <a:pPr>
                <a:defRPr/>
              </a:pPr>
              <a:t>‹#›</a:t>
            </a:fld>
            <a:endParaRPr lang="en-US"/>
          </a:p>
        </p:txBody>
      </p:sp>
    </p:spTree>
    <p:extLst>
      <p:ext uri="{BB962C8B-B14F-4D97-AF65-F5344CB8AC3E}">
        <p14:creationId xmlns:p14="http://schemas.microsoft.com/office/powerpoint/2010/main" val="3441930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5EDD353-84CA-4AB2-B961-325E0469EC45}" type="slidenum">
              <a:rPr lang="en-US"/>
              <a:pPr>
                <a:defRPr/>
              </a:pPr>
              <a:t>‹#›</a:t>
            </a:fld>
            <a:endParaRPr lang="en-US"/>
          </a:p>
        </p:txBody>
      </p:sp>
    </p:spTree>
    <p:extLst>
      <p:ext uri="{BB962C8B-B14F-4D97-AF65-F5344CB8AC3E}">
        <p14:creationId xmlns:p14="http://schemas.microsoft.com/office/powerpoint/2010/main" val="1914761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F9B8D4D-DE0E-44EE-AD61-D61FC76F23AF}" type="slidenum">
              <a:rPr lang="en-US"/>
              <a:pPr>
                <a:defRPr/>
              </a:pPr>
              <a:t>‹#›</a:t>
            </a:fld>
            <a:endParaRPr lang="en-US"/>
          </a:p>
        </p:txBody>
      </p:sp>
    </p:spTree>
    <p:extLst>
      <p:ext uri="{BB962C8B-B14F-4D97-AF65-F5344CB8AC3E}">
        <p14:creationId xmlns:p14="http://schemas.microsoft.com/office/powerpoint/2010/main" val="1155961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AE14185-386E-41BB-86EA-C0B343867457}" type="slidenum">
              <a:rPr lang="en-US"/>
              <a:pPr>
                <a:defRPr/>
              </a:pPr>
              <a:t>‹#›</a:t>
            </a:fld>
            <a:endParaRPr lang="en-US"/>
          </a:p>
        </p:txBody>
      </p:sp>
    </p:spTree>
    <p:extLst>
      <p:ext uri="{BB962C8B-B14F-4D97-AF65-F5344CB8AC3E}">
        <p14:creationId xmlns:p14="http://schemas.microsoft.com/office/powerpoint/2010/main" val="2226062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857687B-4420-472B-B2CC-A65E81290E0F}" type="slidenum">
              <a:rPr lang="en-US"/>
              <a:pPr>
                <a:defRPr/>
              </a:pPr>
              <a:t>‹#›</a:t>
            </a:fld>
            <a:endParaRPr lang="en-US"/>
          </a:p>
        </p:txBody>
      </p:sp>
    </p:spTree>
    <p:extLst>
      <p:ext uri="{BB962C8B-B14F-4D97-AF65-F5344CB8AC3E}">
        <p14:creationId xmlns:p14="http://schemas.microsoft.com/office/powerpoint/2010/main" val="240160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C60671C-E84D-4456-8B05-ED2D779A3B2C}" type="slidenum">
              <a:rPr lang="en-US"/>
              <a:pPr>
                <a:defRPr/>
              </a:pPr>
              <a:t>‹#›</a:t>
            </a:fld>
            <a:endParaRPr lang="en-US"/>
          </a:p>
        </p:txBody>
      </p:sp>
    </p:spTree>
    <p:extLst>
      <p:ext uri="{BB962C8B-B14F-4D97-AF65-F5344CB8AC3E}">
        <p14:creationId xmlns:p14="http://schemas.microsoft.com/office/powerpoint/2010/main" val="861967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A5C6165-D7F7-40E2-98A6-A95ED697775F}" type="slidenum">
              <a:rPr lang="en-US"/>
              <a:pPr>
                <a:defRPr/>
              </a:pPr>
              <a:t>‹#›</a:t>
            </a:fld>
            <a:endParaRPr lang="en-US"/>
          </a:p>
        </p:txBody>
      </p:sp>
    </p:spTree>
    <p:extLst>
      <p:ext uri="{BB962C8B-B14F-4D97-AF65-F5344CB8AC3E}">
        <p14:creationId xmlns:p14="http://schemas.microsoft.com/office/powerpoint/2010/main" val="4169488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atin typeface="Arial" charset="0"/>
              </a:defRPr>
            </a:lvl1pPr>
          </a:lstStyle>
          <a:p>
            <a:pPr>
              <a:defRPr/>
            </a:pPr>
            <a:fld id="{0E045A31-A404-4BFB-817E-E1A3EC956A5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7.xml"/><Relationship Id="rId4" Type="http://schemas.openxmlformats.org/officeDocument/2006/relationships/hyperlink" Target="../MSc%20II%20SEM/Proof%20of%20the%20non-existence%20of%205-fold%20axis%20of%20symmetry.pp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wmf"/><Relationship Id="rId7" Type="http://schemas.openxmlformats.org/officeDocument/2006/relationships/image" Target="../media/image25.png"/><Relationship Id="rId2" Type="http://schemas.openxmlformats.org/officeDocument/2006/relationships/oleObject" Target="../embeddings/oleObject4.bin"/><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10.bin"/><Relationship Id="rId18" Type="http://schemas.openxmlformats.org/officeDocument/2006/relationships/image" Target="../media/image46.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43.wmf"/><Relationship Id="rId17" Type="http://schemas.openxmlformats.org/officeDocument/2006/relationships/oleObject" Target="../embeddings/oleObject12.bin"/><Relationship Id="rId2" Type="http://schemas.openxmlformats.org/officeDocument/2006/relationships/image" Target="../media/image38.png"/><Relationship Id="rId16" Type="http://schemas.openxmlformats.org/officeDocument/2006/relationships/image" Target="../media/image45.wmf"/><Relationship Id="rId20" Type="http://schemas.openxmlformats.org/officeDocument/2006/relationships/image" Target="../media/image47.wmf"/><Relationship Id="rId1" Type="http://schemas.openxmlformats.org/officeDocument/2006/relationships/slideLayout" Target="../slideLayouts/slideLayout7.xml"/><Relationship Id="rId6" Type="http://schemas.openxmlformats.org/officeDocument/2006/relationships/image" Target="../media/image40.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42.wmf"/><Relationship Id="rId19" Type="http://schemas.openxmlformats.org/officeDocument/2006/relationships/oleObject" Target="../embeddings/oleObject13.bin"/><Relationship Id="rId4" Type="http://schemas.openxmlformats.org/officeDocument/2006/relationships/image" Target="../media/image39.wmf"/><Relationship Id="rId9" Type="http://schemas.openxmlformats.org/officeDocument/2006/relationships/oleObject" Target="../embeddings/oleObject8.bin"/><Relationship Id="rId14" Type="http://schemas.openxmlformats.org/officeDocument/2006/relationships/image" Target="../media/image44.wmf"/></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18.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7.xml"/><Relationship Id="rId5" Type="http://schemas.openxmlformats.org/officeDocument/2006/relationships/image" Target="../media/image58.emf"/><Relationship Id="rId4" Type="http://schemas.openxmlformats.org/officeDocument/2006/relationships/image" Target="../media/image57.emf"/></Relationships>
</file>

<file path=ppt/slides/_rels/slide30.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unit_cell.ppt" TargetMode="External"/><Relationship Id="rId2" Type="http://schemas.openxmlformats.org/officeDocument/2006/relationships/hyperlink" Target="lattice.ppt" TargetMode="External"/><Relationship Id="rId1" Type="http://schemas.openxmlformats.org/officeDocument/2006/relationships/slideLayout" Target="../slideLayouts/slideLayout7.xml"/><Relationship Id="rId6" Type="http://schemas.openxmlformats.org/officeDocument/2006/relationships/hyperlink" Target="Making_crystals.ppt" TargetMode="External"/><Relationship Id="rId5" Type="http://schemas.openxmlformats.org/officeDocument/2006/relationships/hyperlink" Target="Chapter_3a_Geometry_of_Crystals.ppt" TargetMode="External"/><Relationship Id="rId4" Type="http://schemas.openxmlformats.org/officeDocument/2006/relationships/hyperlink" Target="Motifs.ppt" TargetMode="Externa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hyperlink" Target="Motifs.ppt" TargetMode="External"/><Relationship Id="rId1" Type="http://schemas.openxmlformats.org/officeDocument/2006/relationships/slideLayout" Target="../slideLayouts/slideLayout7.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61.emf"/></Relationships>
</file>

<file path=ppt/slides/_rels/slide36.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image" Target="../media/image65.emf"/><Relationship Id="rId5" Type="http://schemas.openxmlformats.org/officeDocument/2006/relationships/image" Target="../media/image63.emf"/><Relationship Id="rId4" Type="http://schemas.openxmlformats.org/officeDocument/2006/relationships/image" Target="../media/image64.emf"/></Relationships>
</file>

<file path=ppt/slides/_rels/slide37.xml.rels><?xml version="1.0" encoding="UTF-8" standalone="yes"?>
<Relationships xmlns="http://schemas.openxmlformats.org/package/2006/relationships"><Relationship Id="rId8" Type="http://schemas.openxmlformats.org/officeDocument/2006/relationships/image" Target="../media/image71.emf"/><Relationship Id="rId3" Type="http://schemas.openxmlformats.org/officeDocument/2006/relationships/image" Target="../media/image67.emf"/><Relationship Id="rId7" Type="http://schemas.openxmlformats.org/officeDocument/2006/relationships/image" Target="../media/image70.emf"/><Relationship Id="rId2" Type="http://schemas.openxmlformats.org/officeDocument/2006/relationships/image" Target="../media/image66.emf"/><Relationship Id="rId1" Type="http://schemas.openxmlformats.org/officeDocument/2006/relationships/slideLayout" Target="../slideLayouts/slideLayout7.xml"/><Relationship Id="rId6" Type="http://schemas.openxmlformats.org/officeDocument/2006/relationships/image" Target="../media/image69.emf"/><Relationship Id="rId5" Type="http://schemas.openxmlformats.org/officeDocument/2006/relationships/oleObject" Target="../embeddings/oleObject15.bin"/><Relationship Id="rId4" Type="http://schemas.openxmlformats.org/officeDocument/2006/relationships/image" Target="../media/image68.emf"/></Relationships>
</file>

<file path=ppt/slides/_rels/slide3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 Id="rId5" Type="http://schemas.openxmlformats.org/officeDocument/2006/relationships/image" Target="../media/image75.emf"/><Relationship Id="rId4" Type="http://schemas.openxmlformats.org/officeDocument/2006/relationships/image" Target="../media/image74.emf"/></Relationships>
</file>

<file path=ppt/slides/_rels/slide3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subTitle" idx="1"/>
          </p:nvPr>
        </p:nvSpPr>
        <p:spPr>
          <a:xfrm>
            <a:off x="671513" y="1092200"/>
            <a:ext cx="7800975" cy="2336800"/>
          </a:xfrm>
          <a:solidFill>
            <a:srgbClr val="EFFFFF"/>
          </a:solidFill>
          <a:ln cap="flat" algn="ctr">
            <a:solidFill>
              <a:srgbClr val="0000FF"/>
            </a:solidFill>
            <a:miter lim="800000"/>
            <a:headEnd/>
            <a:tailEnd/>
          </a:ln>
        </p:spPr>
        <p:txBody>
          <a:bodyPr tIns="91440" bIns="91440">
            <a:spAutoFit/>
          </a:bodyPr>
          <a:lstStyle/>
          <a:p>
            <a:pPr lvl="1" algn="l" eaLnBrk="1" hangingPunct="1">
              <a:spcBef>
                <a:spcPct val="0"/>
              </a:spcBef>
              <a:spcAft>
                <a:spcPct val="40000"/>
              </a:spcAft>
              <a:buClr>
                <a:srgbClr val="FF0000"/>
              </a:buClr>
              <a:buFont typeface="Wingdings" pitchFamily="2" charset="2"/>
              <a:buChar char="q"/>
            </a:pPr>
            <a:r>
              <a:rPr lang="en-US" sz="2600">
                <a:latin typeface="Times New Roman" pitchFamily="18" charset="0"/>
                <a:cs typeface="Times New Roman" pitchFamily="18" charset="0"/>
              </a:rPr>
              <a:t> Symmetry Operators</a:t>
            </a:r>
            <a:br>
              <a:rPr lang="en-US" sz="2600">
                <a:latin typeface="Times New Roman" pitchFamily="18" charset="0"/>
                <a:cs typeface="Times New Roman" pitchFamily="18" charset="0"/>
              </a:rPr>
            </a:br>
            <a:r>
              <a:rPr lang="en-US" sz="2600">
                <a:latin typeface="Times New Roman" pitchFamily="18" charset="0"/>
                <a:cs typeface="Times New Roman" pitchFamily="18" charset="0"/>
              </a:rPr>
              <a:t>	 </a:t>
            </a:r>
            <a:r>
              <a:rPr lang="en-US" sz="2600">
                <a:latin typeface="Times New Roman" pitchFamily="18" charset="0"/>
                <a:cs typeface="Times New Roman" pitchFamily="18" charset="0"/>
                <a:sym typeface="Wingdings" pitchFamily="2" charset="2"/>
              </a:rPr>
              <a:t> Translation  Rotation  Inversion  Mirror</a:t>
            </a:r>
            <a:br>
              <a:rPr lang="en-US" sz="2600">
                <a:latin typeface="Times New Roman" pitchFamily="18" charset="0"/>
                <a:cs typeface="Times New Roman" pitchFamily="18" charset="0"/>
                <a:sym typeface="Wingdings" pitchFamily="2" charset="2"/>
              </a:rPr>
            </a:br>
            <a:r>
              <a:rPr lang="en-US" sz="2600">
                <a:latin typeface="Times New Roman" pitchFamily="18" charset="0"/>
                <a:cs typeface="Times New Roman" pitchFamily="18" charset="0"/>
              </a:rPr>
              <a:t> 	 </a:t>
            </a:r>
            <a:r>
              <a:rPr lang="en-US" sz="2600">
                <a:latin typeface="Times New Roman" pitchFamily="18" charset="0"/>
                <a:cs typeface="Times New Roman" pitchFamily="18" charset="0"/>
                <a:sym typeface="Wingdings" pitchFamily="2" charset="2"/>
              </a:rPr>
              <a:t> Roto-inversion  Roto-reflection</a:t>
            </a:r>
            <a:br>
              <a:rPr lang="en-US" sz="2600">
                <a:latin typeface="Times New Roman" pitchFamily="18" charset="0"/>
                <a:cs typeface="Times New Roman" pitchFamily="18" charset="0"/>
                <a:sym typeface="Wingdings" pitchFamily="2" charset="2"/>
              </a:rPr>
            </a:br>
            <a:r>
              <a:rPr lang="en-US" sz="2600">
                <a:latin typeface="Times New Roman" pitchFamily="18" charset="0"/>
                <a:cs typeface="Times New Roman" pitchFamily="18" charset="0"/>
                <a:sym typeface="Wingdings" pitchFamily="2" charset="2"/>
              </a:rPr>
              <a:t>	  Glide reflection  Screw axis </a:t>
            </a:r>
            <a:endParaRPr lang="en-US" sz="2600">
              <a:latin typeface="Times New Roman" pitchFamily="18" charset="0"/>
              <a:cs typeface="Times New Roman" pitchFamily="18" charset="0"/>
            </a:endParaRPr>
          </a:p>
          <a:p>
            <a:pPr lvl="1" algn="l" eaLnBrk="1" hangingPunct="1">
              <a:spcBef>
                <a:spcPct val="0"/>
              </a:spcBef>
              <a:spcAft>
                <a:spcPct val="40000"/>
              </a:spcAft>
              <a:buClr>
                <a:srgbClr val="FF0000"/>
              </a:buClr>
              <a:buFont typeface="Wingdings" pitchFamily="2" charset="2"/>
              <a:buChar char="q"/>
            </a:pPr>
            <a:r>
              <a:rPr lang="en-US" sz="2600">
                <a:latin typeface="Times New Roman" pitchFamily="18" charset="0"/>
                <a:cs typeface="Times New Roman" pitchFamily="18" charset="0"/>
              </a:rPr>
              <a:t> Point Groups</a:t>
            </a:r>
          </a:p>
        </p:txBody>
      </p:sp>
      <p:sp>
        <p:nvSpPr>
          <p:cNvPr id="3075" name="Text Box 3" descr="Blue tissue paper"/>
          <p:cNvSpPr txBox="1">
            <a:spLocks noChangeArrowheads="1"/>
          </p:cNvSpPr>
          <p:nvPr/>
        </p:nvSpPr>
        <p:spPr bwMode="auto">
          <a:xfrm>
            <a:off x="3286125" y="233363"/>
            <a:ext cx="2570163" cy="604837"/>
          </a:xfrm>
          <a:prstGeom prst="rect">
            <a:avLst/>
          </a:prstGeom>
          <a:noFill/>
          <a:ln w="9525" algn="ctr">
            <a:solidFill>
              <a:srgbClr val="FF0000"/>
            </a:solidFill>
            <a:miter lim="800000"/>
            <a:headEnd/>
            <a:tailEnd/>
          </a:ln>
          <a:effectLst/>
        </p:spPr>
        <p:txBody>
          <a:bodyPr wrap="none" anchor="ctr">
            <a:spAutoFit/>
          </a:bodyPr>
          <a:lstStyle>
            <a:lvl1pPr>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ctr">
              <a:defRPr/>
            </a:pPr>
            <a:r>
              <a:rPr lang="en-US" sz="3300" dirty="0">
                <a:solidFill>
                  <a:srgbClr val="FF0000"/>
                </a:solidFill>
                <a:effectLst>
                  <a:outerShdw blurRad="38100" dist="38100" dir="2700000" algn="tl">
                    <a:srgbClr val="000000"/>
                  </a:outerShdw>
                </a:effectLst>
                <a:latin typeface="Times New Roman" pitchFamily="18" charset="0"/>
              </a:rPr>
              <a:t>SYMMETRY</a:t>
            </a:r>
          </a:p>
        </p:txBody>
      </p:sp>
      <p:sp>
        <p:nvSpPr>
          <p:cNvPr id="2052" name="Text Box 4"/>
          <p:cNvSpPr txBox="1">
            <a:spLocks noChangeArrowheads="1"/>
          </p:cNvSpPr>
          <p:nvPr/>
        </p:nvSpPr>
        <p:spPr bwMode="auto">
          <a:xfrm>
            <a:off x="517525" y="4265613"/>
            <a:ext cx="6826250" cy="1136650"/>
          </a:xfrm>
          <a:prstGeom prst="rect">
            <a:avLst/>
          </a:prstGeom>
          <a:solidFill>
            <a:schemeClr val="bg1"/>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Clr>
                <a:srgbClr val="0000FF"/>
              </a:buClr>
              <a:buFont typeface="Wingdings" pitchFamily="2" charset="2"/>
              <a:buNone/>
            </a:pPr>
            <a:r>
              <a:rPr lang="en-US" sz="2400" i="1">
                <a:solidFill>
                  <a:srgbClr val="993300"/>
                </a:solidFill>
                <a:latin typeface="Times New Roman" pitchFamily="18" charset="0"/>
                <a:sym typeface="Symbol" pitchFamily="18" charset="2"/>
              </a:rPr>
              <a:t>Elementary Crystallography</a:t>
            </a:r>
          </a:p>
          <a:p>
            <a:pPr eaLnBrk="1" hangingPunct="1">
              <a:buClr>
                <a:srgbClr val="0000FF"/>
              </a:buClr>
              <a:buFont typeface="Wingdings" pitchFamily="2" charset="2"/>
              <a:buNone/>
            </a:pPr>
            <a:r>
              <a:rPr lang="en-US" sz="2200">
                <a:solidFill>
                  <a:srgbClr val="0000FF"/>
                </a:solidFill>
                <a:latin typeface="Times New Roman" pitchFamily="18" charset="0"/>
                <a:sym typeface="Symbol" pitchFamily="18" charset="2"/>
              </a:rPr>
              <a:t>	M.J. Buerger </a:t>
            </a:r>
          </a:p>
          <a:p>
            <a:pPr eaLnBrk="1" hangingPunct="1">
              <a:buClr>
                <a:srgbClr val="0000FF"/>
              </a:buClr>
              <a:buFont typeface="Wingdings" pitchFamily="2" charset="2"/>
              <a:buNone/>
            </a:pPr>
            <a:r>
              <a:rPr lang="en-US" sz="2200">
                <a:solidFill>
                  <a:srgbClr val="0000FF"/>
                </a:solidFill>
                <a:latin typeface="Times New Roman" pitchFamily="18" charset="0"/>
                <a:sym typeface="Symbol" pitchFamily="18" charset="2"/>
              </a:rPr>
              <a:t>		</a:t>
            </a:r>
            <a:r>
              <a:rPr lang="en-US" sz="2200">
                <a:latin typeface="Times New Roman" pitchFamily="18" charset="0"/>
                <a:sym typeface="Symbol" pitchFamily="18" charset="2"/>
              </a:rPr>
              <a:t>John Wiley &amp; Sons Inc., New York (1956)</a:t>
            </a:r>
          </a:p>
        </p:txBody>
      </p:sp>
      <p:sp>
        <p:nvSpPr>
          <p:cNvPr id="2053" name="Text Box 5"/>
          <p:cNvSpPr txBox="1">
            <a:spLocks noChangeArrowheads="1"/>
          </p:cNvSpPr>
          <p:nvPr/>
        </p:nvSpPr>
        <p:spPr bwMode="auto">
          <a:xfrm>
            <a:off x="520700" y="3813175"/>
            <a:ext cx="1984375" cy="377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latin typeface="Times New Roman" pitchFamily="18" charset="0"/>
                <a:sym typeface="Wingdings" pitchFamily="2" charset="2"/>
              </a:rPr>
              <a:t>Advanced Reading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249238" y="908050"/>
            <a:ext cx="8655050" cy="803275"/>
          </a:xfrm>
          <a:prstGeom prst="rect">
            <a:avLst/>
          </a:prstGeom>
          <a:solidFill>
            <a:srgbClr val="EFFF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50000"/>
              </a:spcAft>
              <a:buClr>
                <a:srgbClr val="FF0000"/>
              </a:buClr>
              <a:buFont typeface="Wingdings" pitchFamily="2" charset="2"/>
              <a:buChar char="q"/>
            </a:pPr>
            <a:r>
              <a:rPr lang="en-US" sz="2000">
                <a:latin typeface="Times New Roman" pitchFamily="18" charset="0"/>
                <a:cs typeface="Times New Roman" pitchFamily="18" charset="0"/>
              </a:rPr>
              <a:t> If an object is brought into self-coincidence after some operation</a:t>
            </a:r>
            <a:br>
              <a:rPr lang="en-US" sz="2000">
                <a:latin typeface="Times New Roman" pitchFamily="18" charset="0"/>
                <a:cs typeface="Times New Roman" pitchFamily="18" charset="0"/>
              </a:rPr>
            </a:br>
            <a:r>
              <a:rPr lang="en-US" sz="2000">
                <a:latin typeface="Times New Roman" pitchFamily="18" charset="0"/>
                <a:cs typeface="Times New Roman" pitchFamily="18" charset="0"/>
              </a:rPr>
              <a:t>    it said to possess symmetry with respect to that operation.</a:t>
            </a:r>
          </a:p>
        </p:txBody>
      </p:sp>
      <p:sp>
        <p:nvSpPr>
          <p:cNvPr id="3075" name="Text Box 3" descr="Parchment"/>
          <p:cNvSpPr txBox="1">
            <a:spLocks noChangeArrowheads="1"/>
          </p:cNvSpPr>
          <p:nvPr/>
        </p:nvSpPr>
        <p:spPr bwMode="auto">
          <a:xfrm>
            <a:off x="3673475" y="188913"/>
            <a:ext cx="1779588" cy="439737"/>
          </a:xfrm>
          <a:prstGeom prst="rect">
            <a:avLst/>
          </a:prstGeom>
          <a:blipFill dpi="0" rotWithShape="0">
            <a:blip r:embed="rId2"/>
            <a:srcRect/>
            <a:tile tx="0" ty="0" sx="100000" sy="100000" flip="none" algn="tl"/>
          </a:blip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rgbClr val="993300"/>
                </a:solidFill>
                <a:latin typeface="Times New Roman" pitchFamily="18" charset="0"/>
              </a:rPr>
              <a:t>SYMMETRY</a:t>
            </a:r>
          </a:p>
        </p:txBody>
      </p:sp>
      <p:sp>
        <p:nvSpPr>
          <p:cNvPr id="3076" name="Text Box 4"/>
          <p:cNvSpPr txBox="1">
            <a:spLocks noChangeArrowheads="1"/>
          </p:cNvSpPr>
          <p:nvPr/>
        </p:nvSpPr>
        <p:spPr bwMode="auto">
          <a:xfrm>
            <a:off x="247650" y="3119438"/>
            <a:ext cx="8655050" cy="1260475"/>
          </a:xfrm>
          <a:prstGeom prst="rect">
            <a:avLst/>
          </a:prstGeom>
          <a:solidFill>
            <a:srgbClr val="EFFF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50000"/>
              </a:spcAft>
              <a:buClr>
                <a:srgbClr val="FF0000"/>
              </a:buClr>
              <a:buFont typeface="Wingdings" pitchFamily="2" charset="2"/>
              <a:buChar char="q"/>
            </a:pPr>
            <a:r>
              <a:rPr lang="en-US" sz="2000">
                <a:latin typeface="Times New Roman" pitchFamily="18" charset="0"/>
                <a:cs typeface="Times New Roman" pitchFamily="18" charset="0"/>
              </a:rPr>
              <a:t> Given a general point a </a:t>
            </a:r>
            <a:r>
              <a:rPr lang="en-US" sz="2000">
                <a:solidFill>
                  <a:srgbClr val="993300"/>
                </a:solidFill>
                <a:latin typeface="Times New Roman" pitchFamily="18" charset="0"/>
                <a:cs typeface="Times New Roman" pitchFamily="18" charset="0"/>
              </a:rPr>
              <a:t>symmetry operator</a:t>
            </a:r>
            <a:r>
              <a:rPr lang="en-US" sz="2000">
                <a:latin typeface="Times New Roman" pitchFamily="18" charset="0"/>
                <a:cs typeface="Times New Roman" pitchFamily="18" charset="0"/>
              </a:rPr>
              <a:t> leaves a finite set of </a:t>
            </a:r>
            <a:br>
              <a:rPr lang="en-US" sz="2000">
                <a:latin typeface="Times New Roman" pitchFamily="18" charset="0"/>
                <a:cs typeface="Times New Roman" pitchFamily="18" charset="0"/>
              </a:rPr>
            </a:br>
            <a:r>
              <a:rPr lang="en-US" sz="2000">
                <a:latin typeface="Times New Roman" pitchFamily="18" charset="0"/>
                <a:cs typeface="Times New Roman" pitchFamily="18" charset="0"/>
              </a:rPr>
              <a:t>     points in space</a:t>
            </a:r>
          </a:p>
          <a:p>
            <a:pPr eaLnBrk="1" hangingPunct="1">
              <a:spcAft>
                <a:spcPct val="50000"/>
              </a:spcAft>
              <a:buClr>
                <a:srgbClr val="FF0000"/>
              </a:buClr>
              <a:buFont typeface="Wingdings" pitchFamily="2" charset="2"/>
              <a:buChar char="q"/>
            </a:pPr>
            <a:r>
              <a:rPr lang="en-US" sz="2000">
                <a:latin typeface="Times New Roman" pitchFamily="18" charset="0"/>
                <a:cs typeface="Times New Roman" pitchFamily="18" charset="0"/>
              </a:rPr>
              <a:t> A </a:t>
            </a:r>
            <a:r>
              <a:rPr lang="en-US" sz="2000">
                <a:solidFill>
                  <a:srgbClr val="993300"/>
                </a:solidFill>
                <a:latin typeface="Times New Roman" pitchFamily="18" charset="0"/>
                <a:cs typeface="Times New Roman" pitchFamily="18" charset="0"/>
              </a:rPr>
              <a:t>symmetry operator</a:t>
            </a:r>
            <a:r>
              <a:rPr lang="en-US" sz="2000">
                <a:latin typeface="Times New Roman" pitchFamily="18" charset="0"/>
                <a:cs typeface="Times New Roman" pitchFamily="18" charset="0"/>
              </a:rPr>
              <a:t> closes space onto itself</a:t>
            </a:r>
          </a:p>
        </p:txBody>
      </p:sp>
      <p:sp>
        <p:nvSpPr>
          <p:cNvPr id="3077" name="Text Box 5" descr="Parchment"/>
          <p:cNvSpPr txBox="1">
            <a:spLocks noChangeArrowheads="1"/>
          </p:cNvSpPr>
          <p:nvPr/>
        </p:nvSpPr>
        <p:spPr bwMode="auto">
          <a:xfrm>
            <a:off x="247650" y="2409825"/>
            <a:ext cx="3324225" cy="439738"/>
          </a:xfrm>
          <a:prstGeom prst="rect">
            <a:avLst/>
          </a:prstGeom>
          <a:blipFill dpi="0" rotWithShape="0">
            <a:blip r:embed="rId2"/>
            <a:srcRect/>
            <a:tile tx="0" ty="0" sx="100000" sy="100000" flip="none" algn="tl"/>
          </a:blip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rgbClr val="993300"/>
                </a:solidFill>
                <a:latin typeface="Times New Roman" pitchFamily="18" charset="0"/>
              </a:rPr>
              <a:t>SYMMETRY OPERATOR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52400" y="295275"/>
            <a:ext cx="8839200" cy="4152900"/>
          </a:xfrm>
          <a:prstGeom prst="rect">
            <a:avLst/>
          </a:prstGeom>
          <a:solidFill>
            <a:srgbClr val="EFFF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None/>
            </a:pPr>
            <a:r>
              <a:rPr lang="en-US" sz="2000">
                <a:solidFill>
                  <a:srgbClr val="0000FF"/>
                </a:solidFill>
                <a:latin typeface="Times New Roman" pitchFamily="18" charset="0"/>
                <a:cs typeface="Times New Roman" pitchFamily="18" charset="0"/>
                <a:sym typeface="Symbol" pitchFamily="18" charset="2"/>
              </a:rPr>
              <a:t>NOTES:</a:t>
            </a:r>
          </a:p>
          <a:p>
            <a:pPr eaLnBrk="1" hangingPunct="1">
              <a:spcAft>
                <a:spcPct val="20000"/>
              </a:spcAft>
              <a:buClr>
                <a:srgbClr val="FF0000"/>
              </a:buClr>
              <a:buFont typeface="Wingdings" pitchFamily="2" charset="2"/>
              <a:buChar char="q"/>
            </a:pPr>
            <a:r>
              <a:rPr lang="en-US" sz="2000">
                <a:latin typeface="Times New Roman" pitchFamily="18" charset="0"/>
                <a:cs typeface="Times New Roman" pitchFamily="18" charset="0"/>
                <a:sym typeface="Symbol" pitchFamily="18" charset="2"/>
              </a:rPr>
              <a:t>Presence of symmetry enables us to consider only a part of a object (or other entity  which could even be infinite) </a:t>
            </a:r>
            <a:r>
              <a:rPr lang="en-US" sz="2000" i="1">
                <a:latin typeface="Times New Roman" pitchFamily="18" charset="0"/>
                <a:cs typeface="Times New Roman" pitchFamily="18" charset="0"/>
                <a:sym typeface="Symbol" pitchFamily="18" charset="2"/>
              </a:rPr>
              <a:t>in conjunction with the </a:t>
            </a:r>
            <a:r>
              <a:rPr lang="en-US" sz="2000" i="1">
                <a:solidFill>
                  <a:srgbClr val="0000FF"/>
                </a:solidFill>
                <a:latin typeface="Times New Roman" pitchFamily="18" charset="0"/>
                <a:cs typeface="Times New Roman" pitchFamily="18" charset="0"/>
                <a:sym typeface="Symbol" pitchFamily="18" charset="2"/>
              </a:rPr>
              <a:t>symmetry operators </a:t>
            </a:r>
            <a:r>
              <a:rPr lang="en-US" sz="1200">
                <a:latin typeface="Times New Roman" pitchFamily="18" charset="0"/>
                <a:cs typeface="Times New Roman" pitchFamily="18" charset="0"/>
                <a:sym typeface="Symbol" pitchFamily="18" charset="2"/>
              </a:rPr>
              <a:t>(see coming slide for explanations)</a:t>
            </a:r>
            <a:endParaRPr lang="en-US" sz="2000">
              <a:latin typeface="Times New Roman" pitchFamily="18" charset="0"/>
              <a:cs typeface="Times New Roman" pitchFamily="18" charset="0"/>
              <a:sym typeface="Symbol" pitchFamily="18" charset="2"/>
            </a:endParaRPr>
          </a:p>
          <a:p>
            <a:pPr eaLnBrk="1" hangingPunct="1">
              <a:spcAft>
                <a:spcPct val="20000"/>
              </a:spcAft>
              <a:buClr>
                <a:srgbClr val="FF0000"/>
              </a:buClr>
              <a:buFont typeface="Wingdings" pitchFamily="2" charset="2"/>
              <a:buChar char="q"/>
            </a:pPr>
            <a:r>
              <a:rPr lang="en-US" sz="2000">
                <a:latin typeface="Times New Roman" pitchFamily="18" charset="0"/>
                <a:cs typeface="Times New Roman" pitchFamily="18" charset="0"/>
                <a:sym typeface="Symbol" pitchFamily="18" charset="2"/>
              </a:rPr>
              <a:t>All symmetry operators may not be required to understand/analyze/generate a structure ( but a few basic ones are)</a:t>
            </a:r>
          </a:p>
          <a:p>
            <a:pPr eaLnBrk="1" hangingPunct="1">
              <a:spcAft>
                <a:spcPct val="20000"/>
              </a:spcAft>
              <a:buClr>
                <a:srgbClr val="FF0000"/>
              </a:buClr>
              <a:buFont typeface="Wingdings" pitchFamily="2" charset="2"/>
              <a:buChar char="q"/>
            </a:pPr>
            <a:r>
              <a:rPr lang="en-US" sz="2000">
                <a:latin typeface="Times New Roman" pitchFamily="18" charset="0"/>
                <a:cs typeface="Times New Roman" pitchFamily="18" charset="0"/>
                <a:sym typeface="Symbol" pitchFamily="18" charset="2"/>
              </a:rPr>
              <a:t>The effects of many symmetry operators may be identical </a:t>
            </a:r>
            <a:r>
              <a:rPr lang="en-US" sz="2000" i="1">
                <a:latin typeface="Times New Roman" pitchFamily="18" charset="0"/>
                <a:cs typeface="Times New Roman" pitchFamily="18" charset="0"/>
                <a:sym typeface="Symbol" pitchFamily="18" charset="2"/>
              </a:rPr>
              <a:t>(especially in lower dimensions or when mirror symmetric objects are not involved)</a:t>
            </a:r>
          </a:p>
          <a:p>
            <a:pPr eaLnBrk="1" hangingPunct="1">
              <a:spcAft>
                <a:spcPct val="20000"/>
              </a:spcAft>
              <a:buClr>
                <a:srgbClr val="FF0000"/>
              </a:buClr>
              <a:buFont typeface="Wingdings" pitchFamily="2" charset="2"/>
              <a:buChar char="q"/>
            </a:pPr>
            <a:r>
              <a:rPr lang="en-US" sz="2000">
                <a:latin typeface="Times New Roman" pitchFamily="18" charset="0"/>
                <a:cs typeface="Times New Roman" pitchFamily="18" charset="0"/>
                <a:sym typeface="Symbol" pitchFamily="18" charset="2"/>
              </a:rPr>
              <a:t>Certain combination* of symmetry operators (without a translational component) can also leave a finite set of points</a:t>
            </a:r>
            <a:r>
              <a:rPr lang="en-US" sz="2000" baseline="30000">
                <a:latin typeface="Times New Roman" pitchFamily="18" charset="0"/>
                <a:cs typeface="Times New Roman" pitchFamily="18" charset="0"/>
                <a:sym typeface="Symbol" pitchFamily="18" charset="2"/>
              </a:rPr>
              <a:t>$</a:t>
            </a:r>
            <a:r>
              <a:rPr lang="en-US" sz="2000">
                <a:latin typeface="Times New Roman" pitchFamily="18" charset="0"/>
                <a:cs typeface="Times New Roman" pitchFamily="18" charset="0"/>
                <a:sym typeface="Symbol" pitchFamily="18" charset="2"/>
              </a:rPr>
              <a:t> and these are called the </a:t>
            </a:r>
            <a:r>
              <a:rPr lang="en-US" sz="2000">
                <a:solidFill>
                  <a:srgbClr val="0000FF"/>
                </a:solidFill>
                <a:latin typeface="Times New Roman" pitchFamily="18" charset="0"/>
                <a:cs typeface="Times New Roman" pitchFamily="18" charset="0"/>
                <a:sym typeface="Symbol" pitchFamily="18" charset="2"/>
              </a:rPr>
              <a:t>Point Groups</a:t>
            </a:r>
          </a:p>
          <a:p>
            <a:pPr eaLnBrk="1" hangingPunct="1">
              <a:spcAft>
                <a:spcPct val="20000"/>
              </a:spcAft>
              <a:buClr>
                <a:srgbClr val="FF0000"/>
              </a:buClr>
              <a:buFont typeface="Wingdings" pitchFamily="2" charset="2"/>
              <a:buChar char="q"/>
            </a:pPr>
            <a:r>
              <a:rPr lang="en-US" sz="2000">
                <a:latin typeface="Times New Roman" pitchFamily="18" charset="0"/>
                <a:cs typeface="Times New Roman" pitchFamily="18" charset="0"/>
                <a:sym typeface="Symbol" pitchFamily="18" charset="2"/>
              </a:rPr>
              <a:t>Certain combination* of symmetry operators involving translations can leave a periodic array of (finite set of) objects in space  the </a:t>
            </a:r>
            <a:r>
              <a:rPr lang="en-US" sz="2000">
                <a:solidFill>
                  <a:srgbClr val="0000FF"/>
                </a:solidFill>
                <a:latin typeface="Times New Roman" pitchFamily="18" charset="0"/>
                <a:cs typeface="Times New Roman" pitchFamily="18" charset="0"/>
                <a:sym typeface="Symbol" pitchFamily="18" charset="2"/>
              </a:rPr>
              <a:t>Space Groups</a:t>
            </a:r>
          </a:p>
        </p:txBody>
      </p:sp>
      <p:sp>
        <p:nvSpPr>
          <p:cNvPr id="4099" name="Rectangle 105"/>
          <p:cNvSpPr>
            <a:spLocks noChangeArrowheads="1"/>
          </p:cNvSpPr>
          <p:nvPr/>
        </p:nvSpPr>
        <p:spPr bwMode="auto">
          <a:xfrm>
            <a:off x="150813" y="6229350"/>
            <a:ext cx="885031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18000" tIns="18000" rIns="18000" bIns="18000">
            <a:spAutoFit/>
          </a:bodyPr>
          <a:lstStyle/>
          <a:p>
            <a:pPr marL="360363" indent="-360363">
              <a:spcBef>
                <a:spcPct val="20000"/>
              </a:spcBef>
              <a:buFont typeface="Wingdings" pitchFamily="2" charset="2"/>
              <a:buNone/>
            </a:pPr>
            <a:r>
              <a:rPr lang="en-US" sz="1400" i="1">
                <a:latin typeface="Times New Roman" pitchFamily="18" charset="0"/>
                <a:sym typeface="Wingdings" pitchFamily="2" charset="2"/>
              </a:rPr>
              <a:t>* Only certain specific combinations are allowed which possess this property</a:t>
            </a:r>
          </a:p>
          <a:p>
            <a:pPr marL="360363" indent="-360363">
              <a:spcBef>
                <a:spcPct val="20000"/>
              </a:spcBef>
              <a:buFont typeface="Wingdings" pitchFamily="2" charset="2"/>
              <a:buNone/>
            </a:pPr>
            <a:r>
              <a:rPr lang="en-US" sz="1400" i="1">
                <a:latin typeface="Times New Roman" pitchFamily="18" charset="0"/>
                <a:sym typeface="Wingdings" pitchFamily="2" charset="2"/>
              </a:rPr>
              <a:t>$ Given a general point</a:t>
            </a:r>
            <a:endParaRPr lang="en-US" sz="1400">
              <a:latin typeface="Times New Roman" pitchFamily="18" charset="0"/>
              <a:sym typeface="Symbol" pitchFamily="18" charset="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74625" y="523875"/>
            <a:ext cx="8839200" cy="1820863"/>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If the object, collection of objects, crystal etc. (which is under consideration) has some symmetry then the </a:t>
            </a:r>
            <a:r>
              <a:rPr lang="en-US">
                <a:solidFill>
                  <a:srgbClr val="0000FF"/>
                </a:solidFill>
                <a:latin typeface="Times New Roman" pitchFamily="18" charset="0"/>
                <a:cs typeface="Times New Roman" pitchFamily="18" charset="0"/>
                <a:sym typeface="Symbol" pitchFamily="18" charset="2"/>
              </a:rPr>
              <a:t>whole need not be described</a:t>
            </a:r>
            <a:r>
              <a:rPr lang="en-US">
                <a:latin typeface="Times New Roman" pitchFamily="18" charset="0"/>
                <a:cs typeface="Times New Roman" pitchFamily="18" charset="0"/>
                <a:sym typeface="Symbol" pitchFamily="18" charset="2"/>
              </a:rPr>
              <a:t>, but </a:t>
            </a:r>
            <a:r>
              <a:rPr lang="en-US">
                <a:solidFill>
                  <a:srgbClr val="0000FF"/>
                </a:solidFill>
                <a:latin typeface="Times New Roman" pitchFamily="18" charset="0"/>
                <a:cs typeface="Times New Roman" pitchFamily="18" charset="0"/>
                <a:sym typeface="Symbol" pitchFamily="18" charset="2"/>
              </a:rPr>
              <a:t>only a part can be described along with the symmetry operators</a:t>
            </a:r>
            <a:r>
              <a:rPr lang="en-US">
                <a:latin typeface="Times New Roman" pitchFamily="18" charset="0"/>
                <a:cs typeface="Times New Roman" pitchFamily="18" charset="0"/>
                <a:sym typeface="Symbol" pitchFamily="18" charset="2"/>
              </a:rPr>
              <a:t>.</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For example consider a square (as below). </a:t>
            </a:r>
            <a:r>
              <a:rPr lang="en-US">
                <a:latin typeface="Times New Roman" pitchFamily="18" charset="0"/>
                <a:cs typeface="Times New Roman" pitchFamily="18" charset="0"/>
                <a:sym typeface="Wingdings" pitchFamily="2" charset="2"/>
              </a:rPr>
              <a:t> </a:t>
            </a:r>
            <a:r>
              <a:rPr lang="en-US">
                <a:latin typeface="Times New Roman" pitchFamily="18" charset="0"/>
                <a:cs typeface="Times New Roman" pitchFamily="18" charset="0"/>
                <a:sym typeface="Symbol" pitchFamily="18" charset="2"/>
              </a:rPr>
              <a:t>A half the square with a mirror plane (mirror line in 2D) can give the whole square. </a:t>
            </a:r>
            <a:r>
              <a:rPr lang="en-US">
                <a:latin typeface="Times New Roman" pitchFamily="18" charset="0"/>
                <a:cs typeface="Times New Roman" pitchFamily="18" charset="0"/>
                <a:sym typeface="Wingdings" pitchFamily="2" charset="2"/>
              </a:rPr>
              <a:t> </a:t>
            </a:r>
            <a:r>
              <a:rPr lang="en-US">
                <a:latin typeface="Times New Roman" pitchFamily="18" charset="0"/>
                <a:cs typeface="Times New Roman" pitchFamily="18" charset="0"/>
                <a:sym typeface="Symbol" pitchFamily="18" charset="2"/>
              </a:rPr>
              <a:t>Or a quarter of a square with two mirror planes or </a:t>
            </a:r>
            <a:r>
              <a:rPr lang="en-US">
                <a:latin typeface="Times New Roman" pitchFamily="18" charset="0"/>
                <a:cs typeface="Times New Roman" pitchFamily="18" charset="0"/>
                <a:sym typeface="Wingdings" pitchFamily="2" charset="2"/>
              </a:rPr>
              <a:t> </a:t>
            </a:r>
            <a:r>
              <a:rPr lang="en-US">
                <a:latin typeface="Times New Roman" pitchFamily="18" charset="0"/>
                <a:cs typeface="Times New Roman" pitchFamily="18" charset="0"/>
                <a:sym typeface="Symbol" pitchFamily="18" charset="2"/>
              </a:rPr>
              <a:t>a diagonal half of the quarter with three mirror planes. </a:t>
            </a:r>
            <a:r>
              <a:rPr lang="en-US" sz="1200">
                <a:latin typeface="Times New Roman" pitchFamily="18" charset="0"/>
                <a:cs typeface="Times New Roman" pitchFamily="18" charset="0"/>
                <a:sym typeface="Symbol" pitchFamily="18" charset="2"/>
              </a:rPr>
              <a:t>(note: mirror planes in 2D are lines)</a:t>
            </a:r>
            <a:endParaRPr lang="en-US">
              <a:latin typeface="Times New Roman" pitchFamily="18" charset="0"/>
              <a:cs typeface="Times New Roman" pitchFamily="18" charset="0"/>
              <a:sym typeface="Symbol" pitchFamily="18" charset="2"/>
            </a:endParaRPr>
          </a:p>
        </p:txBody>
      </p:sp>
      <p:sp>
        <p:nvSpPr>
          <p:cNvPr id="5123" name="Text Box 3"/>
          <p:cNvSpPr txBox="1">
            <a:spLocks noChangeArrowheads="1"/>
          </p:cNvSpPr>
          <p:nvPr/>
        </p:nvSpPr>
        <p:spPr bwMode="auto">
          <a:xfrm>
            <a:off x="174625" y="46038"/>
            <a:ext cx="6654800"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Why do I need to talk about symmetry and symmetry operators?</a:t>
            </a:r>
          </a:p>
        </p:txBody>
      </p:sp>
      <p:pic>
        <p:nvPicPr>
          <p:cNvPr id="5124" name="Picture 6" descr="s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2598738"/>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7" descr="sq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4988" y="2366963"/>
            <a:ext cx="20002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8" descr="sq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6413" y="2359025"/>
            <a:ext cx="20002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9" descr="sq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1725" y="2366963"/>
            <a:ext cx="1524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Text Box 81"/>
          <p:cNvSpPr txBox="1">
            <a:spLocks noChangeArrowheads="1"/>
          </p:cNvSpPr>
          <p:nvPr/>
        </p:nvSpPr>
        <p:spPr bwMode="auto">
          <a:xfrm>
            <a:off x="3019425" y="4254500"/>
            <a:ext cx="2190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600" i="1">
                <a:solidFill>
                  <a:srgbClr val="CC3300"/>
                </a:solidFill>
                <a:latin typeface="Times New Roman" pitchFamily="18" charset="0"/>
                <a:sym typeface="Wingdings" pitchFamily="2" charset="2"/>
              </a:rPr>
              <a:t>m</a:t>
            </a:r>
          </a:p>
        </p:txBody>
      </p:sp>
      <p:sp>
        <p:nvSpPr>
          <p:cNvPr id="5129" name="Text Box 81"/>
          <p:cNvSpPr txBox="1">
            <a:spLocks noChangeArrowheads="1"/>
          </p:cNvSpPr>
          <p:nvPr/>
        </p:nvSpPr>
        <p:spPr bwMode="auto">
          <a:xfrm>
            <a:off x="6332538" y="3175000"/>
            <a:ext cx="2190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600" i="1">
                <a:solidFill>
                  <a:srgbClr val="CC3300"/>
                </a:solidFill>
                <a:latin typeface="Times New Roman" pitchFamily="18" charset="0"/>
                <a:sym typeface="Wingdings" pitchFamily="2" charset="2"/>
              </a:rPr>
              <a:t>m</a:t>
            </a:r>
          </a:p>
        </p:txBody>
      </p:sp>
      <p:sp>
        <p:nvSpPr>
          <p:cNvPr id="5130" name="Text Box 81"/>
          <p:cNvSpPr txBox="1">
            <a:spLocks noChangeArrowheads="1"/>
          </p:cNvSpPr>
          <p:nvPr/>
        </p:nvSpPr>
        <p:spPr bwMode="auto">
          <a:xfrm>
            <a:off x="6835775" y="2281238"/>
            <a:ext cx="2190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600" i="1">
                <a:solidFill>
                  <a:srgbClr val="CC3300"/>
                </a:solidFill>
                <a:latin typeface="Times New Roman" pitchFamily="18" charset="0"/>
                <a:sym typeface="Wingdings" pitchFamily="2" charset="2"/>
              </a:rPr>
              <a:t>m</a:t>
            </a:r>
          </a:p>
        </p:txBody>
      </p:sp>
      <p:sp>
        <p:nvSpPr>
          <p:cNvPr id="5131" name="Text Box 2"/>
          <p:cNvSpPr txBox="1">
            <a:spLocks noChangeArrowheads="1"/>
          </p:cNvSpPr>
          <p:nvPr/>
        </p:nvSpPr>
        <p:spPr bwMode="auto">
          <a:xfrm>
            <a:off x="152400" y="4560888"/>
            <a:ext cx="8839200" cy="696912"/>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Else one could have considered a quarter of the object along with a </a:t>
            </a:r>
            <a:r>
              <a:rPr lang="en-US" sz="1600">
                <a:solidFill>
                  <a:srgbClr val="CC3300"/>
                </a:solidFill>
                <a:latin typeface="Times New Roman" pitchFamily="18" charset="0"/>
                <a:cs typeface="Times New Roman" pitchFamily="18" charset="0"/>
                <a:sym typeface="Symbol" pitchFamily="18" charset="2"/>
              </a:rPr>
              <a:t>four-fold</a:t>
            </a:r>
            <a:r>
              <a:rPr lang="en-US" sz="1600">
                <a:latin typeface="Times New Roman" pitchFamily="18" charset="0"/>
                <a:cs typeface="Times New Roman" pitchFamily="18" charset="0"/>
                <a:sym typeface="Symbol" pitchFamily="18" charset="2"/>
              </a:rPr>
              <a:t> rotation operation (with symbol </a:t>
            </a:r>
            <a:r>
              <a:rPr lang="en-US" sz="2200">
                <a:solidFill>
                  <a:srgbClr val="CC3300"/>
                </a:solidFill>
                <a:latin typeface="Times New Roman" pitchFamily="18" charset="0"/>
                <a:cs typeface="Times New Roman" pitchFamily="18" charset="0"/>
                <a:sym typeface="Wingdings" pitchFamily="2" charset="2"/>
              </a:rPr>
              <a:t></a:t>
            </a:r>
            <a:r>
              <a:rPr lang="en-US" sz="1600">
                <a:latin typeface="Times New Roman" pitchFamily="18" charset="0"/>
                <a:cs typeface="Times New Roman" pitchFamily="18" charset="0"/>
                <a:sym typeface="Wingdings" pitchFamily="2" charset="2"/>
              </a:rPr>
              <a:t> and which rotates space by 90</a:t>
            </a:r>
            <a:r>
              <a:rPr lang="en-US" sz="1600">
                <a:latin typeface="Times New Roman" pitchFamily="18" charset="0"/>
                <a:cs typeface="Times New Roman" pitchFamily="18" charset="0"/>
                <a:sym typeface="Symbol" pitchFamily="18" charset="2"/>
              </a:rPr>
              <a:t>).</a:t>
            </a:r>
          </a:p>
        </p:txBody>
      </p:sp>
      <p:pic>
        <p:nvPicPr>
          <p:cNvPr id="5132" name="Picture 14" descr="4-fol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3275" y="5334000"/>
            <a:ext cx="1243013"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2268538" y="188913"/>
            <a:ext cx="4822825" cy="46990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400">
                <a:solidFill>
                  <a:srgbClr val="0000FF"/>
                </a:solidFill>
                <a:latin typeface="Times New Roman" pitchFamily="18" charset="0"/>
              </a:rPr>
              <a:t>Classification of Symmetry Operators</a:t>
            </a:r>
          </a:p>
        </p:txBody>
      </p:sp>
      <p:sp>
        <p:nvSpPr>
          <p:cNvPr id="6147" name="Text Box 5"/>
          <p:cNvSpPr txBox="1">
            <a:spLocks noChangeArrowheads="1"/>
          </p:cNvSpPr>
          <p:nvPr/>
        </p:nvSpPr>
        <p:spPr bwMode="auto">
          <a:xfrm>
            <a:off x="1884363" y="2293938"/>
            <a:ext cx="2919412" cy="406400"/>
          </a:xfrm>
          <a:prstGeom prst="rect">
            <a:avLst/>
          </a:prstGeom>
          <a:solidFill>
            <a:srgbClr val="E5FFE5"/>
          </a:solidFill>
          <a:ln w="952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Dimension of the Operator</a:t>
            </a:r>
          </a:p>
        </p:txBody>
      </p:sp>
      <p:sp>
        <p:nvSpPr>
          <p:cNvPr id="6148" name="Text Box 6"/>
          <p:cNvSpPr txBox="1">
            <a:spLocks noChangeArrowheads="1"/>
          </p:cNvSpPr>
          <p:nvPr/>
        </p:nvSpPr>
        <p:spPr bwMode="auto">
          <a:xfrm>
            <a:off x="1871663" y="3573463"/>
            <a:ext cx="4768850" cy="406400"/>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If the operator acts at a point or move a point</a:t>
            </a:r>
          </a:p>
        </p:txBody>
      </p:sp>
      <p:sp>
        <p:nvSpPr>
          <p:cNvPr id="6149" name="Text Box 7"/>
          <p:cNvSpPr txBox="1">
            <a:spLocks noChangeArrowheads="1"/>
          </p:cNvSpPr>
          <p:nvPr/>
        </p:nvSpPr>
        <p:spPr bwMode="auto">
          <a:xfrm>
            <a:off x="250825" y="3208338"/>
            <a:ext cx="1227138" cy="439737"/>
          </a:xfrm>
          <a:prstGeom prst="rect">
            <a:avLst/>
          </a:prstGeom>
          <a:solidFill>
            <a:srgbClr val="CCFFFF"/>
          </a:solidFill>
          <a:ln w="12700">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rgbClr val="0000FF"/>
                </a:solidFill>
                <a:latin typeface="Times New Roman" pitchFamily="18" charset="0"/>
              </a:rPr>
              <a:t>Based on</a:t>
            </a:r>
          </a:p>
        </p:txBody>
      </p:sp>
      <p:cxnSp>
        <p:nvCxnSpPr>
          <p:cNvPr id="6150" name="AutoShape 8"/>
          <p:cNvCxnSpPr>
            <a:cxnSpLocks noChangeShapeType="1"/>
            <a:stCxn id="6149" idx="3"/>
            <a:endCxn id="6147" idx="1"/>
          </p:cNvCxnSpPr>
          <p:nvPr/>
        </p:nvCxnSpPr>
        <p:spPr bwMode="auto">
          <a:xfrm flipV="1">
            <a:off x="1477963" y="2497138"/>
            <a:ext cx="406400" cy="931862"/>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51" name="AutoShape 9"/>
          <p:cNvCxnSpPr>
            <a:cxnSpLocks noChangeShapeType="1"/>
            <a:stCxn id="6149" idx="3"/>
            <a:endCxn id="6148" idx="1"/>
          </p:cNvCxnSpPr>
          <p:nvPr/>
        </p:nvCxnSpPr>
        <p:spPr bwMode="auto">
          <a:xfrm>
            <a:off x="1477963" y="3429000"/>
            <a:ext cx="393700" cy="347663"/>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2" name="Text Box 10"/>
          <p:cNvSpPr txBox="1">
            <a:spLocks noChangeArrowheads="1"/>
          </p:cNvSpPr>
          <p:nvPr/>
        </p:nvSpPr>
        <p:spPr bwMode="auto">
          <a:xfrm>
            <a:off x="1868488" y="2924175"/>
            <a:ext cx="4275137" cy="406400"/>
          </a:xfrm>
          <a:prstGeom prst="rect">
            <a:avLst/>
          </a:prstGeom>
          <a:solidFill>
            <a:srgbClr val="E5FFE5"/>
          </a:solidFill>
          <a:ln w="952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Takes an object to its mirror form or not</a:t>
            </a:r>
          </a:p>
        </p:txBody>
      </p:sp>
      <p:cxnSp>
        <p:nvCxnSpPr>
          <p:cNvPr id="6153" name="AutoShape 11"/>
          <p:cNvCxnSpPr>
            <a:cxnSpLocks noChangeShapeType="1"/>
            <a:stCxn id="6149" idx="3"/>
            <a:endCxn id="6152" idx="1"/>
          </p:cNvCxnSpPr>
          <p:nvPr/>
        </p:nvCxnSpPr>
        <p:spPr bwMode="auto">
          <a:xfrm flipV="1">
            <a:off x="1477963" y="3127375"/>
            <a:ext cx="390525" cy="301625"/>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54" name="Text Box 12"/>
          <p:cNvSpPr txBox="1">
            <a:spLocks noChangeArrowheads="1"/>
          </p:cNvSpPr>
          <p:nvPr/>
        </p:nvSpPr>
        <p:spPr bwMode="auto">
          <a:xfrm>
            <a:off x="1870075" y="4186238"/>
            <a:ext cx="6875463" cy="406400"/>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If it plays a role in the shape of a crytal or not </a:t>
            </a:r>
            <a:r>
              <a:rPr lang="en-US" sz="1400" i="1">
                <a:latin typeface="Times New Roman" pitchFamily="18" charset="0"/>
              </a:rPr>
              <a:t>(Macroscopic/Microscopic)</a:t>
            </a:r>
            <a:endParaRPr lang="en-US" sz="1400">
              <a:latin typeface="Times New Roman" pitchFamily="18" charset="0"/>
            </a:endParaRPr>
          </a:p>
        </p:txBody>
      </p:sp>
      <p:cxnSp>
        <p:nvCxnSpPr>
          <p:cNvPr id="6155" name="AutoShape 13"/>
          <p:cNvCxnSpPr>
            <a:cxnSpLocks noChangeShapeType="1"/>
            <a:stCxn id="6149" idx="3"/>
            <a:endCxn id="6154" idx="1"/>
          </p:cNvCxnSpPr>
          <p:nvPr/>
        </p:nvCxnSpPr>
        <p:spPr bwMode="auto">
          <a:xfrm>
            <a:off x="1477963" y="3429000"/>
            <a:ext cx="392112" cy="960438"/>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3232150" y="190500"/>
            <a:ext cx="2668588" cy="463550"/>
          </a:xfrm>
          <a:prstGeom prst="rect">
            <a:avLst/>
          </a:prstGeom>
          <a:solidFill>
            <a:srgbClr val="CCECFF"/>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latin typeface="Times New Roman" pitchFamily="18" charset="0"/>
              </a:rPr>
              <a:t>Symmetry operators</a:t>
            </a:r>
          </a:p>
        </p:txBody>
      </p:sp>
      <p:sp>
        <p:nvSpPr>
          <p:cNvPr id="7171" name="Text Box 3"/>
          <p:cNvSpPr txBox="1">
            <a:spLocks noChangeArrowheads="1"/>
          </p:cNvSpPr>
          <p:nvPr/>
        </p:nvSpPr>
        <p:spPr bwMode="auto">
          <a:xfrm>
            <a:off x="207963" y="2620963"/>
            <a:ext cx="1663700" cy="482600"/>
          </a:xfrm>
          <a:prstGeom prst="rect">
            <a:avLst/>
          </a:prstGeom>
          <a:solidFill>
            <a:srgbClr val="FFFF99"/>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solidFill>
                  <a:srgbClr val="800000"/>
                </a:solidFill>
                <a:latin typeface="Times New Roman" pitchFamily="18" charset="0"/>
              </a:rPr>
              <a:t>Symmetries</a:t>
            </a:r>
          </a:p>
        </p:txBody>
      </p:sp>
      <p:sp>
        <p:nvSpPr>
          <p:cNvPr id="7172" name="Text Box 4"/>
          <p:cNvSpPr txBox="1">
            <a:spLocks noChangeArrowheads="1"/>
          </p:cNvSpPr>
          <p:nvPr/>
        </p:nvSpPr>
        <p:spPr bwMode="auto">
          <a:xfrm>
            <a:off x="3192463" y="3219450"/>
            <a:ext cx="1041400" cy="452438"/>
          </a:xfrm>
          <a:prstGeom prst="rect">
            <a:avLst/>
          </a:prstGeom>
          <a:solidFill>
            <a:srgbClr val="FFCCFF"/>
          </a:solidFill>
          <a:ln w="254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Type II</a:t>
            </a:r>
          </a:p>
        </p:txBody>
      </p:sp>
      <p:sp>
        <p:nvSpPr>
          <p:cNvPr id="7173" name="Text Box 5"/>
          <p:cNvSpPr txBox="1">
            <a:spLocks noChangeArrowheads="1"/>
          </p:cNvSpPr>
          <p:nvPr/>
        </p:nvSpPr>
        <p:spPr bwMode="auto">
          <a:xfrm>
            <a:off x="3189288" y="2038350"/>
            <a:ext cx="947737" cy="452438"/>
          </a:xfrm>
          <a:prstGeom prst="rect">
            <a:avLst/>
          </a:prstGeom>
          <a:solidFill>
            <a:srgbClr val="E5FFE5"/>
          </a:solidFill>
          <a:ln w="25400"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Type I</a:t>
            </a:r>
          </a:p>
        </p:txBody>
      </p:sp>
      <p:cxnSp>
        <p:nvCxnSpPr>
          <p:cNvPr id="7174" name="AutoShape 6"/>
          <p:cNvCxnSpPr>
            <a:cxnSpLocks noChangeShapeType="1"/>
            <a:stCxn id="7171" idx="3"/>
            <a:endCxn id="7172" idx="1"/>
          </p:cNvCxnSpPr>
          <p:nvPr/>
        </p:nvCxnSpPr>
        <p:spPr bwMode="auto">
          <a:xfrm>
            <a:off x="1884363" y="2862263"/>
            <a:ext cx="1295400" cy="584200"/>
          </a:xfrm>
          <a:prstGeom prst="straightConnector1">
            <a:avLst/>
          </a:prstGeom>
          <a:noFill/>
          <a:ln w="9525">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5" name="AutoShape 7"/>
          <p:cNvCxnSpPr>
            <a:cxnSpLocks noChangeShapeType="1"/>
            <a:stCxn id="7171" idx="3"/>
            <a:endCxn id="7173" idx="1"/>
          </p:cNvCxnSpPr>
          <p:nvPr/>
        </p:nvCxnSpPr>
        <p:spPr bwMode="auto">
          <a:xfrm flipV="1">
            <a:off x="1884363" y="2265363"/>
            <a:ext cx="1292225" cy="596900"/>
          </a:xfrm>
          <a:prstGeom prst="straightConnector1">
            <a:avLst/>
          </a:prstGeom>
          <a:noFill/>
          <a:ln w="9525">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76" name="Text Box 8"/>
          <p:cNvSpPr txBox="1">
            <a:spLocks noChangeArrowheads="1"/>
          </p:cNvSpPr>
          <p:nvPr/>
        </p:nvSpPr>
        <p:spPr bwMode="auto">
          <a:xfrm>
            <a:off x="6073775" y="2190750"/>
            <a:ext cx="1235075" cy="460375"/>
          </a:xfrm>
          <a:prstGeom prst="rect">
            <a:avLst/>
          </a:prstGeom>
          <a:solidFill>
            <a:srgbClr val="CCFFCC"/>
          </a:solidFill>
          <a:ln w="317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400">
                <a:latin typeface="Times New Roman" pitchFamily="18" charset="0"/>
              </a:rPr>
              <a:t>Rotation</a:t>
            </a:r>
          </a:p>
        </p:txBody>
      </p:sp>
      <p:sp>
        <p:nvSpPr>
          <p:cNvPr id="7177" name="Text Box 9"/>
          <p:cNvSpPr txBox="1">
            <a:spLocks noChangeArrowheads="1"/>
          </p:cNvSpPr>
          <p:nvPr/>
        </p:nvSpPr>
        <p:spPr bwMode="auto">
          <a:xfrm>
            <a:off x="6073775" y="1455738"/>
            <a:ext cx="1573213" cy="460375"/>
          </a:xfrm>
          <a:prstGeom prst="rect">
            <a:avLst/>
          </a:prstGeom>
          <a:solidFill>
            <a:srgbClr val="CCFFCC"/>
          </a:solidFill>
          <a:ln w="317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400">
                <a:latin typeface="Times New Roman" pitchFamily="18" charset="0"/>
              </a:rPr>
              <a:t>Translation</a:t>
            </a:r>
          </a:p>
        </p:txBody>
      </p:sp>
      <p:cxnSp>
        <p:nvCxnSpPr>
          <p:cNvPr id="7178" name="AutoShape 10"/>
          <p:cNvCxnSpPr>
            <a:cxnSpLocks noChangeShapeType="1"/>
            <a:stCxn id="7173" idx="3"/>
            <a:endCxn id="7176" idx="1"/>
          </p:cNvCxnSpPr>
          <p:nvPr/>
        </p:nvCxnSpPr>
        <p:spPr bwMode="auto">
          <a:xfrm>
            <a:off x="4149725" y="2265363"/>
            <a:ext cx="1924050" cy="155575"/>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9" name="AutoShape 11"/>
          <p:cNvCxnSpPr>
            <a:cxnSpLocks noChangeShapeType="1"/>
            <a:stCxn id="7173" idx="3"/>
            <a:endCxn id="7177" idx="1"/>
          </p:cNvCxnSpPr>
          <p:nvPr/>
        </p:nvCxnSpPr>
        <p:spPr bwMode="auto">
          <a:xfrm flipV="1">
            <a:off x="4149725" y="1685925"/>
            <a:ext cx="1924050" cy="57943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0" name="Text Box 12"/>
          <p:cNvSpPr txBox="1">
            <a:spLocks noChangeArrowheads="1"/>
          </p:cNvSpPr>
          <p:nvPr/>
        </p:nvSpPr>
        <p:spPr bwMode="auto">
          <a:xfrm>
            <a:off x="6073775" y="3671888"/>
            <a:ext cx="1243013" cy="430212"/>
          </a:xfrm>
          <a:prstGeom prst="rect">
            <a:avLst/>
          </a:prstGeom>
          <a:solidFill>
            <a:srgbClr val="FFCCFF"/>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Inversion</a:t>
            </a:r>
          </a:p>
        </p:txBody>
      </p:sp>
      <p:sp>
        <p:nvSpPr>
          <p:cNvPr id="7181" name="Text Box 13"/>
          <p:cNvSpPr txBox="1">
            <a:spLocks noChangeArrowheads="1"/>
          </p:cNvSpPr>
          <p:nvPr/>
        </p:nvSpPr>
        <p:spPr bwMode="auto">
          <a:xfrm>
            <a:off x="6073775" y="2925763"/>
            <a:ext cx="933450" cy="430212"/>
          </a:xfrm>
          <a:prstGeom prst="rect">
            <a:avLst/>
          </a:prstGeom>
          <a:solidFill>
            <a:srgbClr val="FFCCFF"/>
          </a:solidFill>
          <a:ln w="31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Mirror</a:t>
            </a:r>
          </a:p>
        </p:txBody>
      </p:sp>
      <p:cxnSp>
        <p:nvCxnSpPr>
          <p:cNvPr id="7182" name="AutoShape 14"/>
          <p:cNvCxnSpPr>
            <a:cxnSpLocks noChangeShapeType="1"/>
            <a:stCxn id="7172" idx="3"/>
            <a:endCxn id="7180" idx="1"/>
          </p:cNvCxnSpPr>
          <p:nvPr/>
        </p:nvCxnSpPr>
        <p:spPr bwMode="auto">
          <a:xfrm>
            <a:off x="4246563" y="3446463"/>
            <a:ext cx="1827212" cy="441325"/>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15"/>
          <p:cNvCxnSpPr>
            <a:cxnSpLocks noChangeShapeType="1"/>
            <a:stCxn id="7172" idx="3"/>
            <a:endCxn id="7181" idx="1"/>
          </p:cNvCxnSpPr>
          <p:nvPr/>
        </p:nvCxnSpPr>
        <p:spPr bwMode="auto">
          <a:xfrm flipV="1">
            <a:off x="4246563" y="3141663"/>
            <a:ext cx="1827212" cy="304800"/>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4" name="Text Box 16"/>
          <p:cNvSpPr txBox="1">
            <a:spLocks noChangeArrowheads="1"/>
          </p:cNvSpPr>
          <p:nvPr/>
        </p:nvSpPr>
        <p:spPr bwMode="auto">
          <a:xfrm>
            <a:off x="1127125" y="1647825"/>
            <a:ext cx="3763963"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latin typeface="Times New Roman" pitchFamily="18" charset="0"/>
                <a:sym typeface="Wingdings" pitchFamily="2" charset="2"/>
              </a:rPr>
              <a:t>Takes object to same form </a:t>
            </a:r>
            <a:r>
              <a:rPr lang="en-US" sz="2000" i="1">
                <a:latin typeface="Times New Roman" pitchFamily="18" charset="0"/>
                <a:cs typeface="Times New Roman" pitchFamily="18" charset="0"/>
                <a:sym typeface="Wingdings" pitchFamily="2" charset="2"/>
              </a:rPr>
              <a:t>→ Proper</a:t>
            </a:r>
          </a:p>
        </p:txBody>
      </p:sp>
      <p:sp>
        <p:nvSpPr>
          <p:cNvPr id="7185" name="Text Box 17"/>
          <p:cNvSpPr txBox="1">
            <a:spLocks noChangeArrowheads="1"/>
          </p:cNvSpPr>
          <p:nvPr/>
        </p:nvSpPr>
        <p:spPr bwMode="auto">
          <a:xfrm>
            <a:off x="554038" y="3756025"/>
            <a:ext cx="507365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latin typeface="Times New Roman" pitchFamily="18" charset="0"/>
                <a:sym typeface="Wingdings" pitchFamily="2" charset="2"/>
              </a:rPr>
              <a:t>Takes object to enantiomorphic form </a:t>
            </a:r>
            <a:r>
              <a:rPr lang="en-US" sz="2000" i="1">
                <a:latin typeface="Times New Roman" pitchFamily="18" charset="0"/>
                <a:cs typeface="Times New Roman" pitchFamily="18" charset="0"/>
                <a:sym typeface="Wingdings" pitchFamily="2" charset="2"/>
              </a:rPr>
              <a:t>→ improper</a:t>
            </a:r>
          </a:p>
        </p:txBody>
      </p:sp>
      <p:sp>
        <p:nvSpPr>
          <p:cNvPr id="7186" name="Text Box 18"/>
          <p:cNvSpPr txBox="1">
            <a:spLocks noChangeArrowheads="1"/>
          </p:cNvSpPr>
          <p:nvPr/>
        </p:nvSpPr>
        <p:spPr bwMode="auto">
          <a:xfrm>
            <a:off x="7605713" y="3719513"/>
            <a:ext cx="1227137" cy="765175"/>
          </a:xfrm>
          <a:prstGeom prst="rect">
            <a:avLst/>
          </a:prstGeom>
          <a:solidFill>
            <a:srgbClr val="FFFFFF"/>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Roto-</a:t>
            </a:r>
            <a:br>
              <a:rPr lang="en-US" sz="2200">
                <a:latin typeface="Times New Roman" pitchFamily="18" charset="0"/>
              </a:rPr>
            </a:br>
            <a:r>
              <a:rPr lang="en-US" sz="2200">
                <a:latin typeface="Times New Roman" pitchFamily="18" charset="0"/>
              </a:rPr>
              <a:t>inversion</a:t>
            </a:r>
          </a:p>
        </p:txBody>
      </p:sp>
      <p:sp>
        <p:nvSpPr>
          <p:cNvPr id="7187" name="Text Box 19"/>
          <p:cNvSpPr txBox="1">
            <a:spLocks noChangeArrowheads="1"/>
          </p:cNvSpPr>
          <p:nvPr/>
        </p:nvSpPr>
        <p:spPr bwMode="auto">
          <a:xfrm>
            <a:off x="7561263" y="2825750"/>
            <a:ext cx="1258887" cy="765175"/>
          </a:xfrm>
          <a:prstGeom prst="rect">
            <a:avLst/>
          </a:prstGeom>
          <a:solidFill>
            <a:srgbClr val="FFFFFF"/>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Roto-</a:t>
            </a:r>
            <a:br>
              <a:rPr lang="en-US" sz="2200">
                <a:latin typeface="Times New Roman" pitchFamily="18" charset="0"/>
              </a:rPr>
            </a:br>
            <a:r>
              <a:rPr lang="en-US" sz="2200">
                <a:latin typeface="Times New Roman" pitchFamily="18" charset="0"/>
              </a:rPr>
              <a:t>reflection</a:t>
            </a:r>
          </a:p>
        </p:txBody>
      </p:sp>
      <p:cxnSp>
        <p:nvCxnSpPr>
          <p:cNvPr id="7188" name="AutoShape 20"/>
          <p:cNvCxnSpPr>
            <a:cxnSpLocks noChangeShapeType="1"/>
            <a:stCxn id="7176" idx="3"/>
            <a:endCxn id="7187" idx="1"/>
          </p:cNvCxnSpPr>
          <p:nvPr/>
        </p:nvCxnSpPr>
        <p:spPr bwMode="auto">
          <a:xfrm>
            <a:off x="7308850" y="2420938"/>
            <a:ext cx="252413" cy="787400"/>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9" name="AutoShape 21"/>
          <p:cNvCxnSpPr>
            <a:cxnSpLocks noChangeShapeType="1"/>
            <a:stCxn id="7181" idx="3"/>
            <a:endCxn id="7187" idx="1"/>
          </p:cNvCxnSpPr>
          <p:nvPr/>
        </p:nvCxnSpPr>
        <p:spPr bwMode="auto">
          <a:xfrm>
            <a:off x="7007225" y="3141663"/>
            <a:ext cx="554038" cy="66675"/>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0" name="AutoShape 22"/>
          <p:cNvCxnSpPr>
            <a:cxnSpLocks noChangeShapeType="1"/>
            <a:stCxn id="7180" idx="3"/>
            <a:endCxn id="7186" idx="1"/>
          </p:cNvCxnSpPr>
          <p:nvPr/>
        </p:nvCxnSpPr>
        <p:spPr bwMode="auto">
          <a:xfrm>
            <a:off x="7316788" y="3887788"/>
            <a:ext cx="288925" cy="214312"/>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1" name="AutoShape 23"/>
          <p:cNvCxnSpPr>
            <a:cxnSpLocks noChangeShapeType="1"/>
            <a:stCxn id="7176" idx="3"/>
            <a:endCxn id="7186" idx="1"/>
          </p:cNvCxnSpPr>
          <p:nvPr/>
        </p:nvCxnSpPr>
        <p:spPr bwMode="auto">
          <a:xfrm>
            <a:off x="7308850" y="2420938"/>
            <a:ext cx="296863" cy="1681162"/>
          </a:xfrm>
          <a:prstGeom prst="straightConnector1">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92" name="Line 24"/>
          <p:cNvSpPr>
            <a:spLocks noChangeShapeType="1"/>
          </p:cNvSpPr>
          <p:nvPr/>
        </p:nvSpPr>
        <p:spPr bwMode="auto">
          <a:xfrm>
            <a:off x="2868613" y="2752725"/>
            <a:ext cx="6056312" cy="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aphicFrame>
        <p:nvGraphicFramePr>
          <p:cNvPr id="14361" name="Group 25"/>
          <p:cNvGraphicFramePr>
            <a:graphicFrameLocks noGrp="1"/>
          </p:cNvGraphicFramePr>
          <p:nvPr/>
        </p:nvGraphicFramePr>
        <p:xfrm>
          <a:off x="492125" y="4937125"/>
          <a:ext cx="8064500" cy="1795613"/>
        </p:xfrm>
        <a:graphic>
          <a:graphicData uri="http://schemas.openxmlformats.org/drawingml/2006/table">
            <a:tbl>
              <a:tblPr/>
              <a:tblGrid>
                <a:gridCol w="4033838">
                  <a:extLst>
                    <a:ext uri="{9D8B030D-6E8A-4147-A177-3AD203B41FA5}">
                      <a16:colId xmlns:a16="http://schemas.microsoft.com/office/drawing/2014/main" val="20000"/>
                    </a:ext>
                  </a:extLst>
                </a:gridCol>
                <a:gridCol w="4030662">
                  <a:extLst>
                    <a:ext uri="{9D8B030D-6E8A-4147-A177-3AD203B41FA5}">
                      <a16:colId xmlns:a16="http://schemas.microsoft.com/office/drawing/2014/main" val="20001"/>
                    </a:ext>
                  </a:extLst>
                </a:gridCol>
              </a:tblGrid>
              <a:tr h="346226">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000FF"/>
                          </a:solidFill>
                          <a:effectLst/>
                          <a:latin typeface="Times New Roman" pitchFamily="18" charset="0"/>
                        </a:rPr>
                        <a:t>Classification based on the dimension invariant entity of the symmetry operator</a:t>
                      </a:r>
                    </a:p>
                  </a:txBody>
                  <a:tcPr marL="36000" marR="36000" marT="35990" marB="3599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en-IN"/>
                    </a:p>
                  </a:txBody>
                  <a:tcPr/>
                </a:tc>
                <a:extLst>
                  <a:ext uri="{0D108BD9-81ED-4DB2-BD59-A6C34878D82A}">
                    <a16:rowId xmlns:a16="http://schemas.microsoft.com/office/drawing/2014/main" val="10000"/>
                  </a:ext>
                </a:extLst>
              </a:tr>
              <a:tr h="34622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C3300"/>
                          </a:solidFill>
                          <a:effectLst/>
                          <a:latin typeface="Times New Roman" pitchFamily="18" charset="0"/>
                        </a:rPr>
                        <a:t>Operator</a:t>
                      </a:r>
                    </a:p>
                  </a:txBody>
                  <a:tcPr marL="36000" marR="36000" marT="35990" marB="359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C3300"/>
                          </a:solidFill>
                          <a:effectLst/>
                          <a:latin typeface="Times New Roman" pitchFamily="18" charset="0"/>
                        </a:rPr>
                        <a:t>Dimension</a:t>
                      </a:r>
                    </a:p>
                  </a:txBody>
                  <a:tcPr marL="36000" marR="36000" marT="35990" marB="359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3666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Inversion</a:t>
                      </a:r>
                    </a:p>
                  </a:txBody>
                  <a:tcPr marL="36000" marR="36000" marT="35990" marB="359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0D</a:t>
                      </a:r>
                    </a:p>
                  </a:txBody>
                  <a:tcPr marL="36000" marR="36000" marT="35990" marB="359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8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Rotation</a:t>
                      </a:r>
                    </a:p>
                  </a:txBody>
                  <a:tcPr marL="36000" marR="36000" marT="35990" marB="359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1D</a:t>
                      </a:r>
                    </a:p>
                  </a:txBody>
                  <a:tcPr marL="36000" marR="36000" marT="35990" marB="359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8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Mirror</a:t>
                      </a:r>
                    </a:p>
                  </a:txBody>
                  <a:tcPr marL="36000" marR="36000" marT="35990" marB="359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2D</a:t>
                      </a:r>
                    </a:p>
                  </a:txBody>
                  <a:tcPr marL="36000" marR="36000" marT="35990" marB="359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212" name="Text Box 81"/>
          <p:cNvSpPr txBox="1">
            <a:spLocks noChangeArrowheads="1"/>
          </p:cNvSpPr>
          <p:nvPr/>
        </p:nvSpPr>
        <p:spPr bwMode="auto">
          <a:xfrm>
            <a:off x="2771775" y="4005263"/>
            <a:ext cx="1333500" cy="25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200" i="1">
                <a:latin typeface="Times New Roman" pitchFamily="18" charset="0"/>
                <a:sym typeface="Wingdings" pitchFamily="2" charset="2"/>
              </a:rPr>
              <a:t>(Mirror image 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232150" y="190500"/>
            <a:ext cx="2668588" cy="463550"/>
          </a:xfrm>
          <a:prstGeom prst="rect">
            <a:avLst/>
          </a:prstGeom>
          <a:solidFill>
            <a:srgbClr val="CCECFF"/>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latin typeface="Times New Roman" pitchFamily="18" charset="0"/>
              </a:rPr>
              <a:t>Symmetry operators</a:t>
            </a:r>
          </a:p>
        </p:txBody>
      </p:sp>
      <p:sp>
        <p:nvSpPr>
          <p:cNvPr id="8195" name="Text Box 3"/>
          <p:cNvSpPr txBox="1">
            <a:spLocks noChangeArrowheads="1"/>
          </p:cNvSpPr>
          <p:nvPr/>
        </p:nvSpPr>
        <p:spPr bwMode="auto">
          <a:xfrm>
            <a:off x="214313" y="2620963"/>
            <a:ext cx="1651000" cy="469900"/>
          </a:xfrm>
          <a:prstGeom prst="rect">
            <a:avLst/>
          </a:prstGeom>
          <a:solidFill>
            <a:srgbClr val="FFFF99"/>
          </a:solidFill>
          <a:ln w="12700" algn="ctr">
            <a:solidFill>
              <a:srgbClr val="99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solidFill>
                  <a:srgbClr val="800000"/>
                </a:solidFill>
                <a:latin typeface="Times New Roman" pitchFamily="18" charset="0"/>
              </a:rPr>
              <a:t>Symmetries</a:t>
            </a:r>
          </a:p>
        </p:txBody>
      </p:sp>
      <p:sp>
        <p:nvSpPr>
          <p:cNvPr id="8196" name="Text Box 4"/>
          <p:cNvSpPr txBox="1">
            <a:spLocks noChangeArrowheads="1"/>
          </p:cNvSpPr>
          <p:nvPr/>
        </p:nvSpPr>
        <p:spPr bwMode="auto">
          <a:xfrm>
            <a:off x="3192463" y="3219450"/>
            <a:ext cx="1582737" cy="430213"/>
          </a:xfrm>
          <a:prstGeom prst="rect">
            <a:avLst/>
          </a:prstGeom>
          <a:solidFill>
            <a:srgbClr val="FFCCFF"/>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Microscopic</a:t>
            </a:r>
          </a:p>
        </p:txBody>
      </p:sp>
      <p:sp>
        <p:nvSpPr>
          <p:cNvPr id="8197" name="Text Box 5"/>
          <p:cNvSpPr txBox="1">
            <a:spLocks noChangeArrowheads="1"/>
          </p:cNvSpPr>
          <p:nvPr/>
        </p:nvSpPr>
        <p:spPr bwMode="auto">
          <a:xfrm>
            <a:off x="3189288" y="2038350"/>
            <a:ext cx="1628775" cy="430213"/>
          </a:xfrm>
          <a:prstGeom prst="rect">
            <a:avLst/>
          </a:prstGeom>
          <a:solidFill>
            <a:srgbClr val="CCFFCC"/>
          </a:solidFill>
          <a:ln w="317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Macroscopic</a:t>
            </a:r>
          </a:p>
        </p:txBody>
      </p:sp>
      <p:cxnSp>
        <p:nvCxnSpPr>
          <p:cNvPr id="8198" name="AutoShape 6"/>
          <p:cNvCxnSpPr>
            <a:cxnSpLocks noChangeShapeType="1"/>
            <a:stCxn id="8195" idx="3"/>
            <a:endCxn id="8196" idx="1"/>
          </p:cNvCxnSpPr>
          <p:nvPr/>
        </p:nvCxnSpPr>
        <p:spPr bwMode="auto">
          <a:xfrm>
            <a:off x="1865313" y="2855913"/>
            <a:ext cx="1327150" cy="579437"/>
          </a:xfrm>
          <a:prstGeom prst="straightConnector1">
            <a:avLst/>
          </a:prstGeom>
          <a:noFill/>
          <a:ln w="9525">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99" name="AutoShape 7"/>
          <p:cNvCxnSpPr>
            <a:cxnSpLocks noChangeShapeType="1"/>
            <a:stCxn id="8195" idx="3"/>
            <a:endCxn id="8197" idx="1"/>
          </p:cNvCxnSpPr>
          <p:nvPr/>
        </p:nvCxnSpPr>
        <p:spPr bwMode="auto">
          <a:xfrm flipV="1">
            <a:off x="1865313" y="2254250"/>
            <a:ext cx="1323975" cy="601663"/>
          </a:xfrm>
          <a:prstGeom prst="straightConnector1">
            <a:avLst/>
          </a:prstGeom>
          <a:noFill/>
          <a:ln w="9525">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0" name="Text Box 8"/>
          <p:cNvSpPr txBox="1">
            <a:spLocks noChangeArrowheads="1"/>
          </p:cNvSpPr>
          <p:nvPr/>
        </p:nvSpPr>
        <p:spPr bwMode="auto">
          <a:xfrm>
            <a:off x="6081713" y="823913"/>
            <a:ext cx="1149350" cy="430212"/>
          </a:xfrm>
          <a:prstGeom prst="rect">
            <a:avLst/>
          </a:prstGeom>
          <a:solidFill>
            <a:srgbClr val="E1FFE1"/>
          </a:solidFill>
          <a:ln w="3175" algn="ctr">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Rotation</a:t>
            </a:r>
          </a:p>
        </p:txBody>
      </p:sp>
      <p:sp>
        <p:nvSpPr>
          <p:cNvPr id="8201" name="Text Box 9"/>
          <p:cNvSpPr txBox="1">
            <a:spLocks noChangeArrowheads="1"/>
          </p:cNvSpPr>
          <p:nvPr/>
        </p:nvSpPr>
        <p:spPr bwMode="auto">
          <a:xfrm>
            <a:off x="6073775" y="1455738"/>
            <a:ext cx="933450" cy="430212"/>
          </a:xfrm>
          <a:prstGeom prst="rect">
            <a:avLst/>
          </a:prstGeom>
          <a:solidFill>
            <a:srgbClr val="E1FFE1"/>
          </a:solidFill>
          <a:ln w="317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Mirror</a:t>
            </a:r>
          </a:p>
        </p:txBody>
      </p:sp>
      <p:cxnSp>
        <p:nvCxnSpPr>
          <p:cNvPr id="8202" name="AutoShape 10"/>
          <p:cNvCxnSpPr>
            <a:cxnSpLocks noChangeShapeType="1"/>
            <a:stCxn id="8197" idx="3"/>
            <a:endCxn id="8200" idx="1"/>
          </p:cNvCxnSpPr>
          <p:nvPr/>
        </p:nvCxnSpPr>
        <p:spPr bwMode="auto">
          <a:xfrm flipV="1">
            <a:off x="4818063" y="1039813"/>
            <a:ext cx="1263650" cy="1214437"/>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3" name="AutoShape 11"/>
          <p:cNvCxnSpPr>
            <a:cxnSpLocks noChangeShapeType="1"/>
            <a:stCxn id="8197" idx="3"/>
            <a:endCxn id="8201" idx="1"/>
          </p:cNvCxnSpPr>
          <p:nvPr/>
        </p:nvCxnSpPr>
        <p:spPr bwMode="auto">
          <a:xfrm flipV="1">
            <a:off x="4818063" y="1671638"/>
            <a:ext cx="1255712" cy="582612"/>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4" name="Text Box 12"/>
          <p:cNvSpPr txBox="1">
            <a:spLocks noChangeArrowheads="1"/>
          </p:cNvSpPr>
          <p:nvPr/>
        </p:nvSpPr>
        <p:spPr bwMode="auto">
          <a:xfrm>
            <a:off x="6073775" y="3695700"/>
            <a:ext cx="2041525" cy="430213"/>
          </a:xfrm>
          <a:prstGeom prst="rect">
            <a:avLst/>
          </a:prstGeom>
          <a:solidFill>
            <a:srgbClr val="FFD9FF"/>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Glide Reflection</a:t>
            </a:r>
          </a:p>
        </p:txBody>
      </p:sp>
      <p:sp>
        <p:nvSpPr>
          <p:cNvPr id="8205" name="Text Box 13"/>
          <p:cNvSpPr txBox="1">
            <a:spLocks noChangeArrowheads="1"/>
          </p:cNvSpPr>
          <p:nvPr/>
        </p:nvSpPr>
        <p:spPr bwMode="auto">
          <a:xfrm>
            <a:off x="6073775" y="2949575"/>
            <a:ext cx="1528763" cy="430213"/>
          </a:xfrm>
          <a:prstGeom prst="rect">
            <a:avLst/>
          </a:prstGeom>
          <a:solidFill>
            <a:srgbClr val="FFD9FF"/>
          </a:solidFill>
          <a:ln w="317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Screw Axes</a:t>
            </a:r>
          </a:p>
        </p:txBody>
      </p:sp>
      <p:cxnSp>
        <p:nvCxnSpPr>
          <p:cNvPr id="8206" name="AutoShape 14"/>
          <p:cNvCxnSpPr>
            <a:cxnSpLocks noChangeShapeType="1"/>
            <a:stCxn id="8196" idx="3"/>
            <a:endCxn id="8204" idx="1"/>
          </p:cNvCxnSpPr>
          <p:nvPr/>
        </p:nvCxnSpPr>
        <p:spPr bwMode="auto">
          <a:xfrm>
            <a:off x="4775200" y="3435350"/>
            <a:ext cx="1298575" cy="476250"/>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07" name="AutoShape 15"/>
          <p:cNvCxnSpPr>
            <a:cxnSpLocks noChangeShapeType="1"/>
            <a:stCxn id="8196" idx="3"/>
            <a:endCxn id="8205" idx="1"/>
          </p:cNvCxnSpPr>
          <p:nvPr/>
        </p:nvCxnSpPr>
        <p:spPr bwMode="auto">
          <a:xfrm flipV="1">
            <a:off x="4775200" y="3165475"/>
            <a:ext cx="1298575" cy="269875"/>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08" name="Line 16"/>
          <p:cNvSpPr>
            <a:spLocks noChangeShapeType="1"/>
          </p:cNvSpPr>
          <p:nvPr/>
        </p:nvSpPr>
        <p:spPr bwMode="auto">
          <a:xfrm>
            <a:off x="2868613" y="2752725"/>
            <a:ext cx="6056312" cy="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209" name="Text Box 17"/>
          <p:cNvSpPr txBox="1">
            <a:spLocks noChangeArrowheads="1"/>
          </p:cNvSpPr>
          <p:nvPr/>
        </p:nvSpPr>
        <p:spPr bwMode="auto">
          <a:xfrm>
            <a:off x="6083300" y="2087563"/>
            <a:ext cx="1243013" cy="430212"/>
          </a:xfrm>
          <a:prstGeom prst="rect">
            <a:avLst/>
          </a:prstGeom>
          <a:solidFill>
            <a:srgbClr val="E1FFE1"/>
          </a:solidFill>
          <a:ln w="317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Inversion</a:t>
            </a:r>
          </a:p>
        </p:txBody>
      </p:sp>
      <p:cxnSp>
        <p:nvCxnSpPr>
          <p:cNvPr id="8210" name="AutoShape 18"/>
          <p:cNvCxnSpPr>
            <a:cxnSpLocks noChangeShapeType="1"/>
            <a:stCxn id="8197" idx="3"/>
            <a:endCxn id="8209" idx="1"/>
          </p:cNvCxnSpPr>
          <p:nvPr/>
        </p:nvCxnSpPr>
        <p:spPr bwMode="auto">
          <a:xfrm>
            <a:off x="4818063" y="2254250"/>
            <a:ext cx="1265237" cy="49213"/>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11" name="Text Box 19"/>
          <p:cNvSpPr txBox="1">
            <a:spLocks noChangeArrowheads="1"/>
          </p:cNvSpPr>
          <p:nvPr/>
        </p:nvSpPr>
        <p:spPr bwMode="auto">
          <a:xfrm>
            <a:off x="722313" y="1647825"/>
            <a:ext cx="425132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latin typeface="Times New Roman" pitchFamily="18" charset="0"/>
                <a:sym typeface="Wingdings" pitchFamily="2" charset="2"/>
              </a:rPr>
              <a:t>Influence the external shape of the crystal</a:t>
            </a:r>
            <a:endParaRPr lang="en-US" sz="2000" i="1">
              <a:latin typeface="Times New Roman" pitchFamily="18" charset="0"/>
              <a:cs typeface="Times New Roman" pitchFamily="18" charset="0"/>
              <a:sym typeface="Wingdings" pitchFamily="2" charset="2"/>
            </a:endParaRPr>
          </a:p>
        </p:txBody>
      </p:sp>
      <p:sp>
        <p:nvSpPr>
          <p:cNvPr id="8212" name="Text Box 20"/>
          <p:cNvSpPr txBox="1">
            <a:spLocks noChangeArrowheads="1"/>
          </p:cNvSpPr>
          <p:nvPr/>
        </p:nvSpPr>
        <p:spPr bwMode="auto">
          <a:xfrm>
            <a:off x="612775" y="3760788"/>
            <a:ext cx="501332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latin typeface="Times New Roman" pitchFamily="18" charset="0"/>
                <a:sym typeface="Wingdings" pitchFamily="2" charset="2"/>
              </a:rPr>
              <a:t>Do not Influence the external shape of the crystal</a:t>
            </a:r>
            <a:endParaRPr lang="en-US" sz="2000" i="1">
              <a:latin typeface="Times New Roman" pitchFamily="18" charset="0"/>
              <a:cs typeface="Times New Roman" pitchFamily="18" charset="0"/>
              <a:sym typeface="Wingdings" pitchFamily="2" charset="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423863" y="1412875"/>
            <a:ext cx="1814512" cy="436563"/>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  </a:t>
            </a:r>
            <a:r>
              <a:rPr lang="en-US" sz="2200">
                <a:latin typeface="Times New Roman" pitchFamily="18" charset="0"/>
                <a:sym typeface="Wingdings 3" pitchFamily="18" charset="2"/>
              </a:rPr>
              <a:t> Rotation</a:t>
            </a:r>
            <a:endParaRPr lang="en-US" sz="2200">
              <a:latin typeface="Times New Roman" pitchFamily="18" charset="0"/>
              <a:cs typeface="Times New Roman" pitchFamily="18" charset="0"/>
              <a:sym typeface="Wingdings 3" pitchFamily="18" charset="2"/>
            </a:endParaRPr>
          </a:p>
        </p:txBody>
      </p:sp>
      <p:sp>
        <p:nvSpPr>
          <p:cNvPr id="9219" name="Text Box 3"/>
          <p:cNvSpPr txBox="1">
            <a:spLocks noChangeArrowheads="1"/>
          </p:cNvSpPr>
          <p:nvPr/>
        </p:nvSpPr>
        <p:spPr bwMode="auto">
          <a:xfrm>
            <a:off x="5448300" y="1360488"/>
            <a:ext cx="2630488" cy="436562"/>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G  </a:t>
            </a:r>
            <a:r>
              <a:rPr lang="en-US" sz="2200">
                <a:latin typeface="Times New Roman" pitchFamily="18" charset="0"/>
                <a:sym typeface="Wingdings 3" pitchFamily="18" charset="2"/>
              </a:rPr>
              <a:t> Glide reflection</a:t>
            </a:r>
            <a:endParaRPr lang="en-US" sz="2200">
              <a:latin typeface="Times New Roman" pitchFamily="18" charset="0"/>
              <a:cs typeface="Times New Roman" pitchFamily="18" charset="0"/>
              <a:sym typeface="Wingdings 3" pitchFamily="18" charset="2"/>
            </a:endParaRPr>
          </a:p>
        </p:txBody>
      </p:sp>
      <p:sp>
        <p:nvSpPr>
          <p:cNvPr id="9220" name="Text Box 4"/>
          <p:cNvSpPr txBox="1">
            <a:spLocks noChangeArrowheads="1"/>
          </p:cNvSpPr>
          <p:nvPr/>
        </p:nvSpPr>
        <p:spPr bwMode="auto">
          <a:xfrm>
            <a:off x="423863" y="2076450"/>
            <a:ext cx="2598737" cy="436563"/>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cs typeface="Times New Roman" pitchFamily="18" charset="0"/>
                <a:sym typeface="Symbol" pitchFamily="18" charset="2"/>
              </a:rPr>
              <a:t>R </a:t>
            </a:r>
            <a:r>
              <a:rPr lang="en-US" sz="2200">
                <a:latin typeface="Times New Roman" pitchFamily="18" charset="0"/>
                <a:cs typeface="Times New Roman" pitchFamily="18" charset="0"/>
                <a:sym typeface="Wingdings 3" pitchFamily="18" charset="2"/>
              </a:rPr>
              <a:t> Roto-inversion</a:t>
            </a:r>
          </a:p>
        </p:txBody>
      </p:sp>
      <p:sp>
        <p:nvSpPr>
          <p:cNvPr id="9221" name="Text Box 5"/>
          <p:cNvSpPr txBox="1">
            <a:spLocks noChangeArrowheads="1"/>
          </p:cNvSpPr>
          <p:nvPr/>
        </p:nvSpPr>
        <p:spPr bwMode="auto">
          <a:xfrm>
            <a:off x="5467350" y="2058988"/>
            <a:ext cx="1970088" cy="436562"/>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cs typeface="Times New Roman" pitchFamily="18" charset="0"/>
                <a:sym typeface="Symbol" pitchFamily="18" charset="2"/>
              </a:rPr>
              <a:t>S </a:t>
            </a:r>
            <a:r>
              <a:rPr lang="en-US" sz="2200">
                <a:latin typeface="Times New Roman" pitchFamily="18" charset="0"/>
                <a:cs typeface="Times New Roman" pitchFamily="18" charset="0"/>
                <a:sym typeface="Wingdings 3" pitchFamily="18" charset="2"/>
              </a:rPr>
              <a:t> Screw axis</a:t>
            </a:r>
          </a:p>
        </p:txBody>
      </p:sp>
      <p:sp>
        <p:nvSpPr>
          <p:cNvPr id="9222" name="Rectangle 6"/>
          <p:cNvSpPr>
            <a:spLocks noChangeArrowheads="1"/>
          </p:cNvSpPr>
          <p:nvPr/>
        </p:nvSpPr>
        <p:spPr bwMode="auto">
          <a:xfrm>
            <a:off x="5329238" y="1289050"/>
            <a:ext cx="2825750" cy="1250950"/>
          </a:xfrm>
          <a:prstGeom prst="rect">
            <a:avLst/>
          </a:prstGeom>
          <a:noFill/>
          <a:ln w="9525">
            <a:solidFill>
              <a:srgbClr val="CC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9223" name="AutoShape 7"/>
          <p:cNvCxnSpPr>
            <a:cxnSpLocks noChangeShapeType="1"/>
            <a:stCxn id="9224" idx="0"/>
            <a:endCxn id="9222" idx="2"/>
          </p:cNvCxnSpPr>
          <p:nvPr/>
        </p:nvCxnSpPr>
        <p:spPr bwMode="auto">
          <a:xfrm flipH="1" flipV="1">
            <a:off x="6742113" y="2540000"/>
            <a:ext cx="7937" cy="368300"/>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24" name="Text Box 8"/>
          <p:cNvSpPr txBox="1">
            <a:spLocks noChangeArrowheads="1"/>
          </p:cNvSpPr>
          <p:nvPr/>
        </p:nvSpPr>
        <p:spPr bwMode="auto">
          <a:xfrm>
            <a:off x="5024438" y="2908300"/>
            <a:ext cx="3449637" cy="433388"/>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buFont typeface="Wingdings" pitchFamily="2" charset="2"/>
              <a:buNone/>
            </a:pPr>
            <a:r>
              <a:rPr lang="en-US" sz="2200">
                <a:solidFill>
                  <a:srgbClr val="FF3300"/>
                </a:solidFill>
                <a:latin typeface="Times New Roman" pitchFamily="18" charset="0"/>
                <a:sym typeface="Wingdings" pitchFamily="2" charset="2"/>
              </a:rPr>
              <a:t>Ones with built in translation</a:t>
            </a:r>
          </a:p>
        </p:txBody>
      </p:sp>
      <p:sp>
        <p:nvSpPr>
          <p:cNvPr id="9225" name="Rectangle 9"/>
          <p:cNvSpPr>
            <a:spLocks noChangeArrowheads="1"/>
          </p:cNvSpPr>
          <p:nvPr/>
        </p:nvSpPr>
        <p:spPr bwMode="auto">
          <a:xfrm>
            <a:off x="304800" y="1319213"/>
            <a:ext cx="2825750" cy="1250950"/>
          </a:xfrm>
          <a:prstGeom prst="rect">
            <a:avLst/>
          </a:prstGeom>
          <a:noFill/>
          <a:ln w="9525">
            <a:solidFill>
              <a:srgbClr val="CC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9226" name="AutoShape 10"/>
          <p:cNvCxnSpPr>
            <a:cxnSpLocks noChangeShapeType="1"/>
            <a:stCxn id="9227" idx="0"/>
            <a:endCxn id="9225" idx="2"/>
          </p:cNvCxnSpPr>
          <p:nvPr/>
        </p:nvCxnSpPr>
        <p:spPr bwMode="auto">
          <a:xfrm flipH="1" flipV="1">
            <a:off x="1717675" y="2570163"/>
            <a:ext cx="11113" cy="368300"/>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27" name="Text Box 11"/>
          <p:cNvSpPr txBox="1">
            <a:spLocks noChangeArrowheads="1"/>
          </p:cNvSpPr>
          <p:nvPr/>
        </p:nvSpPr>
        <p:spPr bwMode="auto">
          <a:xfrm>
            <a:off x="415925" y="2938463"/>
            <a:ext cx="2625725" cy="433387"/>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buFont typeface="Wingdings" pitchFamily="2" charset="2"/>
              <a:buNone/>
            </a:pPr>
            <a:r>
              <a:rPr lang="en-US" sz="2200">
                <a:solidFill>
                  <a:srgbClr val="FF3300"/>
                </a:solidFill>
                <a:latin typeface="Times New Roman" pitchFamily="18" charset="0"/>
                <a:sym typeface="Wingdings" pitchFamily="2" charset="2"/>
              </a:rPr>
              <a:t>Ones acting at a point</a:t>
            </a:r>
          </a:p>
        </p:txBody>
      </p:sp>
      <p:sp>
        <p:nvSpPr>
          <p:cNvPr id="9228" name="Text Box 12"/>
          <p:cNvSpPr txBox="1">
            <a:spLocks noChangeArrowheads="1"/>
          </p:cNvSpPr>
          <p:nvPr/>
        </p:nvSpPr>
        <p:spPr bwMode="auto">
          <a:xfrm>
            <a:off x="1693863" y="177800"/>
            <a:ext cx="5746750" cy="463550"/>
          </a:xfrm>
          <a:prstGeom prst="rect">
            <a:avLst/>
          </a:prstGeom>
          <a:solidFill>
            <a:srgbClr val="CCECFF"/>
          </a:solid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latin typeface="Times New Roman" pitchFamily="18" charset="0"/>
              </a:rPr>
              <a:t>Minimum set of symmetry operators required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sy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3" y="1768475"/>
            <a:ext cx="559117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ext Box 46"/>
          <p:cNvSpPr txBox="1">
            <a:spLocks noChangeArrowheads="1"/>
          </p:cNvSpPr>
          <p:nvPr/>
        </p:nvSpPr>
        <p:spPr bwMode="auto">
          <a:xfrm>
            <a:off x="6094413" y="1844675"/>
            <a:ext cx="368300" cy="347663"/>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marL="174625" indent="-17462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Font typeface="Wingdings" pitchFamily="2" charset="2"/>
              <a:buNone/>
            </a:pPr>
            <a:r>
              <a:rPr lang="en-US" b="1">
                <a:solidFill>
                  <a:srgbClr val="33CC33"/>
                </a:solidFill>
                <a:latin typeface="Times New Roman" pitchFamily="18" charset="0"/>
                <a:sym typeface="Wingdings" pitchFamily="2" charset="2"/>
              </a:rPr>
              <a:t>+R</a:t>
            </a:r>
          </a:p>
        </p:txBody>
      </p:sp>
      <p:sp>
        <p:nvSpPr>
          <p:cNvPr id="10244" name="Text Box 46"/>
          <p:cNvSpPr txBox="1">
            <a:spLocks noChangeArrowheads="1"/>
          </p:cNvSpPr>
          <p:nvPr/>
        </p:nvSpPr>
        <p:spPr bwMode="auto">
          <a:xfrm>
            <a:off x="6102350" y="3286125"/>
            <a:ext cx="350838" cy="347663"/>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marL="174625" indent="-17462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Font typeface="Wingdings" pitchFamily="2" charset="2"/>
              <a:buNone/>
            </a:pPr>
            <a:r>
              <a:rPr lang="en-US" b="1">
                <a:solidFill>
                  <a:srgbClr val="FF0000"/>
                </a:solidFill>
                <a:latin typeface="Times New Roman" pitchFamily="18" charset="0"/>
                <a:sym typeface="Symbol" pitchFamily="18" charset="2"/>
              </a:rPr>
              <a:t>L</a:t>
            </a:r>
          </a:p>
        </p:txBody>
      </p:sp>
      <p:sp>
        <p:nvSpPr>
          <p:cNvPr id="10245" name="Text Box 46"/>
          <p:cNvSpPr txBox="1">
            <a:spLocks noChangeArrowheads="1"/>
          </p:cNvSpPr>
          <p:nvPr/>
        </p:nvSpPr>
        <p:spPr bwMode="auto">
          <a:xfrm>
            <a:off x="6108700" y="2762250"/>
            <a:ext cx="355600" cy="347663"/>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marL="174625" indent="-17462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Font typeface="Wingdings" pitchFamily="2" charset="2"/>
              <a:buNone/>
            </a:pPr>
            <a:r>
              <a:rPr lang="en-US" b="1">
                <a:solidFill>
                  <a:srgbClr val="FF0000"/>
                </a:solidFill>
                <a:latin typeface="Times New Roman" pitchFamily="18" charset="0"/>
                <a:sym typeface="Symbol" pitchFamily="18" charset="2"/>
              </a:rPr>
              <a:t>+L</a:t>
            </a:r>
          </a:p>
        </p:txBody>
      </p:sp>
      <p:sp>
        <p:nvSpPr>
          <p:cNvPr id="10246" name="Text Box 46"/>
          <p:cNvSpPr txBox="1">
            <a:spLocks noChangeArrowheads="1"/>
          </p:cNvSpPr>
          <p:nvPr/>
        </p:nvSpPr>
        <p:spPr bwMode="auto">
          <a:xfrm>
            <a:off x="6103938" y="2322513"/>
            <a:ext cx="363537" cy="347662"/>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lIns="36000" tIns="36000" rIns="36000" bIns="36000">
            <a:spAutoFit/>
          </a:bodyPr>
          <a:lstStyle>
            <a:lvl1pPr marL="174625" indent="-17462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20000"/>
              </a:spcBef>
              <a:buFont typeface="Wingdings" pitchFamily="2" charset="2"/>
              <a:buNone/>
            </a:pPr>
            <a:r>
              <a:rPr lang="en-US" b="1">
                <a:solidFill>
                  <a:srgbClr val="33CC33"/>
                </a:solidFill>
                <a:latin typeface="Times New Roman" pitchFamily="18" charset="0"/>
                <a:sym typeface="Symbol" pitchFamily="18" charset="2"/>
              </a:rPr>
              <a:t></a:t>
            </a:r>
            <a:r>
              <a:rPr lang="en-US" b="1">
                <a:solidFill>
                  <a:srgbClr val="33CC33"/>
                </a:solidFill>
                <a:latin typeface="Times New Roman" pitchFamily="18" charset="0"/>
                <a:sym typeface="Wingdings" pitchFamily="2" charset="2"/>
              </a:rPr>
              <a:t>R</a:t>
            </a:r>
          </a:p>
        </p:txBody>
      </p:sp>
      <p:sp>
        <p:nvSpPr>
          <p:cNvPr id="10247" name="Text Box 7"/>
          <p:cNvSpPr txBox="1">
            <a:spLocks noChangeArrowheads="1"/>
          </p:cNvSpPr>
          <p:nvPr/>
        </p:nvSpPr>
        <p:spPr bwMode="auto">
          <a:xfrm>
            <a:off x="169863" y="60325"/>
            <a:ext cx="5632450" cy="42545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Notation for representing left and right handed objects</a:t>
            </a:r>
          </a:p>
        </p:txBody>
      </p:sp>
      <p:sp>
        <p:nvSpPr>
          <p:cNvPr id="10248" name="Text Box 2"/>
          <p:cNvSpPr txBox="1">
            <a:spLocks noChangeArrowheads="1"/>
          </p:cNvSpPr>
          <p:nvPr/>
        </p:nvSpPr>
        <p:spPr bwMode="auto">
          <a:xfrm>
            <a:off x="152400" y="709613"/>
            <a:ext cx="8839200" cy="722312"/>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To start with we use the notation as described below. </a:t>
            </a:r>
            <a:r>
              <a:rPr lang="en-US" sz="1000">
                <a:latin typeface="Times New Roman" pitchFamily="18" charset="0"/>
                <a:cs typeface="Times New Roman" pitchFamily="18" charset="0"/>
                <a:sym typeface="Symbol" pitchFamily="18" charset="2"/>
              </a:rPr>
              <a:t>(Occasionally deviating from this as well!).</a:t>
            </a:r>
            <a:endParaRPr lang="en-US">
              <a:latin typeface="Times New Roman" pitchFamily="18" charset="0"/>
              <a:cs typeface="Times New Roman" pitchFamily="18" charset="0"/>
              <a:sym typeface="Symbol" pitchFamily="18" charset="2"/>
            </a:endParaRP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Ultimately, we will turn to ‘International Tables of Crystallography’ symbols in b/w.</a:t>
            </a:r>
          </a:p>
        </p:txBody>
      </p:sp>
      <p:pic>
        <p:nvPicPr>
          <p:cNvPr id="10249" name="Picture 10" descr="n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3871913"/>
            <a:ext cx="385762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69863" y="115888"/>
            <a:ext cx="1274762" cy="42545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Translation</a:t>
            </a:r>
          </a:p>
        </p:txBody>
      </p:sp>
      <p:sp>
        <p:nvSpPr>
          <p:cNvPr id="11267" name="Text Box 2"/>
          <p:cNvSpPr txBox="1">
            <a:spLocks noChangeArrowheads="1"/>
          </p:cNvSpPr>
          <p:nvPr/>
        </p:nvSpPr>
        <p:spPr bwMode="auto">
          <a:xfrm>
            <a:off x="152400" y="765175"/>
            <a:ext cx="8839200" cy="1931988"/>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 translation symmetry operator (</a:t>
            </a:r>
            <a:r>
              <a:rPr lang="en-US">
                <a:solidFill>
                  <a:srgbClr val="CC3300"/>
                </a:solidFill>
                <a:latin typeface="Times New Roman" pitchFamily="18" charset="0"/>
                <a:cs typeface="Times New Roman" pitchFamily="18" charset="0"/>
                <a:sym typeface="Symbol" pitchFamily="18" charset="2"/>
              </a:rPr>
              <a:t>t</a:t>
            </a:r>
            <a:r>
              <a:rPr lang="en-US">
                <a:latin typeface="Times New Roman" pitchFamily="18" charset="0"/>
                <a:cs typeface="Times New Roman" pitchFamily="18" charset="0"/>
                <a:sym typeface="Symbol" pitchFamily="18" charset="2"/>
              </a:rPr>
              <a:t>) moves an point or an object by a displacement </a:t>
            </a:r>
            <a:r>
              <a:rPr lang="en-US" b="1">
                <a:solidFill>
                  <a:srgbClr val="CC3300"/>
                </a:solidFill>
                <a:latin typeface="Times New Roman" pitchFamily="18" charset="0"/>
                <a:cs typeface="Times New Roman" pitchFamily="18" charset="0"/>
                <a:sym typeface="Symbol" pitchFamily="18" charset="2"/>
              </a:rPr>
              <a:t>t</a:t>
            </a:r>
            <a:r>
              <a:rPr lang="en-US">
                <a:latin typeface="Times New Roman" pitchFamily="18" charset="0"/>
                <a:cs typeface="Times New Roman" pitchFamily="18" charset="0"/>
                <a:sym typeface="Symbol" pitchFamily="18" charset="2"/>
              </a:rPr>
              <a:t> or a distance t.</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 periodic array of </a:t>
            </a:r>
            <a:r>
              <a:rPr lang="en-US">
                <a:solidFill>
                  <a:srgbClr val="0000FF"/>
                </a:solidFill>
                <a:latin typeface="Times New Roman" pitchFamily="18" charset="0"/>
                <a:cs typeface="Times New Roman" pitchFamily="18" charset="0"/>
                <a:sym typeface="Symbol" pitchFamily="18" charset="2"/>
              </a:rPr>
              <a:t>points</a:t>
            </a:r>
            <a:r>
              <a:rPr lang="en-US">
                <a:latin typeface="Times New Roman" pitchFamily="18" charset="0"/>
                <a:cs typeface="Times New Roman" pitchFamily="18" charset="0"/>
                <a:sym typeface="Symbol" pitchFamily="18" charset="2"/>
              </a:rPr>
              <a:t> or </a:t>
            </a:r>
            <a:r>
              <a:rPr lang="en-US">
                <a:solidFill>
                  <a:srgbClr val="0000FF"/>
                </a:solidFill>
                <a:latin typeface="Times New Roman" pitchFamily="18" charset="0"/>
                <a:cs typeface="Times New Roman" pitchFamily="18" charset="0"/>
                <a:sym typeface="Symbol" pitchFamily="18" charset="2"/>
              </a:rPr>
              <a:t>objects</a:t>
            </a:r>
            <a:r>
              <a:rPr lang="en-US">
                <a:latin typeface="Times New Roman" pitchFamily="18" charset="0"/>
                <a:cs typeface="Times New Roman" pitchFamily="18" charset="0"/>
                <a:sym typeface="Symbol" pitchFamily="18" charset="2"/>
              </a:rPr>
              <a:t> is said to posses translational symmetry.</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Translational symmetry could be in 2D or 3D (or in general nD).</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If we have translational symmetry in a pattern then instead of describing the entire pattern we can describe the ‘repeat unit’ and the translation vector(s).</a:t>
            </a:r>
          </a:p>
        </p:txBody>
      </p:sp>
      <p:sp>
        <p:nvSpPr>
          <p:cNvPr id="11268" name="Oval 4"/>
          <p:cNvSpPr>
            <a:spLocks noChangeAspect="1" noChangeArrowheads="1"/>
          </p:cNvSpPr>
          <p:nvPr/>
        </p:nvSpPr>
        <p:spPr bwMode="auto">
          <a:xfrm>
            <a:off x="3592513" y="4205288"/>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69" name="Oval 5"/>
          <p:cNvSpPr>
            <a:spLocks noChangeAspect="1" noChangeArrowheads="1"/>
          </p:cNvSpPr>
          <p:nvPr/>
        </p:nvSpPr>
        <p:spPr bwMode="auto">
          <a:xfrm>
            <a:off x="4652963" y="4216400"/>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0" name="Oval 6"/>
          <p:cNvSpPr>
            <a:spLocks noChangeAspect="1" noChangeArrowheads="1"/>
          </p:cNvSpPr>
          <p:nvPr/>
        </p:nvSpPr>
        <p:spPr bwMode="auto">
          <a:xfrm>
            <a:off x="5713413" y="4224338"/>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1" name="Oval 7"/>
          <p:cNvSpPr>
            <a:spLocks noChangeAspect="1" noChangeArrowheads="1"/>
          </p:cNvSpPr>
          <p:nvPr/>
        </p:nvSpPr>
        <p:spPr bwMode="auto">
          <a:xfrm>
            <a:off x="6773863" y="4219575"/>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2" name="Oval 8"/>
          <p:cNvSpPr>
            <a:spLocks noChangeAspect="1" noChangeArrowheads="1"/>
          </p:cNvSpPr>
          <p:nvPr/>
        </p:nvSpPr>
        <p:spPr bwMode="auto">
          <a:xfrm>
            <a:off x="2532063" y="4219575"/>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3" name="Oval 9"/>
          <p:cNvSpPr>
            <a:spLocks noChangeAspect="1" noChangeArrowheads="1"/>
          </p:cNvSpPr>
          <p:nvPr/>
        </p:nvSpPr>
        <p:spPr bwMode="auto">
          <a:xfrm>
            <a:off x="7700963" y="4216400"/>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4" name="AutoShape 10"/>
          <p:cNvSpPr>
            <a:spLocks noChangeArrowheads="1"/>
          </p:cNvSpPr>
          <p:nvPr/>
        </p:nvSpPr>
        <p:spPr bwMode="auto">
          <a:xfrm>
            <a:off x="8024813" y="3957638"/>
            <a:ext cx="269875" cy="631825"/>
          </a:xfrm>
          <a:prstGeom prst="rightArrow">
            <a:avLst>
              <a:gd name="adj1" fmla="val 50000"/>
              <a:gd name="adj2" fmla="val 25000"/>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pPr algn="ctr"/>
            <a:r>
              <a:rPr lang="en-US">
                <a:solidFill>
                  <a:srgbClr val="3333FF"/>
                </a:solidFill>
                <a:latin typeface="Times New Roman" pitchFamily="18" charset="0"/>
                <a:sym typeface="Symbol" pitchFamily="18" charset="2"/>
              </a:rPr>
              <a:t></a:t>
            </a:r>
          </a:p>
        </p:txBody>
      </p:sp>
      <p:sp>
        <p:nvSpPr>
          <p:cNvPr id="11275" name="AutoShape 11"/>
          <p:cNvSpPr>
            <a:spLocks noChangeArrowheads="1"/>
          </p:cNvSpPr>
          <p:nvPr/>
        </p:nvSpPr>
        <p:spPr bwMode="auto">
          <a:xfrm>
            <a:off x="896938" y="3957638"/>
            <a:ext cx="269875" cy="631825"/>
          </a:xfrm>
          <a:prstGeom prst="leftArrow">
            <a:avLst>
              <a:gd name="adj1" fmla="val 50000"/>
              <a:gd name="adj2" fmla="val 25000"/>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pPr algn="ctr"/>
            <a:r>
              <a:rPr lang="en-US">
                <a:solidFill>
                  <a:srgbClr val="3333FF"/>
                </a:solidFill>
                <a:latin typeface="Times New Roman" pitchFamily="18" charset="0"/>
                <a:sym typeface="Symbol" pitchFamily="18" charset="2"/>
              </a:rPr>
              <a:t></a:t>
            </a:r>
          </a:p>
        </p:txBody>
      </p:sp>
      <p:sp>
        <p:nvSpPr>
          <p:cNvPr id="11276" name="Oval 12"/>
          <p:cNvSpPr>
            <a:spLocks noChangeAspect="1" noChangeArrowheads="1"/>
          </p:cNvSpPr>
          <p:nvPr/>
        </p:nvSpPr>
        <p:spPr bwMode="auto">
          <a:xfrm>
            <a:off x="3592513" y="4211638"/>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7" name="Oval 13"/>
          <p:cNvSpPr>
            <a:spLocks noChangeAspect="1" noChangeArrowheads="1"/>
          </p:cNvSpPr>
          <p:nvPr/>
        </p:nvSpPr>
        <p:spPr bwMode="auto">
          <a:xfrm>
            <a:off x="1471613" y="4221163"/>
            <a:ext cx="73025" cy="73025"/>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8" name="Line 14"/>
          <p:cNvSpPr>
            <a:spLocks noChangeShapeType="1"/>
          </p:cNvSpPr>
          <p:nvPr/>
        </p:nvSpPr>
        <p:spPr bwMode="auto">
          <a:xfrm>
            <a:off x="3633788" y="4243388"/>
            <a:ext cx="1066800" cy="0"/>
          </a:xfrm>
          <a:prstGeom prst="line">
            <a:avLst/>
          </a:prstGeom>
          <a:noFill/>
          <a:ln w="190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9" name="Text Box 15"/>
          <p:cNvSpPr txBox="1">
            <a:spLocks noChangeArrowheads="1"/>
          </p:cNvSpPr>
          <p:nvPr/>
        </p:nvSpPr>
        <p:spPr bwMode="auto">
          <a:xfrm>
            <a:off x="4022725" y="3903663"/>
            <a:ext cx="260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a:solidFill>
                  <a:srgbClr val="CC3300"/>
                </a:solidFill>
              </a:rPr>
              <a:t>t</a:t>
            </a:r>
          </a:p>
        </p:txBody>
      </p:sp>
      <p:sp>
        <p:nvSpPr>
          <p:cNvPr id="11280" name="Text Box 16"/>
          <p:cNvSpPr txBox="1">
            <a:spLocks noChangeArrowheads="1"/>
          </p:cNvSpPr>
          <p:nvPr/>
        </p:nvSpPr>
        <p:spPr bwMode="auto">
          <a:xfrm>
            <a:off x="2562225" y="5202238"/>
            <a:ext cx="271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1" name="Text Box 17"/>
          <p:cNvSpPr txBox="1">
            <a:spLocks noChangeArrowheads="1"/>
          </p:cNvSpPr>
          <p:nvPr/>
        </p:nvSpPr>
        <p:spPr bwMode="auto">
          <a:xfrm>
            <a:off x="3186113" y="5203825"/>
            <a:ext cx="2714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2" name="Text Box 18"/>
          <p:cNvSpPr txBox="1">
            <a:spLocks noChangeArrowheads="1"/>
          </p:cNvSpPr>
          <p:nvPr/>
        </p:nvSpPr>
        <p:spPr bwMode="auto">
          <a:xfrm>
            <a:off x="3816350" y="5203825"/>
            <a:ext cx="271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3" name="Text Box 19"/>
          <p:cNvSpPr txBox="1">
            <a:spLocks noChangeArrowheads="1"/>
          </p:cNvSpPr>
          <p:nvPr/>
        </p:nvSpPr>
        <p:spPr bwMode="auto">
          <a:xfrm>
            <a:off x="4430713" y="5195888"/>
            <a:ext cx="2714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4" name="Text Box 20"/>
          <p:cNvSpPr txBox="1">
            <a:spLocks noChangeArrowheads="1"/>
          </p:cNvSpPr>
          <p:nvPr/>
        </p:nvSpPr>
        <p:spPr bwMode="auto">
          <a:xfrm>
            <a:off x="5057775" y="5192713"/>
            <a:ext cx="271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5" name="Text Box 21"/>
          <p:cNvSpPr txBox="1">
            <a:spLocks noChangeArrowheads="1"/>
          </p:cNvSpPr>
          <p:nvPr/>
        </p:nvSpPr>
        <p:spPr bwMode="auto">
          <a:xfrm>
            <a:off x="5688013" y="5192713"/>
            <a:ext cx="2714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6" name="Text Box 22"/>
          <p:cNvSpPr txBox="1">
            <a:spLocks noChangeArrowheads="1"/>
          </p:cNvSpPr>
          <p:nvPr/>
        </p:nvSpPr>
        <p:spPr bwMode="auto">
          <a:xfrm>
            <a:off x="6302375" y="5184775"/>
            <a:ext cx="271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00CC66"/>
                </a:solidFill>
                <a:latin typeface="Times New Roman" pitchFamily="18" charset="0"/>
                <a:sym typeface="Wingdings 2" pitchFamily="18" charset="2"/>
              </a:rPr>
              <a:t></a:t>
            </a:r>
          </a:p>
        </p:txBody>
      </p:sp>
      <p:sp>
        <p:nvSpPr>
          <p:cNvPr id="11287" name="AutoShape 23"/>
          <p:cNvSpPr>
            <a:spLocks noChangeArrowheads="1"/>
          </p:cNvSpPr>
          <p:nvPr/>
        </p:nvSpPr>
        <p:spPr bwMode="auto">
          <a:xfrm>
            <a:off x="6789738" y="5040313"/>
            <a:ext cx="269875" cy="631825"/>
          </a:xfrm>
          <a:prstGeom prst="rightArrow">
            <a:avLst>
              <a:gd name="adj1" fmla="val 50000"/>
              <a:gd name="adj2" fmla="val 25000"/>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pPr algn="ctr"/>
            <a:r>
              <a:rPr lang="en-US">
                <a:solidFill>
                  <a:srgbClr val="3333FF"/>
                </a:solidFill>
                <a:latin typeface="Times New Roman" pitchFamily="18" charset="0"/>
                <a:sym typeface="Symbol" pitchFamily="18" charset="2"/>
              </a:rPr>
              <a:t></a:t>
            </a:r>
          </a:p>
        </p:txBody>
      </p:sp>
      <p:sp>
        <p:nvSpPr>
          <p:cNvPr id="11288" name="AutoShape 24"/>
          <p:cNvSpPr>
            <a:spLocks noChangeArrowheads="1"/>
          </p:cNvSpPr>
          <p:nvPr/>
        </p:nvSpPr>
        <p:spPr bwMode="auto">
          <a:xfrm>
            <a:off x="2084388" y="5048250"/>
            <a:ext cx="269875" cy="631825"/>
          </a:xfrm>
          <a:prstGeom prst="leftArrow">
            <a:avLst>
              <a:gd name="adj1" fmla="val 50000"/>
              <a:gd name="adj2" fmla="val 25000"/>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pPr algn="ctr"/>
            <a:r>
              <a:rPr lang="en-US">
                <a:solidFill>
                  <a:srgbClr val="3333FF"/>
                </a:solidFill>
                <a:latin typeface="Times New Roman" pitchFamily="18" charset="0"/>
                <a:sym typeface="Symbol" pitchFamily="18" charset="2"/>
              </a:rPr>
              <a:t></a:t>
            </a:r>
          </a:p>
        </p:txBody>
      </p:sp>
      <p:sp>
        <p:nvSpPr>
          <p:cNvPr id="11289" name="Line 25"/>
          <p:cNvSpPr>
            <a:spLocks noChangeShapeType="1"/>
          </p:cNvSpPr>
          <p:nvPr/>
        </p:nvSpPr>
        <p:spPr bwMode="auto">
          <a:xfrm>
            <a:off x="3946525" y="5373688"/>
            <a:ext cx="625475" cy="0"/>
          </a:xfrm>
          <a:prstGeom prst="line">
            <a:avLst/>
          </a:prstGeom>
          <a:noFill/>
          <a:ln w="190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90" name="Text Box 26"/>
          <p:cNvSpPr txBox="1">
            <a:spLocks noChangeArrowheads="1"/>
          </p:cNvSpPr>
          <p:nvPr/>
        </p:nvSpPr>
        <p:spPr bwMode="auto">
          <a:xfrm>
            <a:off x="4121150" y="5033963"/>
            <a:ext cx="260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a:solidFill>
                  <a:srgbClr val="CC3300"/>
                </a:solidFill>
              </a:rPr>
              <a:t>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8"/>
          <p:cNvSpPr txBox="1">
            <a:spLocks noChangeArrowheads="1"/>
          </p:cNvSpPr>
          <p:nvPr/>
        </p:nvSpPr>
        <p:spPr bwMode="auto">
          <a:xfrm>
            <a:off x="149225" y="660400"/>
            <a:ext cx="8839200" cy="1870075"/>
          </a:xfrm>
          <a:prstGeom prst="rect">
            <a:avLst/>
          </a:prstGeom>
          <a:solidFill>
            <a:schemeClr val="bg1"/>
          </a:solidFill>
          <a:ln w="9525">
            <a:solidFill>
              <a:srgbClr val="0000FF"/>
            </a:solidFill>
            <a:miter lim="800000"/>
            <a:headEnd/>
            <a:tailEnd/>
          </a:ln>
        </p:spPr>
        <p:txBody>
          <a:bodyPr lIns="54000" tIns="54000" rIns="54000" bIns="54000">
            <a:spAutoFit/>
          </a:bodyPr>
          <a:lstStyle>
            <a:lvl1pPr marL="177800" indent="-17780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0000FF"/>
              </a:buClr>
              <a:buFont typeface="Wingdings" pitchFamily="2" charset="2"/>
              <a:buChar char="§"/>
            </a:pPr>
            <a:r>
              <a:rPr lang="en-US" dirty="0">
                <a:latin typeface="Times New Roman" pitchFamily="18" charset="0"/>
                <a:cs typeface="Times New Roman" pitchFamily="18" charset="0"/>
                <a:sym typeface="Symbol" pitchFamily="18" charset="2"/>
              </a:rPr>
              <a:t>The left hand of a human being cannot be superimposed on the right hand by mere translations and rotations</a:t>
            </a:r>
          </a:p>
          <a:p>
            <a:pPr eaLnBrk="1" hangingPunct="1">
              <a:spcAft>
                <a:spcPct val="20000"/>
              </a:spcAft>
              <a:buClr>
                <a:srgbClr val="0000FF"/>
              </a:buClr>
              <a:buFont typeface="Wingdings" pitchFamily="2" charset="2"/>
              <a:buChar char="§"/>
            </a:pPr>
            <a:r>
              <a:rPr lang="en-US" dirty="0">
                <a:latin typeface="Times New Roman" pitchFamily="18" charset="0"/>
                <a:cs typeface="Times New Roman" pitchFamily="18" charset="0"/>
                <a:sym typeface="Symbol" pitchFamily="18" charset="2"/>
              </a:rPr>
              <a:t>The left hand is related to the right hand by a </a:t>
            </a:r>
            <a:r>
              <a:rPr lang="en-US" dirty="0">
                <a:solidFill>
                  <a:srgbClr val="0000FF"/>
                </a:solidFill>
                <a:latin typeface="Times New Roman" pitchFamily="18" charset="0"/>
                <a:cs typeface="Times New Roman" pitchFamily="18" charset="0"/>
                <a:sym typeface="Symbol" pitchFamily="18" charset="2"/>
              </a:rPr>
              <a:t>mirror symmetry operation</a:t>
            </a:r>
            <a:r>
              <a:rPr lang="en-US" dirty="0">
                <a:latin typeface="Times New Roman" pitchFamily="18" charset="0"/>
                <a:cs typeface="Times New Roman" pitchFamily="18" charset="0"/>
                <a:sym typeface="Symbol" pitchFamily="18" charset="2"/>
              </a:rPr>
              <a:t> (</a:t>
            </a:r>
            <a:r>
              <a:rPr lang="en-US" dirty="0">
                <a:solidFill>
                  <a:srgbClr val="CC3300"/>
                </a:solidFill>
                <a:latin typeface="Times New Roman" pitchFamily="18" charset="0"/>
                <a:cs typeface="Times New Roman" pitchFamily="18" charset="0"/>
                <a:sym typeface="Symbol" pitchFamily="18" charset="2"/>
              </a:rPr>
              <a:t>m</a:t>
            </a:r>
            <a:r>
              <a:rPr lang="en-US" dirty="0">
                <a:latin typeface="Times New Roman" pitchFamily="18" charset="0"/>
                <a:cs typeface="Times New Roman" pitchFamily="18" charset="0"/>
                <a:sym typeface="Symbol" pitchFamily="18" charset="2"/>
              </a:rPr>
              <a:t>)</a:t>
            </a:r>
          </a:p>
          <a:p>
            <a:pPr eaLnBrk="1" hangingPunct="1">
              <a:spcAft>
                <a:spcPct val="20000"/>
              </a:spcAft>
              <a:buClr>
                <a:srgbClr val="0000FF"/>
              </a:buClr>
              <a:buFont typeface="Wingdings" pitchFamily="2" charset="2"/>
              <a:buChar char="§"/>
            </a:pPr>
            <a:r>
              <a:rPr lang="en-US" dirty="0">
                <a:latin typeface="Times New Roman" pitchFamily="18" charset="0"/>
                <a:cs typeface="Times New Roman" pitchFamily="18" charset="0"/>
                <a:sym typeface="Symbol" pitchFamily="18" charset="2"/>
              </a:rPr>
              <a:t>The right hand is called the </a:t>
            </a:r>
            <a:r>
              <a:rPr lang="en-US" i="1" dirty="0" err="1">
                <a:latin typeface="Times New Roman" pitchFamily="18" charset="0"/>
                <a:cs typeface="Times New Roman" pitchFamily="18" charset="0"/>
                <a:sym typeface="Symbol" pitchFamily="18" charset="2"/>
              </a:rPr>
              <a:t>enantiomorphic</a:t>
            </a:r>
            <a:r>
              <a:rPr lang="en-US" i="1" dirty="0">
                <a:latin typeface="Times New Roman" pitchFamily="18" charset="0"/>
                <a:cs typeface="Times New Roman" pitchFamily="18" charset="0"/>
                <a:sym typeface="Symbol" pitchFamily="18" charset="2"/>
              </a:rPr>
              <a:t> form </a:t>
            </a:r>
            <a:r>
              <a:rPr lang="en-US" dirty="0">
                <a:latin typeface="Times New Roman" pitchFamily="18" charset="0"/>
                <a:cs typeface="Times New Roman" pitchFamily="18" charset="0"/>
                <a:sym typeface="Symbol" pitchFamily="18" charset="2"/>
              </a:rPr>
              <a:t>of the left hand</a:t>
            </a:r>
          </a:p>
          <a:p>
            <a:pPr eaLnBrk="1" hangingPunct="1">
              <a:spcAft>
                <a:spcPct val="20000"/>
              </a:spcAft>
              <a:buClr>
                <a:srgbClr val="0000FF"/>
              </a:buClr>
              <a:buFont typeface="Wingdings" pitchFamily="2" charset="2"/>
              <a:buChar char="§"/>
            </a:pPr>
            <a:r>
              <a:rPr lang="en-US" dirty="0">
                <a:latin typeface="Times New Roman" pitchFamily="18" charset="0"/>
                <a:cs typeface="Times New Roman" pitchFamily="18" charset="0"/>
                <a:sym typeface="Symbol" pitchFamily="18" charset="2"/>
              </a:rPr>
              <a:t>Another operator which takes objects to </a:t>
            </a:r>
            <a:r>
              <a:rPr lang="en-US" dirty="0" err="1">
                <a:latin typeface="Times New Roman" pitchFamily="18" charset="0"/>
                <a:cs typeface="Times New Roman" pitchFamily="18" charset="0"/>
                <a:sym typeface="Symbol" pitchFamily="18" charset="2"/>
              </a:rPr>
              <a:t>enantiomorphic</a:t>
            </a:r>
            <a:r>
              <a:rPr lang="en-US" dirty="0">
                <a:latin typeface="Times New Roman" pitchFamily="18" charset="0"/>
                <a:cs typeface="Times New Roman" pitchFamily="18" charset="0"/>
                <a:sym typeface="Symbol" pitchFamily="18" charset="2"/>
              </a:rPr>
              <a:t> forms is the </a:t>
            </a:r>
            <a:r>
              <a:rPr lang="en-US" dirty="0">
                <a:solidFill>
                  <a:srgbClr val="0000FF"/>
                </a:solidFill>
                <a:latin typeface="Times New Roman" pitchFamily="18" charset="0"/>
                <a:cs typeface="Times New Roman" pitchFamily="18" charset="0"/>
                <a:sym typeface="Symbol" pitchFamily="18" charset="2"/>
              </a:rPr>
              <a:t>inversion operator</a:t>
            </a:r>
            <a:r>
              <a:rPr lang="en-US" dirty="0">
                <a:latin typeface="Times New Roman" pitchFamily="18" charset="0"/>
                <a:cs typeface="Times New Roman" pitchFamily="18" charset="0"/>
                <a:sym typeface="Symbol" pitchFamily="18" charset="2"/>
              </a:rPr>
              <a:t> (</a:t>
            </a:r>
            <a:r>
              <a:rPr lang="en-US" dirty="0">
                <a:solidFill>
                  <a:srgbClr val="CC3300"/>
                </a:solidFill>
                <a:latin typeface="Times New Roman" pitchFamily="18" charset="0"/>
                <a:cs typeface="Times New Roman" pitchFamily="18" charset="0"/>
                <a:sym typeface="Symbol" pitchFamily="18" charset="2"/>
              </a:rPr>
              <a:t>i</a:t>
            </a:r>
            <a:r>
              <a:rPr lang="en-US" dirty="0">
                <a:latin typeface="Times New Roman" pitchFamily="18" charset="0"/>
                <a:cs typeface="Times New Roman" pitchFamily="18" charset="0"/>
                <a:sym typeface="Symbol" pitchFamily="18" charset="2"/>
              </a:rPr>
              <a:t>) </a:t>
            </a:r>
            <a:br>
              <a:rPr lang="en-US" dirty="0">
                <a:latin typeface="Times New Roman" pitchFamily="18" charset="0"/>
                <a:cs typeface="Times New Roman" pitchFamily="18" charset="0"/>
                <a:sym typeface="Symbol" pitchFamily="18" charset="2"/>
              </a:rPr>
            </a:br>
            <a:r>
              <a:rPr lang="en-US" sz="1400" dirty="0">
                <a:latin typeface="Times New Roman" pitchFamily="18" charset="0"/>
                <a:cs typeface="Times New Roman" pitchFamily="18" charset="0"/>
                <a:sym typeface="Symbol" pitchFamily="18" charset="2"/>
              </a:rPr>
              <a:t>(in the figure to the right below- between the two hands (in the mid-plane) at the centre is an inversion operator)`</a:t>
            </a:r>
            <a:endParaRPr lang="en-US" dirty="0">
              <a:latin typeface="Times New Roman" pitchFamily="18" charset="0"/>
              <a:cs typeface="Times New Roman" pitchFamily="18" charset="0"/>
              <a:sym typeface="Symbol" pitchFamily="18" charset="2"/>
            </a:endParaRPr>
          </a:p>
        </p:txBody>
      </p:sp>
      <p:sp>
        <p:nvSpPr>
          <p:cNvPr id="12291" name="Text Box 19"/>
          <p:cNvSpPr txBox="1">
            <a:spLocks noChangeArrowheads="1"/>
          </p:cNvSpPr>
          <p:nvPr/>
        </p:nvSpPr>
        <p:spPr bwMode="auto">
          <a:xfrm>
            <a:off x="2586038" y="120650"/>
            <a:ext cx="3971925" cy="392113"/>
          </a:xfrm>
          <a:prstGeom prst="rect">
            <a:avLst/>
          </a:prstGeom>
          <a:solidFill>
            <a:schemeClr val="bg1"/>
          </a:solidFill>
          <a:ln w="9525"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rgbClr val="0000FF"/>
                </a:solidFill>
                <a:latin typeface="Times New Roman" pitchFamily="18" charset="0"/>
              </a:rPr>
              <a:t>With note on left and right handed objects</a:t>
            </a:r>
          </a:p>
        </p:txBody>
      </p:sp>
      <p:grpSp>
        <p:nvGrpSpPr>
          <p:cNvPr id="12292" name="Group 8"/>
          <p:cNvGrpSpPr>
            <a:grpSpLocks/>
          </p:cNvGrpSpPr>
          <p:nvPr/>
        </p:nvGrpSpPr>
        <p:grpSpPr bwMode="auto">
          <a:xfrm>
            <a:off x="222250" y="2836863"/>
            <a:ext cx="3708400" cy="3106737"/>
            <a:chOff x="1712" y="2080"/>
            <a:chExt cx="2336" cy="1957"/>
          </a:xfrm>
        </p:grpSpPr>
        <p:graphicFrame>
          <p:nvGraphicFramePr>
            <p:cNvPr id="12299" name="Object 5"/>
            <p:cNvGraphicFramePr>
              <a:graphicFrameLocks noChangeAspect="1"/>
            </p:cNvGraphicFramePr>
            <p:nvPr/>
          </p:nvGraphicFramePr>
          <p:xfrm>
            <a:off x="1712" y="2402"/>
            <a:ext cx="2336" cy="1456"/>
          </p:xfrm>
          <a:graphic>
            <a:graphicData uri="http://schemas.openxmlformats.org/presentationml/2006/ole">
              <mc:AlternateContent xmlns:mc="http://schemas.openxmlformats.org/markup-compatibility/2006">
                <mc:Choice xmlns:v="urn:schemas-microsoft-com:vml" Requires="v">
                  <p:oleObj name="PHOTO-PAINT" r:id="rId2" imgW="5866667" imgH="3657143" progId="CorelPHOTOPAINT.Image.14">
                    <p:embed/>
                  </p:oleObj>
                </mc:Choice>
                <mc:Fallback>
                  <p:oleObj name="PHOTO-PAINT" r:id="rId2" imgW="5866667" imgH="3657143" progId="CorelPHOTOPAINT.Image.14">
                    <p:embed/>
                    <p:pic>
                      <p:nvPicPr>
                        <p:cNvPr id="1229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 y="2402"/>
                          <a:ext cx="2336" cy="1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00" name="Line 6"/>
            <p:cNvSpPr>
              <a:spLocks noChangeShapeType="1"/>
            </p:cNvSpPr>
            <p:nvPr/>
          </p:nvSpPr>
          <p:spPr bwMode="auto">
            <a:xfrm>
              <a:off x="2880" y="2259"/>
              <a:ext cx="0" cy="1778"/>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301" name="Text Box 7"/>
            <p:cNvSpPr txBox="1">
              <a:spLocks noChangeArrowheads="1"/>
            </p:cNvSpPr>
            <p:nvPr/>
          </p:nvSpPr>
          <p:spPr bwMode="auto">
            <a:xfrm>
              <a:off x="2762" y="2080"/>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solidFill>
                    <a:srgbClr val="CC3300"/>
                  </a:solidFill>
                </a:rPr>
                <a:t>m</a:t>
              </a:r>
            </a:p>
          </p:txBody>
        </p:sp>
      </p:grpSp>
      <p:graphicFrame>
        <p:nvGraphicFramePr>
          <p:cNvPr id="12293" name="Object 10"/>
          <p:cNvGraphicFramePr>
            <a:graphicFrameLocks noChangeAspect="1"/>
          </p:cNvGraphicFramePr>
          <p:nvPr/>
        </p:nvGraphicFramePr>
        <p:xfrm>
          <a:off x="4892675" y="3308350"/>
          <a:ext cx="3368675" cy="2420938"/>
        </p:xfrm>
        <a:graphic>
          <a:graphicData uri="http://schemas.openxmlformats.org/presentationml/2006/ole">
            <mc:AlternateContent xmlns:mc="http://schemas.openxmlformats.org/markup-compatibility/2006">
              <mc:Choice xmlns:v="urn:schemas-microsoft-com:vml" Requires="v">
                <p:oleObj name="PHOTO-PAINT" r:id="rId4" imgW="3834921" imgH="2755556" progId="CorelPHOTOPAINT.Image.14">
                  <p:embed/>
                </p:oleObj>
              </mc:Choice>
              <mc:Fallback>
                <p:oleObj name="PHOTO-PAINT" r:id="rId4" imgW="3834921" imgH="2755556" progId="CorelPHOTOPAINT.Image.14">
                  <p:embed/>
                  <p:pic>
                    <p:nvPicPr>
                      <p:cNvPr id="12293"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2675" y="3308350"/>
                        <a:ext cx="3368675" cy="242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4" name="Oval 11"/>
          <p:cNvSpPr>
            <a:spLocks noChangeArrowheads="1"/>
          </p:cNvSpPr>
          <p:nvPr/>
        </p:nvSpPr>
        <p:spPr bwMode="auto">
          <a:xfrm>
            <a:off x="6561138" y="4540250"/>
            <a:ext cx="88900" cy="88900"/>
          </a:xfrm>
          <a:prstGeom prst="ellipse">
            <a:avLst/>
          </a:prstGeom>
          <a:solidFill>
            <a:schemeClr val="bg1"/>
          </a:solidFill>
          <a:ln w="28575">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295" name="Oval 30"/>
          <p:cNvSpPr>
            <a:spLocks noChangeArrowheads="1"/>
          </p:cNvSpPr>
          <p:nvPr/>
        </p:nvSpPr>
        <p:spPr bwMode="auto">
          <a:xfrm>
            <a:off x="6488113" y="4457700"/>
            <a:ext cx="290512" cy="290513"/>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12296" name="AutoShape 31"/>
          <p:cNvCxnSpPr>
            <a:cxnSpLocks noChangeShapeType="1"/>
            <a:stCxn id="12297" idx="0"/>
            <a:endCxn id="12295" idx="4"/>
          </p:cNvCxnSpPr>
          <p:nvPr/>
        </p:nvCxnSpPr>
        <p:spPr bwMode="auto">
          <a:xfrm flipH="1" flipV="1">
            <a:off x="6634163" y="4748213"/>
            <a:ext cx="17462" cy="1411287"/>
          </a:xfrm>
          <a:prstGeom prst="straightConnector1">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cxnSp>
      <p:sp>
        <p:nvSpPr>
          <p:cNvPr id="12297" name="Text Box 32"/>
          <p:cNvSpPr txBox="1">
            <a:spLocks noChangeArrowheads="1"/>
          </p:cNvSpPr>
          <p:nvPr/>
        </p:nvSpPr>
        <p:spPr bwMode="auto">
          <a:xfrm>
            <a:off x="5622925" y="6159500"/>
            <a:ext cx="2055813" cy="403225"/>
          </a:xfrm>
          <a:prstGeom prst="rect">
            <a:avLst/>
          </a:prstGeom>
          <a:solidFill>
            <a:schemeClr val="bg1"/>
          </a:solidFill>
          <a:ln w="6350" algn="ctr">
            <a:solidFill>
              <a:srgbClr val="FF33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2000">
                <a:solidFill>
                  <a:srgbClr val="FF3300"/>
                </a:solidFill>
                <a:latin typeface="Times New Roman" pitchFamily="18" charset="0"/>
                <a:sym typeface="Wingdings" pitchFamily="2" charset="2"/>
              </a:rPr>
              <a:t>Inversion operator</a:t>
            </a:r>
          </a:p>
        </p:txBody>
      </p:sp>
      <p:sp>
        <p:nvSpPr>
          <p:cNvPr id="12298" name="Text Box 15"/>
          <p:cNvSpPr txBox="1">
            <a:spLocks noChangeArrowheads="1"/>
          </p:cNvSpPr>
          <p:nvPr/>
        </p:nvSpPr>
        <p:spPr bwMode="auto">
          <a:xfrm>
            <a:off x="169863" y="115888"/>
            <a:ext cx="2246312" cy="42545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Mirror and Inversion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5"/>
          <p:cNvSpPr txBox="1">
            <a:spLocks noChangeArrowheads="1"/>
          </p:cNvSpPr>
          <p:nvPr/>
        </p:nvSpPr>
        <p:spPr bwMode="auto">
          <a:xfrm>
            <a:off x="169863" y="115888"/>
            <a:ext cx="1536700" cy="42545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Rotation Axis</a:t>
            </a:r>
          </a:p>
        </p:txBody>
      </p:sp>
      <p:sp>
        <p:nvSpPr>
          <p:cNvPr id="13315" name="Text Box 2"/>
          <p:cNvSpPr txBox="1">
            <a:spLocks noChangeArrowheads="1"/>
          </p:cNvSpPr>
          <p:nvPr/>
        </p:nvSpPr>
        <p:spPr bwMode="auto">
          <a:xfrm>
            <a:off x="152400" y="765175"/>
            <a:ext cx="8839200" cy="1876425"/>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Rotation axis rotates a general point (and hence entire space) around the axis by a certain angle</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On repeated operation (rotation) the ‘starting’ point leaves a set of ‘identity-points*’ before coming into coincidence with itself.</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As we are interested mainly with crystals, we are interested in those rotations axes which are </a:t>
            </a:r>
            <a:r>
              <a:rPr lang="en-US">
                <a:solidFill>
                  <a:srgbClr val="0000FF"/>
                </a:solidFill>
                <a:latin typeface="Times New Roman" pitchFamily="18" charset="0"/>
                <a:cs typeface="Times New Roman" pitchFamily="18" charset="0"/>
                <a:sym typeface="Symbol" pitchFamily="18" charset="2"/>
              </a:rPr>
              <a:t>compatible with translational symmetry</a:t>
            </a:r>
            <a:r>
              <a:rPr lang="en-US">
                <a:latin typeface="Times New Roman" pitchFamily="18" charset="0"/>
                <a:cs typeface="Times New Roman" pitchFamily="18" charset="0"/>
                <a:sym typeface="Symbol" pitchFamily="18" charset="2"/>
              </a:rPr>
              <a:t> → these are the</a:t>
            </a:r>
            <a:r>
              <a:rPr lang="en-US">
                <a:solidFill>
                  <a:srgbClr val="0000FF"/>
                </a:solidFill>
                <a:latin typeface="Times New Roman" pitchFamily="18" charset="0"/>
                <a:cs typeface="Times New Roman" pitchFamily="18" charset="0"/>
                <a:sym typeface="Symbol" pitchFamily="18" charset="2"/>
              </a:rPr>
              <a:t> (1), 2, 3, 4, 6 – fold axis.</a:t>
            </a:r>
          </a:p>
        </p:txBody>
      </p:sp>
      <p:sp>
        <p:nvSpPr>
          <p:cNvPr id="13316" name="Text Box 7"/>
          <p:cNvSpPr txBox="1">
            <a:spLocks noChangeArrowheads="1"/>
          </p:cNvSpPr>
          <p:nvPr/>
        </p:nvSpPr>
        <p:spPr bwMode="auto">
          <a:xfrm>
            <a:off x="347663" y="4918075"/>
            <a:ext cx="8448675" cy="433388"/>
          </a:xfrm>
          <a:prstGeom prst="rect">
            <a:avLst/>
          </a:prstGeom>
          <a:solidFill>
            <a:schemeClr val="bg1"/>
          </a:solidFill>
          <a:ln w="6350" algn="ctr">
            <a:solidFill>
              <a:srgbClr val="0066FF"/>
            </a:solidFill>
            <a:miter lim="800000"/>
            <a:headEnd/>
            <a:tailEnd/>
          </a:ln>
          <a:effectLst>
            <a:outerShdw dist="107763" dir="2700000" algn="ctr" rotWithShape="0">
              <a:schemeClr val="bg2">
                <a:alpha val="50000"/>
              </a:schemeClr>
            </a:outerShdw>
          </a:effec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rgbClr val="CC3300"/>
                </a:solidFill>
                <a:latin typeface="Times New Roman" pitchFamily="18" charset="0"/>
              </a:rPr>
              <a:t>The r</a:t>
            </a:r>
            <a:r>
              <a:rPr lang="en-US" sz="2200">
                <a:solidFill>
                  <a:srgbClr val="CC3300"/>
                </a:solidFill>
                <a:latin typeface="Times New Roman" pitchFamily="18" charset="0"/>
                <a:cs typeface="Times New Roman" pitchFamily="18" charset="0"/>
                <a:sym typeface="Symbol" pitchFamily="18" charset="2"/>
              </a:rPr>
              <a:t>otations compatible with translational symmetry are </a:t>
            </a:r>
            <a:r>
              <a:rPr lang="en-US" sz="2200">
                <a:solidFill>
                  <a:srgbClr val="CC3300"/>
                </a:solidFill>
                <a:latin typeface="Times New Roman" pitchFamily="18" charset="0"/>
                <a:cs typeface="Times New Roman" pitchFamily="18" charset="0"/>
                <a:sym typeface="Wingdings 3" pitchFamily="18" charset="2"/>
              </a:rPr>
              <a:t> </a:t>
            </a:r>
            <a:r>
              <a:rPr lang="en-US" sz="2200">
                <a:solidFill>
                  <a:srgbClr val="CC3300"/>
                </a:solidFill>
                <a:latin typeface="Times New Roman" pitchFamily="18" charset="0"/>
                <a:cs typeface="Times New Roman" pitchFamily="18" charset="0"/>
                <a:sym typeface="Symbol" pitchFamily="18" charset="2"/>
              </a:rPr>
              <a:t>(1, 2, 3, 4, 6)</a:t>
            </a:r>
          </a:p>
        </p:txBody>
      </p:sp>
      <p:sp>
        <p:nvSpPr>
          <p:cNvPr id="13317" name="AutoShape 34"/>
          <p:cNvSpPr>
            <a:spLocks noChangeArrowheads="1"/>
          </p:cNvSpPr>
          <p:nvPr/>
        </p:nvSpPr>
        <p:spPr bwMode="auto">
          <a:xfrm>
            <a:off x="987425" y="5524500"/>
            <a:ext cx="339725" cy="631825"/>
          </a:xfrm>
          <a:prstGeom prst="rightArrow">
            <a:avLst>
              <a:gd name="adj1" fmla="val 50000"/>
              <a:gd name="adj2" fmla="val 25000"/>
            </a:avLst>
          </a:prstGeom>
          <a:solidFill>
            <a:srgbClr val="CCFFFF"/>
          </a:solidFill>
          <a:ln w="9525" algn="ctr">
            <a:solidFill>
              <a:srgbClr val="0066FF"/>
            </a:solidFill>
            <a:miter lim="800000"/>
            <a:headEnd/>
            <a:tailEnd/>
          </a:ln>
        </p:spPr>
        <p:txBody>
          <a:bodyPr wrap="none" lIns="36000" tIns="36000" rIns="36000" bIns="36000" anchor="ctr">
            <a:spAutoFit/>
          </a:bodyPr>
          <a:lstStyle/>
          <a:p>
            <a:pPr algn="ctr"/>
            <a:r>
              <a:rPr lang="en-US">
                <a:solidFill>
                  <a:srgbClr val="3333FF"/>
                </a:solidFill>
                <a:latin typeface="Times New Roman" pitchFamily="18" charset="0"/>
                <a:sym typeface="Symbol" pitchFamily="18" charset="2"/>
              </a:rPr>
              <a:t></a:t>
            </a:r>
          </a:p>
        </p:txBody>
      </p:sp>
      <p:sp>
        <p:nvSpPr>
          <p:cNvPr id="13318" name="Text Box 9"/>
          <p:cNvSpPr txBox="1">
            <a:spLocks noChangeArrowheads="1"/>
          </p:cNvSpPr>
          <p:nvPr/>
        </p:nvSpPr>
        <p:spPr bwMode="auto">
          <a:xfrm>
            <a:off x="1466850" y="5648325"/>
            <a:ext cx="5438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000">
                <a:solidFill>
                  <a:schemeClr val="accent2"/>
                </a:solidFill>
                <a:latin typeface="Times New Roman" pitchFamily="18" charset="0"/>
                <a:sym typeface="Symbol" pitchFamily="18" charset="2"/>
              </a:rPr>
              <a:t>Crystals can </a:t>
            </a:r>
            <a:r>
              <a:rPr lang="en-US" sz="2000" i="1">
                <a:solidFill>
                  <a:schemeClr val="accent2"/>
                </a:solidFill>
                <a:latin typeface="Times New Roman" pitchFamily="18" charset="0"/>
                <a:sym typeface="Symbol" pitchFamily="18" charset="2"/>
              </a:rPr>
              <a:t>only </a:t>
            </a:r>
            <a:r>
              <a:rPr lang="en-US" sz="2000">
                <a:solidFill>
                  <a:schemeClr val="accent2"/>
                </a:solidFill>
                <a:latin typeface="Times New Roman" pitchFamily="18" charset="0"/>
                <a:sym typeface="Symbol" pitchFamily="18" charset="2"/>
              </a:rPr>
              <a:t>have 1, 2, 3, 4 or 6 fold symmetry</a:t>
            </a:r>
          </a:p>
        </p:txBody>
      </p:sp>
      <p:sp>
        <p:nvSpPr>
          <p:cNvPr id="13319" name="Rectangle 105"/>
          <p:cNvSpPr>
            <a:spLocks noChangeArrowheads="1"/>
          </p:cNvSpPr>
          <p:nvPr/>
        </p:nvSpPr>
        <p:spPr bwMode="auto">
          <a:xfrm>
            <a:off x="150813" y="6554788"/>
            <a:ext cx="8850312"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18000" tIns="18000" rIns="18000" bIns="18000">
            <a:spAutoFit/>
          </a:bodyPr>
          <a:lstStyle/>
          <a:p>
            <a:pPr marL="360363" indent="-360363">
              <a:spcBef>
                <a:spcPct val="20000"/>
              </a:spcBef>
              <a:buFont typeface="Wingdings" pitchFamily="2" charset="2"/>
              <a:buNone/>
            </a:pPr>
            <a:r>
              <a:rPr lang="en-US" sz="1200" i="1">
                <a:latin typeface="Times New Roman" pitchFamily="18" charset="0"/>
                <a:sym typeface="Wingdings" pitchFamily="2" charset="2"/>
              </a:rPr>
              <a:t>* explained in an upcoming slide</a:t>
            </a:r>
            <a:endParaRPr lang="en-US" sz="1200">
              <a:latin typeface="Times New Roman" pitchFamily="18" charset="0"/>
              <a:sym typeface="Symbol" pitchFamily="18" charset="2"/>
            </a:endParaRPr>
          </a:p>
        </p:txBody>
      </p:sp>
      <p:sp>
        <p:nvSpPr>
          <p:cNvPr id="13320" name="Text Box 11"/>
          <p:cNvSpPr txBox="1">
            <a:spLocks noChangeArrowheads="1"/>
          </p:cNvSpPr>
          <p:nvPr/>
        </p:nvSpPr>
        <p:spPr bwMode="auto">
          <a:xfrm>
            <a:off x="184150" y="2798763"/>
            <a:ext cx="8467725" cy="765175"/>
          </a:xfrm>
          <a:prstGeom prst="rect">
            <a:avLst/>
          </a:prstGeom>
          <a:solidFill>
            <a:schemeClr val="bg1"/>
          </a:solidFill>
          <a:ln w="3175" algn="ctr">
            <a:solidFill>
              <a:srgbClr val="33CC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If an object come into self-coincidence through smallest non-zero rotation</a:t>
            </a:r>
            <a:br>
              <a:rPr lang="en-US" sz="2200">
                <a:latin typeface="Times New Roman" pitchFamily="18" charset="0"/>
              </a:rPr>
            </a:br>
            <a:r>
              <a:rPr lang="en-US" sz="2200">
                <a:latin typeface="Times New Roman" pitchFamily="18" charset="0"/>
              </a:rPr>
              <a:t> angle of </a:t>
            </a:r>
            <a:r>
              <a:rPr lang="en-US" sz="2200">
                <a:solidFill>
                  <a:srgbClr val="CC3300"/>
                </a:solidFill>
                <a:latin typeface="Times New Roman" pitchFamily="18" charset="0"/>
                <a:sym typeface="Symbol" pitchFamily="18" charset="2"/>
              </a:rPr>
              <a:t></a:t>
            </a:r>
            <a:r>
              <a:rPr lang="en-US" sz="2200">
                <a:latin typeface="Times New Roman" pitchFamily="18" charset="0"/>
                <a:sym typeface="Symbol" pitchFamily="18" charset="2"/>
              </a:rPr>
              <a:t> then it is said to have an </a:t>
            </a:r>
            <a:r>
              <a:rPr lang="en-US" sz="2200">
                <a:solidFill>
                  <a:srgbClr val="0000FF"/>
                </a:solidFill>
                <a:latin typeface="Times New Roman" pitchFamily="18" charset="0"/>
                <a:sym typeface="Symbol" pitchFamily="18" charset="2"/>
              </a:rPr>
              <a:t>n-fold</a:t>
            </a:r>
            <a:r>
              <a:rPr lang="en-US" sz="2200">
                <a:latin typeface="Times New Roman" pitchFamily="18" charset="0"/>
                <a:sym typeface="Symbol" pitchFamily="18" charset="2"/>
              </a:rPr>
              <a:t> rotation axis where: </a:t>
            </a:r>
            <a:r>
              <a:rPr lang="en-US" sz="2200">
                <a:latin typeface="Times New Roman" pitchFamily="18" charset="0"/>
              </a:rPr>
              <a:t> </a:t>
            </a:r>
            <a:endParaRPr lang="en-US" sz="2200">
              <a:latin typeface="Times New Roman" pitchFamily="18" charset="0"/>
              <a:sym typeface="Symbol" pitchFamily="18" charset="2"/>
            </a:endParaRPr>
          </a:p>
        </p:txBody>
      </p:sp>
      <p:graphicFrame>
        <p:nvGraphicFramePr>
          <p:cNvPr id="13321" name="Object 12"/>
          <p:cNvGraphicFramePr>
            <a:graphicFrameLocks noChangeAspect="1"/>
          </p:cNvGraphicFramePr>
          <p:nvPr/>
        </p:nvGraphicFramePr>
        <p:xfrm>
          <a:off x="3895725" y="3697288"/>
          <a:ext cx="1309688" cy="919162"/>
        </p:xfrm>
        <a:graphic>
          <a:graphicData uri="http://schemas.openxmlformats.org/presentationml/2006/ole">
            <mc:AlternateContent xmlns:mc="http://schemas.openxmlformats.org/markup-compatibility/2006">
              <mc:Choice xmlns:v="urn:schemas-microsoft-com:vml" Requires="v">
                <p:oleObj name="Equation" r:id="rId2" imgW="596900" imgH="419100" progId="Equation.3">
                  <p:embed/>
                </p:oleObj>
              </mc:Choice>
              <mc:Fallback>
                <p:oleObj name="Equation" r:id="rId2" imgW="596900" imgH="419100" progId="Equation.3">
                  <p:embed/>
                  <p:pic>
                    <p:nvPicPr>
                      <p:cNvPr id="13321"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5725" y="3697288"/>
                        <a:ext cx="1309688" cy="919162"/>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2" name="AutoShape 84">
            <a:hlinkClick r:id="rId4" action="ppaction://hlinkpres?slideindex=1&amp;slidetitle="/>
          </p:cNvPr>
          <p:cNvSpPr>
            <a:spLocks noChangeArrowheads="1"/>
          </p:cNvSpPr>
          <p:nvPr/>
        </p:nvSpPr>
        <p:spPr bwMode="auto">
          <a:xfrm>
            <a:off x="7353300" y="5341938"/>
            <a:ext cx="1344613" cy="258762"/>
          </a:xfrm>
          <a:prstGeom prst="flowChartTerminator">
            <a:avLst/>
          </a:prstGeom>
          <a:solidFill>
            <a:srgbClr val="CCFFFF"/>
          </a:solidFill>
          <a:ln>
            <a:noFill/>
          </a:ln>
          <a:effectLst>
            <a:prstShdw prst="shdw17" dist="17961" dir="2700000">
              <a:srgbClr val="7A9999"/>
            </a:prstShdw>
          </a:effectLst>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p>
            <a:pPr algn="ctr"/>
            <a:r>
              <a:rPr lang="en-US" sz="1200" dirty="0">
                <a:solidFill>
                  <a:srgbClr val="0000FF"/>
                </a:solidFill>
                <a:latin typeface="Times New Roman" pitchFamily="18" charset="0"/>
              </a:rPr>
              <a:t>Click here for proof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265113" y="193675"/>
            <a:ext cx="1828800" cy="9159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 name="Text Box 5"/>
          <p:cNvSpPr txBox="1">
            <a:spLocks noChangeArrowheads="1"/>
          </p:cNvSpPr>
          <p:nvPr/>
        </p:nvSpPr>
        <p:spPr bwMode="auto">
          <a:xfrm>
            <a:off x="2855913" y="42227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=180</a:t>
            </a:r>
          </a:p>
        </p:txBody>
      </p:sp>
      <p:sp>
        <p:nvSpPr>
          <p:cNvPr id="14340" name="Text Box 7"/>
          <p:cNvSpPr txBox="1">
            <a:spLocks noChangeArrowheads="1"/>
          </p:cNvSpPr>
          <p:nvPr/>
        </p:nvSpPr>
        <p:spPr bwMode="auto">
          <a:xfrm>
            <a:off x="4227513" y="4238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n=2 </a:t>
            </a:r>
            <a:endParaRPr lang="en-US" sz="2400">
              <a:latin typeface="Times New Roman" pitchFamily="18" charset="0"/>
            </a:endParaRPr>
          </a:p>
        </p:txBody>
      </p:sp>
      <p:sp>
        <p:nvSpPr>
          <p:cNvPr id="14341" name="Text Box 8"/>
          <p:cNvSpPr txBox="1">
            <a:spLocks noChangeArrowheads="1"/>
          </p:cNvSpPr>
          <p:nvPr/>
        </p:nvSpPr>
        <p:spPr bwMode="auto">
          <a:xfrm>
            <a:off x="5370513" y="4222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2-fold rotation axis</a:t>
            </a:r>
            <a:endParaRPr lang="en-US" sz="2400">
              <a:latin typeface="Times New Roman" pitchFamily="18" charset="0"/>
            </a:endParaRPr>
          </a:p>
        </p:txBody>
      </p:sp>
      <p:sp>
        <p:nvSpPr>
          <p:cNvPr id="14342" name="Oval 9"/>
          <p:cNvSpPr>
            <a:spLocks noChangeArrowheads="1"/>
          </p:cNvSpPr>
          <p:nvPr/>
        </p:nvSpPr>
        <p:spPr bwMode="auto">
          <a:xfrm>
            <a:off x="1138238" y="493713"/>
            <a:ext cx="76200" cy="303212"/>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3" name="Text Box 10"/>
          <p:cNvSpPr txBox="1">
            <a:spLocks noChangeArrowheads="1"/>
          </p:cNvSpPr>
          <p:nvPr/>
        </p:nvSpPr>
        <p:spPr bwMode="auto">
          <a:xfrm>
            <a:off x="2714625" y="4168775"/>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=120</a:t>
            </a:r>
          </a:p>
        </p:txBody>
      </p:sp>
      <p:sp>
        <p:nvSpPr>
          <p:cNvPr id="14344" name="Text Box 11"/>
          <p:cNvSpPr txBox="1">
            <a:spLocks noChangeArrowheads="1"/>
          </p:cNvSpPr>
          <p:nvPr/>
        </p:nvSpPr>
        <p:spPr bwMode="auto">
          <a:xfrm>
            <a:off x="4086225" y="41703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n=3 </a:t>
            </a:r>
            <a:endParaRPr lang="en-US" sz="2400">
              <a:latin typeface="Times New Roman" pitchFamily="18" charset="0"/>
            </a:endParaRPr>
          </a:p>
        </p:txBody>
      </p:sp>
      <p:sp>
        <p:nvSpPr>
          <p:cNvPr id="14345" name="Text Box 12"/>
          <p:cNvSpPr txBox="1">
            <a:spLocks noChangeArrowheads="1"/>
          </p:cNvSpPr>
          <p:nvPr/>
        </p:nvSpPr>
        <p:spPr bwMode="auto">
          <a:xfrm>
            <a:off x="5229225" y="41687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3-fold rotation axis</a:t>
            </a:r>
            <a:endParaRPr lang="en-US" sz="2400">
              <a:latin typeface="Times New Roman" pitchFamily="18" charset="0"/>
            </a:endParaRPr>
          </a:p>
        </p:txBody>
      </p:sp>
      <p:sp>
        <p:nvSpPr>
          <p:cNvPr id="14346" name="AutoShape 13"/>
          <p:cNvSpPr>
            <a:spLocks noChangeArrowheads="1"/>
          </p:cNvSpPr>
          <p:nvPr/>
        </p:nvSpPr>
        <p:spPr bwMode="auto">
          <a:xfrm>
            <a:off x="271463" y="3617913"/>
            <a:ext cx="1381125" cy="119380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7" name="AutoShape 14"/>
          <p:cNvSpPr>
            <a:spLocks noChangeArrowheads="1"/>
          </p:cNvSpPr>
          <p:nvPr/>
        </p:nvSpPr>
        <p:spPr bwMode="auto">
          <a:xfrm>
            <a:off x="863600" y="4294188"/>
            <a:ext cx="203200" cy="176212"/>
          </a:xfrm>
          <a:prstGeom prst="triangle">
            <a:avLst>
              <a:gd name="adj" fmla="val 50000"/>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48" name="Text Box 15"/>
          <p:cNvSpPr txBox="1">
            <a:spLocks noChangeArrowheads="1"/>
          </p:cNvSpPr>
          <p:nvPr/>
        </p:nvSpPr>
        <p:spPr bwMode="auto">
          <a:xfrm>
            <a:off x="1422400" y="182563"/>
            <a:ext cx="15367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1200" i="1">
                <a:solidFill>
                  <a:schemeClr val="accent2"/>
                </a:solidFill>
                <a:latin typeface="Times New Roman" pitchFamily="18" charset="0"/>
                <a:sym typeface="Symbol" pitchFamily="18" charset="2"/>
              </a:rPr>
              <a:t>Symbol for 2-fold axis</a:t>
            </a:r>
            <a:endParaRPr lang="en-US" sz="1200" i="1">
              <a:latin typeface="Times New Roman" pitchFamily="18" charset="0"/>
            </a:endParaRPr>
          </a:p>
        </p:txBody>
      </p:sp>
      <p:cxnSp>
        <p:nvCxnSpPr>
          <p:cNvPr id="14349" name="AutoShape 16"/>
          <p:cNvCxnSpPr>
            <a:cxnSpLocks noChangeShapeType="1"/>
            <a:stCxn id="14348" idx="1"/>
            <a:endCxn id="14342" idx="6"/>
          </p:cNvCxnSpPr>
          <p:nvPr/>
        </p:nvCxnSpPr>
        <p:spPr bwMode="auto">
          <a:xfrm flipH="1">
            <a:off x="1214438" y="320675"/>
            <a:ext cx="207962" cy="325438"/>
          </a:xfrm>
          <a:prstGeom prst="straightConnector1">
            <a:avLst/>
          </a:prstGeom>
          <a:noFill/>
          <a:ln w="9525">
            <a:solidFill>
              <a:schemeClr val="bg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50" name="Text Box 17"/>
          <p:cNvSpPr txBox="1">
            <a:spLocks noChangeArrowheads="1"/>
          </p:cNvSpPr>
          <p:nvPr/>
        </p:nvSpPr>
        <p:spPr bwMode="auto">
          <a:xfrm>
            <a:off x="1212850" y="3759200"/>
            <a:ext cx="15367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1200" i="1">
                <a:solidFill>
                  <a:schemeClr val="accent2"/>
                </a:solidFill>
                <a:latin typeface="Times New Roman" pitchFamily="18" charset="0"/>
                <a:sym typeface="Symbol" pitchFamily="18" charset="2"/>
              </a:rPr>
              <a:t>Symbol for 3-fold axis</a:t>
            </a:r>
            <a:endParaRPr lang="en-US" sz="1200" i="1">
              <a:latin typeface="Times New Roman" pitchFamily="18" charset="0"/>
            </a:endParaRPr>
          </a:p>
        </p:txBody>
      </p:sp>
      <p:cxnSp>
        <p:nvCxnSpPr>
          <p:cNvPr id="14351" name="AutoShape 18"/>
          <p:cNvCxnSpPr>
            <a:cxnSpLocks noChangeShapeType="1"/>
            <a:stCxn id="14350" idx="1"/>
            <a:endCxn id="14347" idx="0"/>
          </p:cNvCxnSpPr>
          <p:nvPr/>
        </p:nvCxnSpPr>
        <p:spPr bwMode="auto">
          <a:xfrm flipH="1">
            <a:off x="965200" y="3897313"/>
            <a:ext cx="247650" cy="396875"/>
          </a:xfrm>
          <a:prstGeom prst="straightConnector1">
            <a:avLst/>
          </a:prstGeom>
          <a:noFill/>
          <a:ln w="9525">
            <a:solidFill>
              <a:schemeClr val="bg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352" name="Object 19"/>
          <p:cNvGraphicFramePr>
            <a:graphicFrameLocks noChangeAspect="1"/>
          </p:cNvGraphicFramePr>
          <p:nvPr/>
        </p:nvGraphicFramePr>
        <p:xfrm>
          <a:off x="8355013" y="122238"/>
          <a:ext cx="676275" cy="474662"/>
        </p:xfrm>
        <a:graphic>
          <a:graphicData uri="http://schemas.openxmlformats.org/presentationml/2006/ole">
            <mc:AlternateContent xmlns:mc="http://schemas.openxmlformats.org/markup-compatibility/2006">
              <mc:Choice xmlns:v="urn:schemas-microsoft-com:vml" Requires="v">
                <p:oleObj name="Equation" r:id="rId2" imgW="596900" imgH="419100" progId="Equation.3">
                  <p:embed/>
                </p:oleObj>
              </mc:Choice>
              <mc:Fallback>
                <p:oleObj name="Equation" r:id="rId2" imgW="596900" imgH="419100" progId="Equation.3">
                  <p:embed/>
                  <p:pic>
                    <p:nvPicPr>
                      <p:cNvPr id="14352"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5013" y="122238"/>
                        <a:ext cx="676275" cy="474662"/>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4353" name="Picture 20" descr="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975" y="1239838"/>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21" descr="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9438" y="1309688"/>
            <a:ext cx="183515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5" name="AutoShape 34"/>
          <p:cNvSpPr>
            <a:spLocks noChangeArrowheads="1"/>
          </p:cNvSpPr>
          <p:nvPr/>
        </p:nvSpPr>
        <p:spPr bwMode="auto">
          <a:xfrm>
            <a:off x="3365500" y="1722438"/>
            <a:ext cx="2068513" cy="692150"/>
          </a:xfrm>
          <a:prstGeom prst="rightArrow">
            <a:avLst>
              <a:gd name="adj1" fmla="val 50000"/>
              <a:gd name="adj2" fmla="val 74713"/>
            </a:avLst>
          </a:prstGeom>
          <a:solidFill>
            <a:srgbClr val="CCFFFF"/>
          </a:solidFill>
          <a:ln w="9525" algn="ctr">
            <a:solidFill>
              <a:srgbClr val="0066FF"/>
            </a:solidFill>
            <a:miter lim="800000"/>
            <a:headEnd/>
            <a:tailEnd/>
          </a:ln>
        </p:spPr>
        <p:txBody>
          <a:bodyPr lIns="36000" tIns="36000" rIns="36000" bIns="36000" anchor="ctr">
            <a:spAutoFit/>
          </a:bodyPr>
          <a:lstStyle/>
          <a:p>
            <a:pPr algn="ctr"/>
            <a:r>
              <a:rPr lang="en-US" sz="1000">
                <a:solidFill>
                  <a:srgbClr val="3333FF"/>
                </a:solidFill>
                <a:latin typeface="Times New Roman" pitchFamily="18" charset="0"/>
              </a:rPr>
              <a:t>Then the operation of the 2-fold leaves two points</a:t>
            </a:r>
          </a:p>
        </p:txBody>
      </p:sp>
      <p:pic>
        <p:nvPicPr>
          <p:cNvPr id="14356" name="Picture 23" descr="3-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7075" y="48006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242888" y="128588"/>
            <a:ext cx="914400" cy="8397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3" name="Text Box 3"/>
          <p:cNvSpPr txBox="1">
            <a:spLocks noChangeArrowheads="1"/>
          </p:cNvSpPr>
          <p:nvPr/>
        </p:nvSpPr>
        <p:spPr bwMode="auto">
          <a:xfrm>
            <a:off x="1919288" y="320675"/>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=90 </a:t>
            </a:r>
          </a:p>
        </p:txBody>
      </p:sp>
      <p:sp>
        <p:nvSpPr>
          <p:cNvPr id="15364" name="Text Box 4"/>
          <p:cNvSpPr txBox="1">
            <a:spLocks noChangeArrowheads="1"/>
          </p:cNvSpPr>
          <p:nvPr/>
        </p:nvSpPr>
        <p:spPr bwMode="auto">
          <a:xfrm>
            <a:off x="3290888" y="3190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n=4 </a:t>
            </a:r>
            <a:endParaRPr lang="en-US" sz="2400">
              <a:latin typeface="Times New Roman" pitchFamily="18" charset="0"/>
            </a:endParaRPr>
          </a:p>
        </p:txBody>
      </p:sp>
      <p:sp>
        <p:nvSpPr>
          <p:cNvPr id="15365" name="Text Box 5"/>
          <p:cNvSpPr txBox="1">
            <a:spLocks noChangeArrowheads="1"/>
          </p:cNvSpPr>
          <p:nvPr/>
        </p:nvSpPr>
        <p:spPr bwMode="auto">
          <a:xfrm>
            <a:off x="4433888" y="319088"/>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663300"/>
                </a:solidFill>
                <a:latin typeface="Times New Roman" pitchFamily="18" charset="0"/>
                <a:sym typeface="Symbol" pitchFamily="18" charset="2"/>
              </a:rPr>
              <a:t>4-fold rotation axis</a:t>
            </a:r>
            <a:endParaRPr lang="en-US" sz="2400">
              <a:solidFill>
                <a:srgbClr val="663300"/>
              </a:solidFill>
              <a:latin typeface="Times New Roman" pitchFamily="18" charset="0"/>
            </a:endParaRPr>
          </a:p>
        </p:txBody>
      </p:sp>
      <p:sp>
        <p:nvSpPr>
          <p:cNvPr id="15366" name="Rectangle 6"/>
          <p:cNvSpPr>
            <a:spLocks noChangeArrowheads="1"/>
          </p:cNvSpPr>
          <p:nvPr/>
        </p:nvSpPr>
        <p:spPr bwMode="auto">
          <a:xfrm>
            <a:off x="623888" y="471488"/>
            <a:ext cx="152400" cy="152400"/>
          </a:xfrm>
          <a:prstGeom prst="rect">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7" name="Text Box 7"/>
          <p:cNvSpPr txBox="1">
            <a:spLocks noChangeArrowheads="1"/>
          </p:cNvSpPr>
          <p:nvPr/>
        </p:nvSpPr>
        <p:spPr bwMode="auto">
          <a:xfrm>
            <a:off x="2024063" y="3903663"/>
            <a:ext cx="106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=60 </a:t>
            </a:r>
          </a:p>
        </p:txBody>
      </p:sp>
      <p:sp>
        <p:nvSpPr>
          <p:cNvPr id="15368" name="Text Box 8"/>
          <p:cNvSpPr txBox="1">
            <a:spLocks noChangeArrowheads="1"/>
          </p:cNvSpPr>
          <p:nvPr/>
        </p:nvSpPr>
        <p:spPr bwMode="auto">
          <a:xfrm>
            <a:off x="3395663" y="3902075"/>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pPr>
            <a:r>
              <a:rPr lang="en-US" sz="2400">
                <a:solidFill>
                  <a:schemeClr val="accent2"/>
                </a:solidFill>
                <a:latin typeface="Times New Roman" pitchFamily="18" charset="0"/>
                <a:sym typeface="Symbol" pitchFamily="18" charset="2"/>
              </a:rPr>
              <a:t>n=6 </a:t>
            </a:r>
            <a:endParaRPr lang="en-US" sz="2400">
              <a:latin typeface="Times New Roman" pitchFamily="18" charset="0"/>
            </a:endParaRPr>
          </a:p>
        </p:txBody>
      </p:sp>
      <p:sp>
        <p:nvSpPr>
          <p:cNvPr id="15369" name="Text Box 9"/>
          <p:cNvSpPr txBox="1">
            <a:spLocks noChangeArrowheads="1"/>
          </p:cNvSpPr>
          <p:nvPr/>
        </p:nvSpPr>
        <p:spPr bwMode="auto">
          <a:xfrm>
            <a:off x="4538663" y="3902075"/>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400">
                <a:solidFill>
                  <a:srgbClr val="663300"/>
                </a:solidFill>
                <a:latin typeface="Times New Roman" pitchFamily="18" charset="0"/>
                <a:sym typeface="Symbol" pitchFamily="18" charset="2"/>
              </a:rPr>
              <a:t>6-fold rotation axis</a:t>
            </a:r>
            <a:endParaRPr lang="en-US" sz="2400">
              <a:solidFill>
                <a:srgbClr val="663300"/>
              </a:solidFill>
              <a:latin typeface="Times New Roman" pitchFamily="18" charset="0"/>
            </a:endParaRPr>
          </a:p>
        </p:txBody>
      </p:sp>
      <p:sp>
        <p:nvSpPr>
          <p:cNvPr id="15370" name="AutoShape 10"/>
          <p:cNvSpPr>
            <a:spLocks noChangeArrowheads="1"/>
          </p:cNvSpPr>
          <p:nvPr/>
        </p:nvSpPr>
        <p:spPr bwMode="auto">
          <a:xfrm>
            <a:off x="223838" y="3549650"/>
            <a:ext cx="1325562" cy="1146175"/>
          </a:xfrm>
          <a:prstGeom prst="hexagon">
            <a:avLst>
              <a:gd name="adj" fmla="val 28913"/>
              <a:gd name="vf" fmla="val 11547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71" name="AutoShape 11"/>
          <p:cNvSpPr>
            <a:spLocks noChangeArrowheads="1"/>
          </p:cNvSpPr>
          <p:nvPr/>
        </p:nvSpPr>
        <p:spPr bwMode="auto">
          <a:xfrm>
            <a:off x="776288" y="4008438"/>
            <a:ext cx="268287" cy="233362"/>
          </a:xfrm>
          <a:prstGeom prst="hexagon">
            <a:avLst>
              <a:gd name="adj" fmla="val 28742"/>
              <a:gd name="vf" fmla="val 115470"/>
            </a:avLst>
          </a:prstGeom>
          <a:solidFill>
            <a:srgbClr val="FF66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pic>
        <p:nvPicPr>
          <p:cNvPr id="15372" name="Picture 15" descr="4-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3025" y="1165225"/>
            <a:ext cx="1931988"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3" name="Picture 16" descr="6-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7150" y="4581525"/>
            <a:ext cx="1931988"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04775" y="487363"/>
            <a:ext cx="8839200" cy="1601787"/>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If we start with a general point, then the operation of symmetry operator(s) will leave a (finite) set of points. These symmetrically related set of points are called identity points.</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An extension of the concept of Identity points is to use identity objects which can show left or right handedness.</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Some examples are shown below. </a:t>
            </a:r>
          </a:p>
        </p:txBody>
      </p:sp>
      <p:sp>
        <p:nvSpPr>
          <p:cNvPr id="16387" name="Text Box 3"/>
          <p:cNvSpPr txBox="1">
            <a:spLocks noChangeArrowheads="1"/>
          </p:cNvSpPr>
          <p:nvPr/>
        </p:nvSpPr>
        <p:spPr bwMode="auto">
          <a:xfrm>
            <a:off x="104775" y="41275"/>
            <a:ext cx="2222500" cy="395288"/>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rgbClr val="0000FF"/>
                </a:solidFill>
                <a:latin typeface="Times New Roman" pitchFamily="18" charset="0"/>
              </a:rPr>
              <a:t>Identity Points/Objects</a:t>
            </a:r>
          </a:p>
        </p:txBody>
      </p:sp>
      <p:pic>
        <p:nvPicPr>
          <p:cNvPr id="16388" name="Picture 4" descr="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25" y="2139950"/>
            <a:ext cx="1843088" cy="1843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389" name="Text Box 93"/>
          <p:cNvSpPr txBox="1">
            <a:spLocks noChangeArrowheads="1"/>
          </p:cNvSpPr>
          <p:nvPr/>
        </p:nvSpPr>
        <p:spPr bwMode="auto">
          <a:xfrm>
            <a:off x="1768475" y="2319338"/>
            <a:ext cx="24511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spAutoFit/>
          </a:bodyPr>
          <a:lstStyle>
            <a:lvl1pPr indent="317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600" i="1">
                <a:latin typeface="Times New Roman" pitchFamily="18" charset="0"/>
              </a:rPr>
              <a:t>4-fold leaves 4 identity points</a:t>
            </a:r>
          </a:p>
        </p:txBody>
      </p:sp>
      <p:pic>
        <p:nvPicPr>
          <p:cNvPr id="16390" name="Picture 7" descr="4mm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4513" y="3046413"/>
            <a:ext cx="2400300" cy="2400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391" name="Text Box 93"/>
          <p:cNvSpPr txBox="1">
            <a:spLocks noChangeArrowheads="1"/>
          </p:cNvSpPr>
          <p:nvPr/>
        </p:nvSpPr>
        <p:spPr bwMode="auto">
          <a:xfrm>
            <a:off x="5465763" y="5935663"/>
            <a:ext cx="34940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spAutoFit/>
          </a:bodyPr>
          <a:lstStyle>
            <a:lvl1pPr indent="317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600" i="1">
                <a:latin typeface="Times New Roman" pitchFamily="18" charset="0"/>
              </a:rPr>
              <a:t>4mm point group leaves 8 identity points: 4 left handed (orange circle) and 4 right handed (green circle)</a:t>
            </a:r>
          </a:p>
        </p:txBody>
      </p:sp>
      <p:sp>
        <p:nvSpPr>
          <p:cNvPr id="16392" name="Text Box 130"/>
          <p:cNvSpPr txBox="1">
            <a:spLocks noChangeArrowheads="1"/>
          </p:cNvSpPr>
          <p:nvPr/>
        </p:nvSpPr>
        <p:spPr bwMode="auto">
          <a:xfrm>
            <a:off x="5829300" y="5287963"/>
            <a:ext cx="958850" cy="280987"/>
          </a:xfrm>
          <a:prstGeom prst="rect">
            <a:avLst/>
          </a:prstGeom>
          <a:solidFill>
            <a:schemeClr val="bg1"/>
          </a:solidFill>
          <a:ln w="6350" algn="ctr">
            <a:solidFill>
              <a:srgbClr val="FF33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FF3300"/>
                </a:solidFill>
                <a:latin typeface="Times New Roman" pitchFamily="18" charset="0"/>
                <a:sym typeface="Wingdings" pitchFamily="2" charset="2"/>
              </a:rPr>
              <a:t>Left Handed</a:t>
            </a:r>
          </a:p>
        </p:txBody>
      </p:sp>
      <p:sp>
        <p:nvSpPr>
          <p:cNvPr id="16393" name="Oval 131"/>
          <p:cNvSpPr>
            <a:spLocks noChangeArrowheads="1"/>
          </p:cNvSpPr>
          <p:nvPr/>
        </p:nvSpPr>
        <p:spPr bwMode="auto">
          <a:xfrm>
            <a:off x="5016500" y="5240338"/>
            <a:ext cx="214313" cy="214312"/>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16394" name="AutoShape 132"/>
          <p:cNvCxnSpPr>
            <a:cxnSpLocks noChangeShapeType="1"/>
            <a:stCxn id="16392" idx="1"/>
            <a:endCxn id="16393" idx="5"/>
          </p:cNvCxnSpPr>
          <p:nvPr/>
        </p:nvCxnSpPr>
        <p:spPr bwMode="auto">
          <a:xfrm flipH="1" flipV="1">
            <a:off x="5199063" y="5422900"/>
            <a:ext cx="630237" cy="6350"/>
          </a:xfrm>
          <a:prstGeom prst="straightConnector1">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cxnSp>
      <p:sp>
        <p:nvSpPr>
          <p:cNvPr id="16395" name="Oval 131"/>
          <p:cNvSpPr>
            <a:spLocks noChangeArrowheads="1"/>
          </p:cNvSpPr>
          <p:nvPr/>
        </p:nvSpPr>
        <p:spPr bwMode="auto">
          <a:xfrm>
            <a:off x="5297488" y="4959350"/>
            <a:ext cx="214312" cy="214313"/>
          </a:xfrm>
          <a:prstGeom prst="ellipse">
            <a:avLst/>
          </a:prstGeom>
          <a:noFill/>
          <a:ln w="9525">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solidFill>
                <a:srgbClr val="008000"/>
              </a:solidFill>
            </a:endParaRPr>
          </a:p>
        </p:txBody>
      </p:sp>
      <p:cxnSp>
        <p:nvCxnSpPr>
          <p:cNvPr id="16396" name="AutoShape 132"/>
          <p:cNvCxnSpPr>
            <a:cxnSpLocks noChangeShapeType="1"/>
            <a:stCxn id="16405" idx="1"/>
            <a:endCxn id="16395" idx="6"/>
          </p:cNvCxnSpPr>
          <p:nvPr/>
        </p:nvCxnSpPr>
        <p:spPr bwMode="auto">
          <a:xfrm flipH="1">
            <a:off x="5511800" y="4906963"/>
            <a:ext cx="461963" cy="160337"/>
          </a:xfrm>
          <a:prstGeom prst="straightConnector1">
            <a:avLst/>
          </a:prstGeom>
          <a:noFill/>
          <a:ln w="9525">
            <a:solidFill>
              <a:srgbClr val="008000"/>
            </a:solidFill>
            <a:round/>
            <a:headEnd type="triangle" w="med" len="med"/>
            <a:tailEnd/>
          </a:ln>
          <a:extLst>
            <a:ext uri="{909E8E84-426E-40DD-AFC4-6F175D3DCCD1}">
              <a14:hiddenFill xmlns:a14="http://schemas.microsoft.com/office/drawing/2010/main">
                <a:noFill/>
              </a14:hiddenFill>
            </a:ext>
          </a:extLst>
        </p:spPr>
      </p:cxnSp>
      <p:pic>
        <p:nvPicPr>
          <p:cNvPr id="16397" name="Picture 15" descr="4mm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7363" y="2736850"/>
            <a:ext cx="182245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8" name="Text Box 93"/>
          <p:cNvSpPr txBox="1">
            <a:spLocks noChangeArrowheads="1"/>
          </p:cNvSpPr>
          <p:nvPr/>
        </p:nvSpPr>
        <p:spPr bwMode="auto">
          <a:xfrm>
            <a:off x="7607300" y="2493963"/>
            <a:ext cx="11620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spAutoFit/>
          </a:bodyPr>
          <a:lstStyle>
            <a:lvl1pPr indent="3175"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i="1">
                <a:latin typeface="Times New Roman" pitchFamily="18" charset="0"/>
              </a:rPr>
              <a:t>Alternate diagram</a:t>
            </a:r>
          </a:p>
        </p:txBody>
      </p:sp>
      <p:sp>
        <p:nvSpPr>
          <p:cNvPr id="16399" name="Text Box 63"/>
          <p:cNvSpPr txBox="1">
            <a:spLocks noChangeArrowheads="1"/>
          </p:cNvSpPr>
          <p:nvPr/>
        </p:nvSpPr>
        <p:spPr bwMode="auto">
          <a:xfrm>
            <a:off x="3690938" y="4922838"/>
            <a:ext cx="463550" cy="301625"/>
          </a:xfrm>
          <a:prstGeom prst="rect">
            <a:avLst/>
          </a:prstGeom>
          <a:solidFill>
            <a:srgbClr val="00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500">
                <a:solidFill>
                  <a:schemeClr val="bg1"/>
                </a:solidFill>
                <a:latin typeface="Times New Roman" pitchFamily="18" charset="0"/>
              </a:rPr>
              <a:t>4mm</a:t>
            </a:r>
            <a:endParaRPr lang="en-US" sz="1500" baseline="-25000">
              <a:solidFill>
                <a:schemeClr val="bg1"/>
              </a:solidFill>
              <a:latin typeface="Times New Roman" pitchFamily="18" charset="0"/>
              <a:cs typeface="Times New Roman" pitchFamily="18" charset="0"/>
            </a:endParaRPr>
          </a:p>
        </p:txBody>
      </p:sp>
      <p:sp>
        <p:nvSpPr>
          <p:cNvPr id="16400" name="Text Box 63"/>
          <p:cNvSpPr txBox="1">
            <a:spLocks noChangeArrowheads="1"/>
          </p:cNvSpPr>
          <p:nvPr/>
        </p:nvSpPr>
        <p:spPr bwMode="auto">
          <a:xfrm>
            <a:off x="7107238" y="3775075"/>
            <a:ext cx="463550" cy="301625"/>
          </a:xfrm>
          <a:prstGeom prst="rect">
            <a:avLst/>
          </a:prstGeom>
          <a:solidFill>
            <a:srgbClr val="00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500">
                <a:solidFill>
                  <a:schemeClr val="bg1"/>
                </a:solidFill>
                <a:latin typeface="Times New Roman" pitchFamily="18" charset="0"/>
              </a:rPr>
              <a:t>4mm</a:t>
            </a:r>
            <a:endParaRPr lang="en-US" sz="1500" baseline="-25000">
              <a:solidFill>
                <a:schemeClr val="bg1"/>
              </a:solidFill>
              <a:latin typeface="Times New Roman" pitchFamily="18" charset="0"/>
              <a:cs typeface="Times New Roman" pitchFamily="18" charset="0"/>
            </a:endParaRPr>
          </a:p>
        </p:txBody>
      </p:sp>
      <p:sp>
        <p:nvSpPr>
          <p:cNvPr id="16401" name="Oval 131"/>
          <p:cNvSpPr>
            <a:spLocks noChangeArrowheads="1"/>
          </p:cNvSpPr>
          <p:nvPr/>
        </p:nvSpPr>
        <p:spPr bwMode="auto">
          <a:xfrm>
            <a:off x="7013575" y="4373563"/>
            <a:ext cx="214313" cy="214312"/>
          </a:xfrm>
          <a:prstGeom prst="ellipse">
            <a:avLst/>
          </a:prstGeom>
          <a:noFill/>
          <a:ln w="9525">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solidFill>
                <a:srgbClr val="008000"/>
              </a:solidFill>
            </a:endParaRPr>
          </a:p>
        </p:txBody>
      </p:sp>
      <p:cxnSp>
        <p:nvCxnSpPr>
          <p:cNvPr id="16402" name="AutoShape 132"/>
          <p:cNvCxnSpPr>
            <a:cxnSpLocks noChangeShapeType="1"/>
            <a:stCxn id="16405" idx="3"/>
            <a:endCxn id="16401" idx="4"/>
          </p:cNvCxnSpPr>
          <p:nvPr/>
        </p:nvCxnSpPr>
        <p:spPr bwMode="auto">
          <a:xfrm flipV="1">
            <a:off x="7016750" y="4587875"/>
            <a:ext cx="104775" cy="319088"/>
          </a:xfrm>
          <a:prstGeom prst="straightConnector1">
            <a:avLst/>
          </a:prstGeom>
          <a:noFill/>
          <a:ln w="9525">
            <a:solidFill>
              <a:srgbClr val="008000"/>
            </a:solidFill>
            <a:round/>
            <a:headEnd type="triangle" w="med" len="med"/>
            <a:tailEnd/>
          </a:ln>
          <a:extLst>
            <a:ext uri="{909E8E84-426E-40DD-AFC4-6F175D3DCCD1}">
              <a14:hiddenFill xmlns:a14="http://schemas.microsoft.com/office/drawing/2010/main">
                <a:noFill/>
              </a14:hiddenFill>
            </a:ext>
          </a:extLst>
        </p:spPr>
      </p:cxnSp>
      <p:sp>
        <p:nvSpPr>
          <p:cNvPr id="16403" name="Oval 131"/>
          <p:cNvSpPr>
            <a:spLocks noChangeArrowheads="1"/>
          </p:cNvSpPr>
          <p:nvPr/>
        </p:nvSpPr>
        <p:spPr bwMode="auto">
          <a:xfrm>
            <a:off x="6797675" y="4181475"/>
            <a:ext cx="214313" cy="214313"/>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16404" name="AutoShape 132"/>
          <p:cNvCxnSpPr>
            <a:cxnSpLocks noChangeShapeType="1"/>
            <a:stCxn id="16392" idx="0"/>
            <a:endCxn id="16403" idx="3"/>
          </p:cNvCxnSpPr>
          <p:nvPr/>
        </p:nvCxnSpPr>
        <p:spPr bwMode="auto">
          <a:xfrm flipV="1">
            <a:off x="6308725" y="4364038"/>
            <a:ext cx="520700" cy="923925"/>
          </a:xfrm>
          <a:prstGeom prst="straightConnector1">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cxnSp>
      <p:sp>
        <p:nvSpPr>
          <p:cNvPr id="16405" name="Text Box 130"/>
          <p:cNvSpPr txBox="1">
            <a:spLocks noChangeArrowheads="1"/>
          </p:cNvSpPr>
          <p:nvPr/>
        </p:nvSpPr>
        <p:spPr bwMode="auto">
          <a:xfrm>
            <a:off x="5973763" y="4765675"/>
            <a:ext cx="1042987" cy="280988"/>
          </a:xfrm>
          <a:prstGeom prst="rect">
            <a:avLst/>
          </a:prstGeom>
          <a:solidFill>
            <a:schemeClr val="bg1"/>
          </a:solidFill>
          <a:ln w="6350" algn="ctr">
            <a:solidFill>
              <a:srgbClr val="0080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008000"/>
                </a:solidFill>
                <a:latin typeface="Times New Roman" pitchFamily="18" charset="0"/>
                <a:sym typeface="Wingdings" pitchFamily="2" charset="2"/>
              </a:rPr>
              <a:t>Right Handed</a:t>
            </a:r>
          </a:p>
        </p:txBody>
      </p:sp>
      <p:pic>
        <p:nvPicPr>
          <p:cNvPr id="16406" name="Picture 23" descr="r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113" y="4184650"/>
            <a:ext cx="2174875" cy="2174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407" name="Text Box 130"/>
          <p:cNvSpPr txBox="1">
            <a:spLocks noChangeArrowheads="1"/>
          </p:cNvSpPr>
          <p:nvPr/>
        </p:nvSpPr>
        <p:spPr bwMode="auto">
          <a:xfrm>
            <a:off x="2747963" y="6153150"/>
            <a:ext cx="958850" cy="280988"/>
          </a:xfrm>
          <a:prstGeom prst="rect">
            <a:avLst/>
          </a:prstGeom>
          <a:solidFill>
            <a:schemeClr val="bg1"/>
          </a:solidFill>
          <a:ln w="6350" algn="ctr">
            <a:solidFill>
              <a:srgbClr val="FF33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FF3300"/>
                </a:solidFill>
                <a:latin typeface="Times New Roman" pitchFamily="18" charset="0"/>
                <a:sym typeface="Wingdings" pitchFamily="2" charset="2"/>
              </a:rPr>
              <a:t>Left Handed</a:t>
            </a:r>
          </a:p>
        </p:txBody>
      </p:sp>
      <p:sp>
        <p:nvSpPr>
          <p:cNvPr id="16408" name="Oval 131"/>
          <p:cNvSpPr>
            <a:spLocks noChangeArrowheads="1"/>
          </p:cNvSpPr>
          <p:nvPr/>
        </p:nvSpPr>
        <p:spPr bwMode="auto">
          <a:xfrm>
            <a:off x="1935163" y="6105525"/>
            <a:ext cx="214312" cy="214313"/>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16409" name="AutoShape 132"/>
          <p:cNvCxnSpPr>
            <a:cxnSpLocks noChangeShapeType="1"/>
            <a:stCxn id="16407" idx="1"/>
            <a:endCxn id="16408" idx="5"/>
          </p:cNvCxnSpPr>
          <p:nvPr/>
        </p:nvCxnSpPr>
        <p:spPr bwMode="auto">
          <a:xfrm flipH="1" flipV="1">
            <a:off x="2117725" y="6288088"/>
            <a:ext cx="630238" cy="6350"/>
          </a:xfrm>
          <a:prstGeom prst="straightConnector1">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cxnSp>
      <p:sp>
        <p:nvSpPr>
          <p:cNvPr id="16410" name="Oval 131"/>
          <p:cNvSpPr>
            <a:spLocks noChangeArrowheads="1"/>
          </p:cNvSpPr>
          <p:nvPr/>
        </p:nvSpPr>
        <p:spPr bwMode="auto">
          <a:xfrm>
            <a:off x="2192338" y="5848350"/>
            <a:ext cx="214312" cy="214313"/>
          </a:xfrm>
          <a:prstGeom prst="ellipse">
            <a:avLst/>
          </a:prstGeom>
          <a:noFill/>
          <a:ln w="9525">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solidFill>
                <a:srgbClr val="008000"/>
              </a:solidFill>
            </a:endParaRPr>
          </a:p>
        </p:txBody>
      </p:sp>
      <p:cxnSp>
        <p:nvCxnSpPr>
          <p:cNvPr id="16411" name="AutoShape 132"/>
          <p:cNvCxnSpPr>
            <a:cxnSpLocks noChangeShapeType="1"/>
            <a:stCxn id="16412" idx="1"/>
            <a:endCxn id="16410" idx="6"/>
          </p:cNvCxnSpPr>
          <p:nvPr/>
        </p:nvCxnSpPr>
        <p:spPr bwMode="auto">
          <a:xfrm flipH="1">
            <a:off x="2406650" y="5875338"/>
            <a:ext cx="390525" cy="80962"/>
          </a:xfrm>
          <a:prstGeom prst="straightConnector1">
            <a:avLst/>
          </a:prstGeom>
          <a:noFill/>
          <a:ln w="9525">
            <a:solidFill>
              <a:srgbClr val="008000"/>
            </a:solidFill>
            <a:round/>
            <a:headEnd type="triangle" w="med" len="med"/>
            <a:tailEnd/>
          </a:ln>
          <a:extLst>
            <a:ext uri="{909E8E84-426E-40DD-AFC4-6F175D3DCCD1}">
              <a14:hiddenFill xmlns:a14="http://schemas.microsoft.com/office/drawing/2010/main">
                <a:noFill/>
              </a14:hiddenFill>
            </a:ext>
          </a:extLst>
        </p:spPr>
      </p:cxnSp>
      <p:sp>
        <p:nvSpPr>
          <p:cNvPr id="16412" name="Text Box 130"/>
          <p:cNvSpPr txBox="1">
            <a:spLocks noChangeArrowheads="1"/>
          </p:cNvSpPr>
          <p:nvPr/>
        </p:nvSpPr>
        <p:spPr bwMode="auto">
          <a:xfrm>
            <a:off x="2797175" y="5734050"/>
            <a:ext cx="1042988" cy="280988"/>
          </a:xfrm>
          <a:prstGeom prst="rect">
            <a:avLst/>
          </a:prstGeom>
          <a:solidFill>
            <a:schemeClr val="bg1"/>
          </a:solidFill>
          <a:ln w="6350" algn="ctr">
            <a:solidFill>
              <a:srgbClr val="0080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008000"/>
                </a:solidFill>
                <a:latin typeface="Times New Roman" pitchFamily="18" charset="0"/>
                <a:sym typeface="Wingdings" pitchFamily="2" charset="2"/>
              </a:rPr>
              <a:t>Right Handed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52400" y="669925"/>
            <a:ext cx="8839200" cy="4184650"/>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Translation, mirror, inversion &amp; rotation are simple symmetry operators which we had considered</a:t>
            </a:r>
          </a:p>
          <a:p>
            <a:pPr eaLnBrk="1" hangingPunct="1">
              <a:spcAft>
                <a:spcPct val="20000"/>
              </a:spcAft>
              <a:buClr>
                <a:srgbClr val="FF0000"/>
              </a:buClr>
              <a:buFont typeface="Wingdings" pitchFamily="2" charset="2"/>
              <a:buChar char="q"/>
            </a:pPr>
            <a:r>
              <a:rPr lang="en-US">
                <a:solidFill>
                  <a:srgbClr val="0000FF"/>
                </a:solidFill>
                <a:latin typeface="Times New Roman" pitchFamily="18" charset="0"/>
                <a:cs typeface="Times New Roman" pitchFamily="18" charset="0"/>
                <a:sym typeface="Symbol" pitchFamily="18" charset="2"/>
              </a:rPr>
              <a:t>Roto-inversion</a:t>
            </a:r>
            <a:r>
              <a:rPr lang="en-US">
                <a:latin typeface="Times New Roman" pitchFamily="18" charset="0"/>
                <a:cs typeface="Times New Roman" pitchFamily="18" charset="0"/>
                <a:sym typeface="Symbol" pitchFamily="18" charset="2"/>
              </a:rPr>
              <a:t> and </a:t>
            </a:r>
            <a:r>
              <a:rPr lang="en-US">
                <a:solidFill>
                  <a:srgbClr val="0000FF"/>
                </a:solidFill>
                <a:latin typeface="Times New Roman" pitchFamily="18" charset="0"/>
                <a:cs typeface="Times New Roman" pitchFamily="18" charset="0"/>
                <a:sym typeface="Symbol" pitchFamily="18" charset="2"/>
              </a:rPr>
              <a:t>Roto-reflection</a:t>
            </a:r>
            <a:r>
              <a:rPr lang="en-US">
                <a:latin typeface="Times New Roman" pitchFamily="18" charset="0"/>
                <a:cs typeface="Times New Roman" pitchFamily="18" charset="0"/>
                <a:sym typeface="Symbol" pitchFamily="18" charset="2"/>
              </a:rPr>
              <a:t> are </a:t>
            </a:r>
            <a:r>
              <a:rPr lang="en-US">
                <a:solidFill>
                  <a:srgbClr val="A22700"/>
                </a:solidFill>
                <a:latin typeface="Times New Roman" pitchFamily="18" charset="0"/>
                <a:cs typeface="Times New Roman" pitchFamily="18" charset="0"/>
                <a:sym typeface="Symbol" pitchFamily="18" charset="2"/>
              </a:rPr>
              <a:t>compound</a:t>
            </a:r>
            <a:r>
              <a:rPr lang="en-US">
                <a:solidFill>
                  <a:srgbClr val="663300"/>
                </a:solidFill>
                <a:latin typeface="Times New Roman" pitchFamily="18" charset="0"/>
                <a:cs typeface="Times New Roman" pitchFamily="18" charset="0"/>
                <a:sym typeface="Symbol" pitchFamily="18" charset="2"/>
              </a:rPr>
              <a:t> </a:t>
            </a:r>
            <a:r>
              <a:rPr lang="en-US">
                <a:latin typeface="Times New Roman" pitchFamily="18" charset="0"/>
                <a:cs typeface="Times New Roman" pitchFamily="18" charset="0"/>
                <a:sym typeface="Symbol" pitchFamily="18" charset="2"/>
              </a:rPr>
              <a:t>symmetry operators which do not involve translation → both these take left handed objects to right handed form</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Wingdings" pitchFamily="2" charset="2"/>
              </a:rPr>
              <a:t> </a:t>
            </a:r>
            <a:r>
              <a:rPr lang="en-US">
                <a:latin typeface="Times New Roman" pitchFamily="18" charset="0"/>
                <a:cs typeface="Times New Roman" pitchFamily="18" charset="0"/>
                <a:sym typeface="Symbol" pitchFamily="18" charset="2"/>
              </a:rPr>
              <a:t>For generating point groups (to be considered later) one of the two operators is sufficient and hence we will consider roto-inversion only in future.</a:t>
            </a:r>
            <a:endParaRPr lang="en-US">
              <a:latin typeface="Times New Roman" pitchFamily="18" charset="0"/>
              <a:cs typeface="Times New Roman" pitchFamily="18" charset="0"/>
              <a:sym typeface="Wingdings" pitchFamily="2" charset="2"/>
            </a:endParaRPr>
          </a:p>
          <a:p>
            <a:pPr eaLnBrk="1" hangingPunct="1">
              <a:spcAft>
                <a:spcPct val="20000"/>
              </a:spcAft>
              <a:buClr>
                <a:srgbClr val="FF0000"/>
              </a:buClr>
              <a:buFont typeface="Wingdings" pitchFamily="2" charset="2"/>
              <a:buChar char="q"/>
            </a:pPr>
            <a:r>
              <a:rPr lang="en-US">
                <a:solidFill>
                  <a:srgbClr val="0000FF"/>
                </a:solidFill>
                <a:latin typeface="Times New Roman" pitchFamily="18" charset="0"/>
                <a:cs typeface="Times New Roman" pitchFamily="18" charset="0"/>
                <a:sym typeface="Symbol" pitchFamily="18" charset="2"/>
              </a:rPr>
              <a:t>Glide reflection</a:t>
            </a:r>
            <a:r>
              <a:rPr lang="en-US">
                <a:latin typeface="Times New Roman" pitchFamily="18" charset="0"/>
                <a:cs typeface="Times New Roman" pitchFamily="18" charset="0"/>
                <a:sym typeface="Symbol" pitchFamily="18" charset="2"/>
              </a:rPr>
              <a:t> and </a:t>
            </a:r>
            <a:r>
              <a:rPr lang="en-US">
                <a:solidFill>
                  <a:srgbClr val="0000FF"/>
                </a:solidFill>
                <a:latin typeface="Times New Roman" pitchFamily="18" charset="0"/>
                <a:cs typeface="Times New Roman" pitchFamily="18" charset="0"/>
                <a:sym typeface="Symbol" pitchFamily="18" charset="2"/>
              </a:rPr>
              <a:t>Screw</a:t>
            </a:r>
            <a:r>
              <a:rPr lang="en-US">
                <a:latin typeface="Times New Roman" pitchFamily="18" charset="0"/>
                <a:cs typeface="Times New Roman" pitchFamily="18" charset="0"/>
                <a:sym typeface="Symbol" pitchFamily="18" charset="2"/>
              </a:rPr>
              <a:t> are compound symmetry operators involving translation </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Symbol" pitchFamily="18" charset="2"/>
              </a:rPr>
              <a:t>→ Only Glide reflection takes left handed objects to right handed form</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It is important to note in these operations the compound operator acts before leaving a identity-point (i.e. Roto-inversion is NOT  rotation followed by a inversion).</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In some cases these</a:t>
            </a:r>
            <a:r>
              <a:rPr lang="en-US" i="1">
                <a:solidFill>
                  <a:srgbClr val="0000FF"/>
                </a:solidFill>
                <a:latin typeface="Times New Roman" pitchFamily="18" charset="0"/>
                <a:cs typeface="Times New Roman" pitchFamily="18" charset="0"/>
                <a:sym typeface="Symbol" pitchFamily="18" charset="2"/>
              </a:rPr>
              <a:t> compound</a:t>
            </a:r>
            <a:r>
              <a:rPr lang="en-US">
                <a:latin typeface="Times New Roman" pitchFamily="18" charset="0"/>
                <a:cs typeface="Times New Roman" pitchFamily="18" charset="0"/>
                <a:sym typeface="Symbol" pitchFamily="18" charset="2"/>
              </a:rPr>
              <a:t> operators can be broken down into a </a:t>
            </a:r>
            <a:r>
              <a:rPr lang="en-US" i="1">
                <a:solidFill>
                  <a:srgbClr val="0000FF"/>
                </a:solidFill>
                <a:latin typeface="Times New Roman" pitchFamily="18" charset="0"/>
                <a:cs typeface="Times New Roman" pitchFamily="18" charset="0"/>
                <a:sym typeface="Symbol" pitchFamily="18" charset="2"/>
              </a:rPr>
              <a:t>combination</a:t>
            </a:r>
            <a:r>
              <a:rPr lang="en-US">
                <a:latin typeface="Times New Roman" pitchFamily="18" charset="0"/>
                <a:cs typeface="Times New Roman" pitchFamily="18" charset="0"/>
                <a:sym typeface="Symbol" pitchFamily="18" charset="2"/>
              </a:rPr>
              <a:t> of two operators. In a </a:t>
            </a:r>
            <a:r>
              <a:rPr lang="en-US" i="1">
                <a:latin typeface="Times New Roman" pitchFamily="18" charset="0"/>
                <a:cs typeface="Times New Roman" pitchFamily="18" charset="0"/>
                <a:sym typeface="Symbol" pitchFamily="18" charset="2"/>
              </a:rPr>
              <a:t>combination</a:t>
            </a:r>
            <a:r>
              <a:rPr lang="en-US">
                <a:latin typeface="Times New Roman" pitchFamily="18" charset="0"/>
                <a:cs typeface="Times New Roman" pitchFamily="18" charset="0"/>
                <a:sym typeface="Symbol" pitchFamily="18" charset="2"/>
              </a:rPr>
              <a:t> (unlike a compound) the individual operators express themselves fully – i.e. the first operator acts first and then the second acts on the result of the first operation.</a:t>
            </a:r>
          </a:p>
        </p:txBody>
      </p:sp>
      <p:sp>
        <p:nvSpPr>
          <p:cNvPr id="17411" name="Text Box 3"/>
          <p:cNvSpPr txBox="1">
            <a:spLocks noChangeArrowheads="1"/>
          </p:cNvSpPr>
          <p:nvPr/>
        </p:nvSpPr>
        <p:spPr bwMode="auto">
          <a:xfrm>
            <a:off x="152400" y="112713"/>
            <a:ext cx="3432175"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Compound Symmetry Operators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52400" y="503238"/>
            <a:ext cx="8839200" cy="1601787"/>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 roto-inversion operator rotates a point/object and then inverts it (inversion operation) in one go.</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 left handed object will be taken to its right handed form by the operation.</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We will only consider 1,2,3,4,6 - fold rotations (crystallographic) as a part of the roto-inversion operation.</a:t>
            </a:r>
          </a:p>
        </p:txBody>
      </p:sp>
      <p:sp>
        <p:nvSpPr>
          <p:cNvPr id="18435" name="Text Box 3"/>
          <p:cNvSpPr txBox="1">
            <a:spLocks noChangeArrowheads="1"/>
          </p:cNvSpPr>
          <p:nvPr/>
        </p:nvSpPr>
        <p:spPr bwMode="auto">
          <a:xfrm>
            <a:off x="152400" y="33338"/>
            <a:ext cx="1641475"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Roto-inversion</a:t>
            </a:r>
          </a:p>
        </p:txBody>
      </p:sp>
      <p:graphicFrame>
        <p:nvGraphicFramePr>
          <p:cNvPr id="18436" name="Object 25"/>
          <p:cNvGraphicFramePr>
            <a:graphicFrameLocks noChangeAspect="1"/>
          </p:cNvGraphicFramePr>
          <p:nvPr/>
        </p:nvGraphicFramePr>
        <p:xfrm>
          <a:off x="3251200" y="2293938"/>
          <a:ext cx="1320800" cy="431800"/>
        </p:xfrm>
        <a:graphic>
          <a:graphicData uri="http://schemas.openxmlformats.org/presentationml/2006/ole">
            <mc:AlternateContent xmlns:mc="http://schemas.openxmlformats.org/markup-compatibility/2006">
              <mc:Choice xmlns:v="urn:schemas-microsoft-com:vml" Requires="v">
                <p:oleObj name="Equation" r:id="rId2" imgW="698500" imgH="228600" progId="Equation.DSMT4">
                  <p:embed/>
                </p:oleObj>
              </mc:Choice>
              <mc:Fallback>
                <p:oleObj name="Equation" r:id="rId2" imgW="698500" imgH="228600" progId="Equation.DSMT4">
                  <p:embed/>
                  <p:pic>
                    <p:nvPicPr>
                      <p:cNvPr id="18436"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200" y="2293938"/>
                        <a:ext cx="1320800" cy="431800"/>
                      </a:xfrm>
                      <a:prstGeom prst="rect">
                        <a:avLst/>
                      </a:prstGeom>
                      <a:solidFill>
                        <a:srgbClr val="CCFF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7" name="AutoShape 34"/>
          <p:cNvSpPr>
            <a:spLocks noChangeArrowheads="1"/>
          </p:cNvSpPr>
          <p:nvPr/>
        </p:nvSpPr>
        <p:spPr bwMode="auto">
          <a:xfrm>
            <a:off x="257175" y="2201863"/>
            <a:ext cx="2803525" cy="631825"/>
          </a:xfrm>
          <a:prstGeom prst="rightArrow">
            <a:avLst>
              <a:gd name="adj1" fmla="val 50000"/>
              <a:gd name="adj2" fmla="val 110930"/>
            </a:avLst>
          </a:prstGeom>
          <a:solidFill>
            <a:srgbClr val="CCFFFF"/>
          </a:solidFill>
          <a:ln w="9525" algn="ctr">
            <a:solidFill>
              <a:srgbClr val="0066FF"/>
            </a:solidFill>
            <a:miter lim="800000"/>
            <a:headEnd/>
            <a:tailEnd/>
          </a:ln>
        </p:spPr>
        <p:txBody>
          <a:bodyPr wrap="none" lIns="36000" tIns="36000" rIns="36000" bIns="36000" anchor="ctr">
            <a:spAutoFit/>
          </a:bodyPr>
          <a:lstStyle/>
          <a:p>
            <a:pPr algn="ctr"/>
            <a:r>
              <a:rPr lang="en-US">
                <a:solidFill>
                  <a:srgbClr val="3333FF"/>
                </a:solidFill>
                <a:latin typeface="Times New Roman" pitchFamily="18" charset="0"/>
              </a:rPr>
              <a:t>Roto-inversion operations</a:t>
            </a:r>
          </a:p>
        </p:txBody>
      </p:sp>
      <p:pic>
        <p:nvPicPr>
          <p:cNvPr id="18438" name="Picture 9" descr="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1813" y="2182813"/>
            <a:ext cx="1931987"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11" descr="-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 y="4286250"/>
            <a:ext cx="1931988"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12" descr="-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2050" y="4286250"/>
            <a:ext cx="1931988"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13" descr="-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4063" y="4286250"/>
            <a:ext cx="1931987"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14" descr="-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6163" y="4286250"/>
            <a:ext cx="1931987"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Text Box 123"/>
          <p:cNvSpPr txBox="1">
            <a:spLocks noChangeArrowheads="1"/>
          </p:cNvSpPr>
          <p:nvPr/>
        </p:nvSpPr>
        <p:spPr bwMode="auto">
          <a:xfrm>
            <a:off x="227013" y="2832100"/>
            <a:ext cx="2536825"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i="1">
                <a:latin typeface="Times New Roman" pitchFamily="18" charset="0"/>
              </a:rPr>
              <a:t>Compatible with translational symmetry</a:t>
            </a:r>
            <a:endParaRPr lang="en-US" sz="1200" i="1">
              <a:latin typeface="Times New Roman" pitchFamily="18" charset="0"/>
              <a:sym typeface="Symbol"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00" y="503238"/>
            <a:ext cx="8839200" cy="2811462"/>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 screw (axis) operator rotates a point/object and then moves it a fraction of the repeat distance in one go.</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 faction which the screw axes move is called the pitch of the screw.</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We will only consider (1, 2, 3, 4, 6) - fold rotations (crystallographic) as a part of the screw axes.</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 screw axes to be considered are:</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Wingdings" pitchFamily="2" charset="2"/>
              </a:rPr>
              <a:t> 2</a:t>
            </a:r>
            <a:r>
              <a:rPr lang="en-US" baseline="-25000">
                <a:latin typeface="Times New Roman" pitchFamily="18" charset="0"/>
                <a:cs typeface="Times New Roman" pitchFamily="18" charset="0"/>
                <a:sym typeface="Wingdings" pitchFamily="2" charset="2"/>
              </a:rPr>
              <a:t>1</a:t>
            </a:r>
            <a:r>
              <a:rPr lang="en-US">
                <a:latin typeface="Times New Roman" pitchFamily="18" charset="0"/>
                <a:cs typeface="Times New Roman" pitchFamily="18" charset="0"/>
                <a:sym typeface="Wingdings" pitchFamily="2" charset="2"/>
              </a:rPr>
              <a:t> 	 3</a:t>
            </a:r>
            <a:r>
              <a:rPr lang="en-US" baseline="-25000">
                <a:latin typeface="Times New Roman" pitchFamily="18" charset="0"/>
                <a:cs typeface="Times New Roman" pitchFamily="18" charset="0"/>
                <a:sym typeface="Wingdings" pitchFamily="2" charset="2"/>
              </a:rPr>
              <a:t>1</a:t>
            </a:r>
            <a:r>
              <a:rPr lang="en-US">
                <a:latin typeface="Times New Roman" pitchFamily="18" charset="0"/>
                <a:cs typeface="Times New Roman" pitchFamily="18" charset="0"/>
                <a:sym typeface="Wingdings" pitchFamily="2" charset="2"/>
              </a:rPr>
              <a:t> , 3</a:t>
            </a:r>
            <a:r>
              <a:rPr lang="en-US" baseline="-25000">
                <a:latin typeface="Times New Roman" pitchFamily="18" charset="0"/>
                <a:cs typeface="Times New Roman" pitchFamily="18" charset="0"/>
                <a:sym typeface="Wingdings" pitchFamily="2" charset="2"/>
              </a:rPr>
              <a:t>2</a:t>
            </a:r>
            <a:r>
              <a:rPr lang="en-US">
                <a:latin typeface="Times New Roman" pitchFamily="18" charset="0"/>
                <a:cs typeface="Times New Roman" pitchFamily="18" charset="0"/>
                <a:sym typeface="Wingdings" pitchFamily="2" charset="2"/>
              </a:rPr>
              <a:t> 	 4</a:t>
            </a:r>
            <a:r>
              <a:rPr lang="en-US" baseline="-25000">
                <a:latin typeface="Times New Roman" pitchFamily="18" charset="0"/>
                <a:cs typeface="Times New Roman" pitchFamily="18" charset="0"/>
                <a:sym typeface="Wingdings" pitchFamily="2" charset="2"/>
              </a:rPr>
              <a:t>1</a:t>
            </a:r>
            <a:r>
              <a:rPr lang="en-US">
                <a:latin typeface="Times New Roman" pitchFamily="18" charset="0"/>
                <a:cs typeface="Times New Roman" pitchFamily="18" charset="0"/>
                <a:sym typeface="Wingdings" pitchFamily="2" charset="2"/>
              </a:rPr>
              <a:t> , 4</a:t>
            </a:r>
            <a:r>
              <a:rPr lang="en-US" baseline="-25000">
                <a:latin typeface="Times New Roman" pitchFamily="18" charset="0"/>
                <a:cs typeface="Times New Roman" pitchFamily="18" charset="0"/>
                <a:sym typeface="Wingdings" pitchFamily="2" charset="2"/>
              </a:rPr>
              <a:t>2</a:t>
            </a:r>
            <a:r>
              <a:rPr lang="en-US">
                <a:latin typeface="Times New Roman" pitchFamily="18" charset="0"/>
                <a:cs typeface="Times New Roman" pitchFamily="18" charset="0"/>
                <a:sym typeface="Wingdings" pitchFamily="2" charset="2"/>
              </a:rPr>
              <a:t> , 4</a:t>
            </a:r>
            <a:r>
              <a:rPr lang="en-US" baseline="-25000">
                <a:latin typeface="Times New Roman" pitchFamily="18" charset="0"/>
                <a:cs typeface="Times New Roman" pitchFamily="18" charset="0"/>
                <a:sym typeface="Wingdings" pitchFamily="2" charset="2"/>
              </a:rPr>
              <a:t>3</a:t>
            </a:r>
            <a:r>
              <a:rPr lang="en-US">
                <a:latin typeface="Times New Roman" pitchFamily="18" charset="0"/>
                <a:cs typeface="Times New Roman" pitchFamily="18" charset="0"/>
                <a:sym typeface="Wingdings" pitchFamily="2" charset="2"/>
              </a:rPr>
              <a:t>    6</a:t>
            </a:r>
            <a:r>
              <a:rPr lang="en-US" baseline="-25000">
                <a:latin typeface="Times New Roman" pitchFamily="18" charset="0"/>
                <a:cs typeface="Times New Roman" pitchFamily="18" charset="0"/>
                <a:sym typeface="Wingdings" pitchFamily="2" charset="2"/>
              </a:rPr>
              <a:t>1</a:t>
            </a:r>
            <a:r>
              <a:rPr lang="en-US">
                <a:latin typeface="Times New Roman" pitchFamily="18" charset="0"/>
                <a:cs typeface="Times New Roman" pitchFamily="18" charset="0"/>
                <a:sym typeface="Wingdings" pitchFamily="2" charset="2"/>
              </a:rPr>
              <a:t> , 6</a:t>
            </a:r>
            <a:r>
              <a:rPr lang="en-US" baseline="-25000">
                <a:latin typeface="Times New Roman" pitchFamily="18" charset="0"/>
                <a:cs typeface="Times New Roman" pitchFamily="18" charset="0"/>
                <a:sym typeface="Wingdings" pitchFamily="2" charset="2"/>
              </a:rPr>
              <a:t>2</a:t>
            </a:r>
            <a:r>
              <a:rPr lang="en-US">
                <a:latin typeface="Times New Roman" pitchFamily="18" charset="0"/>
                <a:cs typeface="Times New Roman" pitchFamily="18" charset="0"/>
                <a:sym typeface="Wingdings" pitchFamily="2" charset="2"/>
              </a:rPr>
              <a:t> , 6</a:t>
            </a:r>
            <a:r>
              <a:rPr lang="en-US" baseline="-25000">
                <a:latin typeface="Times New Roman" pitchFamily="18" charset="0"/>
                <a:cs typeface="Times New Roman" pitchFamily="18" charset="0"/>
                <a:sym typeface="Wingdings" pitchFamily="2" charset="2"/>
              </a:rPr>
              <a:t>3</a:t>
            </a:r>
            <a:r>
              <a:rPr lang="en-US">
                <a:latin typeface="Times New Roman" pitchFamily="18" charset="0"/>
                <a:cs typeface="Times New Roman" pitchFamily="18" charset="0"/>
                <a:sym typeface="Wingdings" pitchFamily="2" charset="2"/>
              </a:rPr>
              <a:t> , 6</a:t>
            </a:r>
            <a:r>
              <a:rPr lang="en-US" baseline="-25000">
                <a:latin typeface="Times New Roman" pitchFamily="18" charset="0"/>
                <a:cs typeface="Times New Roman" pitchFamily="18" charset="0"/>
                <a:sym typeface="Wingdings" pitchFamily="2" charset="2"/>
              </a:rPr>
              <a:t>4</a:t>
            </a:r>
            <a:r>
              <a:rPr lang="en-US">
                <a:latin typeface="Times New Roman" pitchFamily="18" charset="0"/>
                <a:cs typeface="Times New Roman" pitchFamily="18" charset="0"/>
                <a:sym typeface="Wingdings" pitchFamily="2" charset="2"/>
              </a:rPr>
              <a:t> , 6</a:t>
            </a:r>
            <a:r>
              <a:rPr lang="en-US" baseline="-25000">
                <a:latin typeface="Times New Roman" pitchFamily="18" charset="0"/>
                <a:cs typeface="Times New Roman" pitchFamily="18" charset="0"/>
                <a:sym typeface="Wingdings" pitchFamily="2" charset="2"/>
              </a:rPr>
              <a:t>5</a:t>
            </a:r>
            <a:r>
              <a:rPr lang="en-US">
                <a:latin typeface="Times New Roman" pitchFamily="18" charset="0"/>
                <a:cs typeface="Times New Roman" pitchFamily="18" charset="0"/>
                <a:sym typeface="Wingdings" pitchFamily="2" charset="2"/>
              </a:rPr>
              <a:t> </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Wingdings" pitchFamily="2" charset="2"/>
              </a:rPr>
              <a:t>The normal and screw axis both give the same effect on the external symmetry of the crystal</a:t>
            </a:r>
          </a:p>
        </p:txBody>
      </p:sp>
      <p:sp>
        <p:nvSpPr>
          <p:cNvPr id="19459" name="Text Box 3"/>
          <p:cNvSpPr txBox="1">
            <a:spLocks noChangeArrowheads="1"/>
          </p:cNvSpPr>
          <p:nvPr/>
        </p:nvSpPr>
        <p:spPr bwMode="auto">
          <a:xfrm>
            <a:off x="152400" y="33338"/>
            <a:ext cx="1298575"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Screw Axis</a:t>
            </a:r>
          </a:p>
        </p:txBody>
      </p:sp>
      <p:pic>
        <p:nvPicPr>
          <p:cNvPr id="19460" name="Picture 4" descr="2-1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4286250"/>
            <a:ext cx="192405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descr="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4950" y="3425825"/>
            <a:ext cx="28194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3-2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5" y="158750"/>
            <a:ext cx="5230813" cy="2046288"/>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0483" name="Picture 6" descr="3-2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2703513"/>
            <a:ext cx="4976813" cy="374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484" name="Text Box 123"/>
          <p:cNvSpPr txBox="1">
            <a:spLocks noChangeArrowheads="1"/>
          </p:cNvSpPr>
          <p:nvPr/>
        </p:nvSpPr>
        <p:spPr bwMode="auto">
          <a:xfrm>
            <a:off x="5697538" y="338138"/>
            <a:ext cx="3278187"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76213" indent="-176213"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Clr>
                <a:srgbClr val="CC3300"/>
              </a:buClr>
              <a:buFont typeface="Wingdings" pitchFamily="2" charset="2"/>
              <a:buChar char="§"/>
            </a:pPr>
            <a:r>
              <a:rPr lang="en-US" sz="1600">
                <a:latin typeface="Times New Roman" pitchFamily="18" charset="0"/>
              </a:rPr>
              <a:t>The 3</a:t>
            </a:r>
            <a:r>
              <a:rPr lang="en-US" sz="1600" baseline="-25000">
                <a:latin typeface="Times New Roman" pitchFamily="18" charset="0"/>
              </a:rPr>
              <a:t>2</a:t>
            </a:r>
            <a:r>
              <a:rPr lang="en-US" sz="1600">
                <a:latin typeface="Times New Roman" pitchFamily="18" charset="0"/>
              </a:rPr>
              <a:t> axis produces a rotation of 120</a:t>
            </a:r>
            <a:r>
              <a:rPr lang="en-US" sz="1600">
                <a:latin typeface="Times New Roman" pitchFamily="18" charset="0"/>
                <a:sym typeface="Symbol" pitchFamily="18" charset="2"/>
              </a:rPr>
              <a:t> along with a translation of 2/3.</a:t>
            </a:r>
          </a:p>
          <a:p>
            <a:pPr eaLnBrk="1" hangingPunct="1">
              <a:buClr>
                <a:srgbClr val="CC3300"/>
              </a:buClr>
              <a:buFont typeface="Wingdings" pitchFamily="2" charset="2"/>
              <a:buChar char="§"/>
            </a:pPr>
            <a:r>
              <a:rPr lang="en-US" sz="1600">
                <a:latin typeface="Times New Roman" pitchFamily="18" charset="0"/>
                <a:sym typeface="Symbol" pitchFamily="18" charset="2"/>
              </a:rPr>
              <a:t>The set of points generated are: </a:t>
            </a:r>
            <a:br>
              <a:rPr lang="en-US" sz="1600">
                <a:latin typeface="Times New Roman" pitchFamily="18" charset="0"/>
                <a:sym typeface="Symbol" pitchFamily="18" charset="2"/>
              </a:rPr>
            </a:br>
            <a:r>
              <a:rPr lang="en-US" sz="1600">
                <a:latin typeface="Times New Roman" pitchFamily="18" charset="0"/>
                <a:sym typeface="Symbol" pitchFamily="18" charset="2"/>
              </a:rPr>
              <a:t>(0,0) (120,2/3) (240,4/3=1/3) (360,6/3=2)…</a:t>
            </a:r>
          </a:p>
          <a:p>
            <a:pPr eaLnBrk="1" hangingPunct="1">
              <a:buClr>
                <a:srgbClr val="CC3300"/>
              </a:buClr>
              <a:buFont typeface="Wingdings" pitchFamily="2" charset="2"/>
              <a:buChar char="§"/>
            </a:pPr>
            <a:r>
              <a:rPr lang="en-US" sz="1600" i="1">
                <a:solidFill>
                  <a:srgbClr val="0000FF"/>
                </a:solidFill>
                <a:latin typeface="Times New Roman" pitchFamily="18" charset="0"/>
                <a:sym typeface="Symbol" pitchFamily="18" charset="2"/>
              </a:rPr>
              <a:t>This is equivalent to a left handed screw (LHS) of pitch 1/3</a:t>
            </a:r>
          </a:p>
        </p:txBody>
      </p:sp>
      <p:cxnSp>
        <p:nvCxnSpPr>
          <p:cNvPr id="20485" name="AutoShape 8"/>
          <p:cNvCxnSpPr>
            <a:cxnSpLocks noChangeShapeType="1"/>
            <a:stCxn id="20484" idx="1"/>
            <a:endCxn id="20482" idx="3"/>
          </p:cNvCxnSpPr>
          <p:nvPr/>
        </p:nvCxnSpPr>
        <p:spPr bwMode="auto">
          <a:xfrm flipH="1" flipV="1">
            <a:off x="5399088" y="1182688"/>
            <a:ext cx="298450" cy="47625"/>
          </a:xfrm>
          <a:prstGeom prst="straightConnector1">
            <a:avLst/>
          </a:prstGeom>
          <a:noFill/>
          <a:ln w="9525" cap="rnd">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86" name="AutoShape 9"/>
          <p:cNvCxnSpPr>
            <a:cxnSpLocks noChangeShapeType="1"/>
            <a:stCxn id="20484" idx="1"/>
            <a:endCxn id="20483" idx="3"/>
          </p:cNvCxnSpPr>
          <p:nvPr/>
        </p:nvCxnSpPr>
        <p:spPr bwMode="auto">
          <a:xfrm flipH="1">
            <a:off x="5272088" y="1230313"/>
            <a:ext cx="425450" cy="3343275"/>
          </a:xfrm>
          <a:prstGeom prst="straightConnector1">
            <a:avLst/>
          </a:prstGeom>
          <a:noFill/>
          <a:ln w="9525" cap="rnd">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157163"/>
            <a:ext cx="5468938" cy="23098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1507" name="Text Box 123"/>
          <p:cNvSpPr txBox="1">
            <a:spLocks noChangeArrowheads="1"/>
          </p:cNvSpPr>
          <p:nvPr/>
        </p:nvSpPr>
        <p:spPr bwMode="auto">
          <a:xfrm>
            <a:off x="5697538" y="338138"/>
            <a:ext cx="327818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76213" indent="-176213"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Clr>
                <a:srgbClr val="CC3300"/>
              </a:buClr>
              <a:buFont typeface="Wingdings" pitchFamily="2" charset="2"/>
              <a:buChar char="§"/>
            </a:pPr>
            <a:r>
              <a:rPr lang="en-US" sz="1600">
                <a:latin typeface="Times New Roman" pitchFamily="18" charset="0"/>
              </a:rPr>
              <a:t>The 4</a:t>
            </a:r>
            <a:r>
              <a:rPr lang="en-US" sz="1600" baseline="-25000">
                <a:latin typeface="Times New Roman" pitchFamily="18" charset="0"/>
              </a:rPr>
              <a:t>3</a:t>
            </a:r>
            <a:r>
              <a:rPr lang="en-US" sz="1600">
                <a:latin typeface="Times New Roman" pitchFamily="18" charset="0"/>
              </a:rPr>
              <a:t> axis is a RHS with a pitch of 3/4</a:t>
            </a:r>
          </a:p>
          <a:p>
            <a:pPr eaLnBrk="1" hangingPunct="1">
              <a:buClr>
                <a:srgbClr val="CC3300"/>
              </a:buClr>
              <a:buFont typeface="Wingdings" pitchFamily="2" charset="2"/>
              <a:buChar char="§"/>
            </a:pPr>
            <a:r>
              <a:rPr lang="en-US" sz="1600">
                <a:latin typeface="Times New Roman" pitchFamily="18" charset="0"/>
              </a:rPr>
              <a:t>The effect of 4</a:t>
            </a:r>
            <a:r>
              <a:rPr lang="en-US" sz="1600" baseline="-25000">
                <a:latin typeface="Times New Roman" pitchFamily="18" charset="0"/>
              </a:rPr>
              <a:t>3</a:t>
            </a:r>
            <a:r>
              <a:rPr lang="en-US" sz="1600">
                <a:latin typeface="Times New Roman" pitchFamily="18" charset="0"/>
              </a:rPr>
              <a:t> axis can be thought of as a LHS with a pitch of 1/4</a:t>
            </a:r>
            <a:endParaRPr lang="en-US" sz="1600" i="1">
              <a:solidFill>
                <a:srgbClr val="0000FF"/>
              </a:solidFill>
              <a:latin typeface="Times New Roman" pitchFamily="18" charset="0"/>
              <a:sym typeface="Symbol" pitchFamily="18" charset="2"/>
            </a:endParaRPr>
          </a:p>
        </p:txBody>
      </p:sp>
      <p:pic>
        <p:nvPicPr>
          <p:cNvPr id="21508" name="Picture 5" descr="4-1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038" y="2911475"/>
            <a:ext cx="4251325" cy="3641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125" y="2628900"/>
            <a:ext cx="1892300" cy="40338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2531" name="Text Box 123"/>
          <p:cNvSpPr txBox="1">
            <a:spLocks noChangeArrowheads="1"/>
          </p:cNvSpPr>
          <p:nvPr/>
        </p:nvSpPr>
        <p:spPr bwMode="auto">
          <a:xfrm>
            <a:off x="5761038" y="1781175"/>
            <a:ext cx="3278187"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spAutoFit/>
          </a:bodyPr>
          <a:lstStyle>
            <a:lvl1pPr marL="176213" indent="-176213"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Clr>
                <a:srgbClr val="CC3300"/>
              </a:buClr>
              <a:buFont typeface="Wingdings" pitchFamily="2" charset="2"/>
              <a:buChar char="§"/>
            </a:pPr>
            <a:r>
              <a:rPr lang="en-US" sz="1600">
                <a:latin typeface="Times New Roman" pitchFamily="18" charset="0"/>
              </a:rPr>
              <a:t>The 4</a:t>
            </a:r>
            <a:r>
              <a:rPr lang="en-US" sz="1600" baseline="-25000">
                <a:latin typeface="Times New Roman" pitchFamily="18" charset="0"/>
              </a:rPr>
              <a:t>2</a:t>
            </a:r>
            <a:r>
              <a:rPr lang="en-US" sz="1600">
                <a:latin typeface="Times New Roman" pitchFamily="18" charset="0"/>
              </a:rPr>
              <a:t> axis generates the following set of points:</a:t>
            </a:r>
            <a:br>
              <a:rPr lang="en-US" sz="1600">
                <a:latin typeface="Times New Roman" pitchFamily="18" charset="0"/>
              </a:rPr>
            </a:br>
            <a:r>
              <a:rPr lang="en-US" sz="1600">
                <a:latin typeface="Times New Roman" pitchFamily="18" charset="0"/>
                <a:sym typeface="Symbol" pitchFamily="18" charset="2"/>
              </a:rPr>
              <a:t>(0,0) (90,1/2) (180,2/2=1) (270,3/2=1/2) (360,4/2=2)</a:t>
            </a:r>
          </a:p>
          <a:p>
            <a:pPr eaLnBrk="1" hangingPunct="1">
              <a:buClr>
                <a:srgbClr val="CC3300"/>
              </a:buClr>
              <a:buFont typeface="Wingdings" pitchFamily="2" charset="2"/>
              <a:buChar char="§"/>
            </a:pPr>
            <a:r>
              <a:rPr lang="en-US" sz="1600">
                <a:latin typeface="Times New Roman" pitchFamily="18" charset="0"/>
              </a:rPr>
              <a:t>The grey arrowhead maps the </a:t>
            </a:r>
            <a:br>
              <a:rPr lang="en-US" sz="1600">
                <a:latin typeface="Times New Roman" pitchFamily="18" charset="0"/>
              </a:rPr>
            </a:br>
            <a:r>
              <a:rPr lang="en-US" sz="1600">
                <a:latin typeface="Times New Roman" pitchFamily="18" charset="0"/>
              </a:rPr>
              <a:t> </a:t>
            </a:r>
            <a:r>
              <a:rPr lang="en-US" sz="1600">
                <a:latin typeface="Times New Roman" pitchFamily="18" charset="0"/>
                <a:sym typeface="Symbol" pitchFamily="18" charset="2"/>
              </a:rPr>
              <a:t>(270,3/2) point to (270,1/2)</a:t>
            </a:r>
            <a:br>
              <a:rPr lang="en-US" sz="1600">
                <a:latin typeface="Times New Roman" pitchFamily="18" charset="0"/>
                <a:sym typeface="Symbol" pitchFamily="18" charset="2"/>
              </a:rPr>
            </a:br>
            <a:r>
              <a:rPr lang="en-US" sz="1600">
                <a:latin typeface="Times New Roman" pitchFamily="18" charset="0"/>
                <a:cs typeface="Times New Roman" pitchFamily="18" charset="0"/>
                <a:sym typeface="Symbol" pitchFamily="18" charset="2"/>
              </a:rPr>
              <a:t>→ to keep points within unit cell</a:t>
            </a:r>
          </a:p>
        </p:txBody>
      </p:sp>
      <p:pic>
        <p:nvPicPr>
          <p:cNvPr id="22532" name="Picture 5" descr="4-1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0"/>
            <a:ext cx="2462212"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3146425"/>
            <a:ext cx="5078413" cy="227965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3555" name="Picture 3" descr="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263525"/>
            <a:ext cx="5029200" cy="233521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23556" name="Picture 4" descr="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1704975"/>
            <a:ext cx="2347913" cy="227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52400" y="503238"/>
            <a:ext cx="8839200" cy="3581400"/>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130000"/>
              </a:lnSpc>
              <a:buClr>
                <a:srgbClr val="FF0000"/>
              </a:buClr>
              <a:buFont typeface="Wingdings" pitchFamily="2" charset="2"/>
              <a:buChar char="q"/>
            </a:pPr>
            <a:r>
              <a:rPr lang="en-US">
                <a:latin typeface="Times New Roman" pitchFamily="18" charset="0"/>
                <a:cs typeface="Times New Roman" pitchFamily="18" charset="0"/>
                <a:sym typeface="Symbol" pitchFamily="18" charset="2"/>
              </a:rPr>
              <a:t>A glide (reflection) operator move a point/object by a fraction of the repeat distance and reflects the object in one go.</a:t>
            </a:r>
          </a:p>
          <a:p>
            <a:pPr eaLnBrk="1" hangingPunct="1">
              <a:lnSpc>
                <a:spcPct val="250000"/>
              </a:lnSpc>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Kinds of ‘Glides’ are considered in crystallography:</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Wingdings" pitchFamily="2" charset="2"/>
              </a:rPr>
              <a:t> Axial Glide (a, b, c)   	→ 	</a:t>
            </a:r>
            <a:br>
              <a:rPr lang="en-US">
                <a:latin typeface="Times New Roman" pitchFamily="18" charset="0"/>
                <a:cs typeface="Times New Roman" pitchFamily="18" charset="0"/>
                <a:sym typeface="Wingdings" pitchFamily="2" charset="2"/>
              </a:rPr>
            </a:br>
            <a:r>
              <a:rPr lang="en-US">
                <a:latin typeface="Times New Roman" pitchFamily="18" charset="0"/>
                <a:cs typeface="Times New Roman" pitchFamily="18" charset="0"/>
                <a:sym typeface="Wingdings" pitchFamily="2" charset="2"/>
              </a:rPr>
              <a:t> Diagonal Glide (n) 	→ </a:t>
            </a:r>
            <a:br>
              <a:rPr lang="en-US">
                <a:latin typeface="Times New Roman" pitchFamily="18" charset="0"/>
                <a:cs typeface="Times New Roman" pitchFamily="18" charset="0"/>
                <a:sym typeface="Wingdings" pitchFamily="2" charset="2"/>
              </a:rPr>
            </a:br>
            <a:r>
              <a:rPr lang="en-US">
                <a:latin typeface="Times New Roman" pitchFamily="18" charset="0"/>
                <a:cs typeface="Times New Roman" pitchFamily="18" charset="0"/>
                <a:sym typeface="Wingdings" pitchFamily="2" charset="2"/>
              </a:rPr>
              <a:t> Diamond Glide (d) 	→ </a:t>
            </a:r>
          </a:p>
        </p:txBody>
      </p:sp>
      <p:sp>
        <p:nvSpPr>
          <p:cNvPr id="24579" name="Text Box 3"/>
          <p:cNvSpPr txBox="1">
            <a:spLocks noChangeArrowheads="1"/>
          </p:cNvSpPr>
          <p:nvPr/>
        </p:nvSpPr>
        <p:spPr bwMode="auto">
          <a:xfrm>
            <a:off x="152400" y="33338"/>
            <a:ext cx="1803400"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Glide Reflection</a:t>
            </a:r>
          </a:p>
        </p:txBody>
      </p:sp>
      <p:pic>
        <p:nvPicPr>
          <p:cNvPr id="24580" name="Picture 4" descr="gli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713" y="5383213"/>
            <a:ext cx="73945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581" name="Object 13"/>
          <p:cNvGraphicFramePr>
            <a:graphicFrameLocks noChangeAspect="1"/>
          </p:cNvGraphicFramePr>
          <p:nvPr/>
        </p:nvGraphicFramePr>
        <p:xfrm>
          <a:off x="3325813" y="2143125"/>
          <a:ext cx="212725" cy="550863"/>
        </p:xfrm>
        <a:graphic>
          <a:graphicData uri="http://schemas.openxmlformats.org/presentationml/2006/ole">
            <mc:AlternateContent xmlns:mc="http://schemas.openxmlformats.org/markup-compatibility/2006">
              <mc:Choice xmlns:v="urn:schemas-microsoft-com:vml" Requires="v">
                <p:oleObj name="Equation" r:id="rId3" imgW="152334" imgH="393529" progId="Equation.DSMT4">
                  <p:embed/>
                </p:oleObj>
              </mc:Choice>
              <mc:Fallback>
                <p:oleObj name="Equation" r:id="rId3" imgW="152334" imgH="393529" progId="Equation.DSMT4">
                  <p:embed/>
                  <p:pic>
                    <p:nvPicPr>
                      <p:cNvPr id="24581"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813" y="2143125"/>
                        <a:ext cx="212725" cy="5508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2" name="Object 13"/>
          <p:cNvGraphicFramePr>
            <a:graphicFrameLocks noChangeAspect="1"/>
          </p:cNvGraphicFramePr>
          <p:nvPr/>
        </p:nvGraphicFramePr>
        <p:xfrm>
          <a:off x="3741738" y="2116138"/>
          <a:ext cx="230187" cy="585787"/>
        </p:xfrm>
        <a:graphic>
          <a:graphicData uri="http://schemas.openxmlformats.org/presentationml/2006/ole">
            <mc:AlternateContent xmlns:mc="http://schemas.openxmlformats.org/markup-compatibility/2006">
              <mc:Choice xmlns:v="urn:schemas-microsoft-com:vml" Requires="v">
                <p:oleObj name="Equation" r:id="rId5" imgW="165028" imgH="418918" progId="Equation.DSMT4">
                  <p:embed/>
                </p:oleObj>
              </mc:Choice>
              <mc:Fallback>
                <p:oleObj name="Equation" r:id="rId5" imgW="165028" imgH="418918" progId="Equation.DSMT4">
                  <p:embed/>
                  <p:pic>
                    <p:nvPicPr>
                      <p:cNvPr id="24582"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1738" y="2116138"/>
                        <a:ext cx="230187" cy="5857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3" name="Object 13"/>
          <p:cNvGraphicFramePr>
            <a:graphicFrameLocks noChangeAspect="1"/>
          </p:cNvGraphicFramePr>
          <p:nvPr/>
        </p:nvGraphicFramePr>
        <p:xfrm>
          <a:off x="4135438" y="2139950"/>
          <a:ext cx="211137" cy="549275"/>
        </p:xfrm>
        <a:graphic>
          <a:graphicData uri="http://schemas.openxmlformats.org/presentationml/2006/ole">
            <mc:AlternateContent xmlns:mc="http://schemas.openxmlformats.org/markup-compatibility/2006">
              <mc:Choice xmlns:v="urn:schemas-microsoft-com:vml" Requires="v">
                <p:oleObj name="Equation" r:id="rId7" imgW="152334" imgH="393529" progId="Equation.DSMT4">
                  <p:embed/>
                </p:oleObj>
              </mc:Choice>
              <mc:Fallback>
                <p:oleObj name="Equation" r:id="rId7" imgW="152334" imgH="393529" progId="Equation.DSMT4">
                  <p:embed/>
                  <p:pic>
                    <p:nvPicPr>
                      <p:cNvPr id="24583"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35438" y="2139950"/>
                        <a:ext cx="211137" cy="5492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4" name="Object 13"/>
          <p:cNvGraphicFramePr>
            <a:graphicFrameLocks noChangeAspect="1"/>
          </p:cNvGraphicFramePr>
          <p:nvPr/>
        </p:nvGraphicFramePr>
        <p:xfrm>
          <a:off x="4587875" y="2838450"/>
          <a:ext cx="509588" cy="549275"/>
        </p:xfrm>
        <a:graphic>
          <a:graphicData uri="http://schemas.openxmlformats.org/presentationml/2006/ole">
            <mc:AlternateContent xmlns:mc="http://schemas.openxmlformats.org/markup-compatibility/2006">
              <mc:Choice xmlns:v="urn:schemas-microsoft-com:vml" Requires="v">
                <p:oleObj name="Equation" r:id="rId9" imgW="368140" imgH="393529" progId="Equation.DSMT4">
                  <p:embed/>
                </p:oleObj>
              </mc:Choice>
              <mc:Fallback>
                <p:oleObj name="Equation" r:id="rId9" imgW="368140" imgH="393529" progId="Equation.DSMT4">
                  <p:embed/>
                  <p:pic>
                    <p:nvPicPr>
                      <p:cNvPr id="24584"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87875" y="2838450"/>
                        <a:ext cx="509588" cy="5492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5" name="Object 13"/>
          <p:cNvGraphicFramePr>
            <a:graphicFrameLocks noChangeAspect="1"/>
          </p:cNvGraphicFramePr>
          <p:nvPr/>
        </p:nvGraphicFramePr>
        <p:xfrm>
          <a:off x="3919538" y="2833688"/>
          <a:ext cx="509587" cy="584200"/>
        </p:xfrm>
        <a:graphic>
          <a:graphicData uri="http://schemas.openxmlformats.org/presentationml/2006/ole">
            <mc:AlternateContent xmlns:mc="http://schemas.openxmlformats.org/markup-compatibility/2006">
              <mc:Choice xmlns:v="urn:schemas-microsoft-com:vml" Requires="v">
                <p:oleObj name="Equation" r:id="rId11" imgW="368300" imgH="419100" progId="Equation.DSMT4">
                  <p:embed/>
                </p:oleObj>
              </mc:Choice>
              <mc:Fallback>
                <p:oleObj name="Equation" r:id="rId11" imgW="368300" imgH="419100" progId="Equation.DSMT4">
                  <p:embed/>
                  <p:pic>
                    <p:nvPicPr>
                      <p:cNvPr id="24585"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9538" y="2833688"/>
                        <a:ext cx="509587" cy="5842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6" name="Object 13"/>
          <p:cNvGraphicFramePr>
            <a:graphicFrameLocks noChangeAspect="1"/>
          </p:cNvGraphicFramePr>
          <p:nvPr/>
        </p:nvGraphicFramePr>
        <p:xfrm>
          <a:off x="3255963" y="2843213"/>
          <a:ext cx="528637" cy="585787"/>
        </p:xfrm>
        <a:graphic>
          <a:graphicData uri="http://schemas.openxmlformats.org/presentationml/2006/ole">
            <mc:AlternateContent xmlns:mc="http://schemas.openxmlformats.org/markup-compatibility/2006">
              <mc:Choice xmlns:v="urn:schemas-microsoft-com:vml" Requires="v">
                <p:oleObj name="Equation" r:id="rId13" imgW="380835" imgH="418918" progId="Equation.DSMT4">
                  <p:embed/>
                </p:oleObj>
              </mc:Choice>
              <mc:Fallback>
                <p:oleObj name="Equation" r:id="rId13" imgW="380835" imgH="418918" progId="Equation.DSMT4">
                  <p:embed/>
                  <p:pic>
                    <p:nvPicPr>
                      <p:cNvPr id="24586"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55963" y="2843213"/>
                        <a:ext cx="528637" cy="5857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7" name="Object 13"/>
          <p:cNvGraphicFramePr>
            <a:graphicFrameLocks noChangeAspect="1"/>
          </p:cNvGraphicFramePr>
          <p:nvPr/>
        </p:nvGraphicFramePr>
        <p:xfrm>
          <a:off x="4603750" y="3481388"/>
          <a:ext cx="509588" cy="549275"/>
        </p:xfrm>
        <a:graphic>
          <a:graphicData uri="http://schemas.openxmlformats.org/presentationml/2006/ole">
            <mc:AlternateContent xmlns:mc="http://schemas.openxmlformats.org/markup-compatibility/2006">
              <mc:Choice xmlns:v="urn:schemas-microsoft-com:vml" Requires="v">
                <p:oleObj name="Equation" r:id="rId15" imgW="368140" imgH="393529" progId="Equation.DSMT4">
                  <p:embed/>
                </p:oleObj>
              </mc:Choice>
              <mc:Fallback>
                <p:oleObj name="Equation" r:id="rId15" imgW="368140" imgH="393529" progId="Equation.DSMT4">
                  <p:embed/>
                  <p:pic>
                    <p:nvPicPr>
                      <p:cNvPr id="24587"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03750" y="3481388"/>
                        <a:ext cx="509588" cy="5492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8" name="Object 13"/>
          <p:cNvGraphicFramePr>
            <a:graphicFrameLocks noChangeAspect="1"/>
          </p:cNvGraphicFramePr>
          <p:nvPr/>
        </p:nvGraphicFramePr>
        <p:xfrm>
          <a:off x="3935413" y="3476625"/>
          <a:ext cx="509587" cy="584200"/>
        </p:xfrm>
        <a:graphic>
          <a:graphicData uri="http://schemas.openxmlformats.org/presentationml/2006/ole">
            <mc:AlternateContent xmlns:mc="http://schemas.openxmlformats.org/markup-compatibility/2006">
              <mc:Choice xmlns:v="urn:schemas-microsoft-com:vml" Requires="v">
                <p:oleObj name="Equation" r:id="rId17" imgW="368300" imgH="419100" progId="Equation.DSMT4">
                  <p:embed/>
                </p:oleObj>
              </mc:Choice>
              <mc:Fallback>
                <p:oleObj name="Equation" r:id="rId17" imgW="368300" imgH="419100" progId="Equation.DSMT4">
                  <p:embed/>
                  <p:pic>
                    <p:nvPicPr>
                      <p:cNvPr id="24588"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5413" y="3476625"/>
                        <a:ext cx="509587" cy="5842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9" name="Object 13"/>
          <p:cNvGraphicFramePr>
            <a:graphicFrameLocks noChangeAspect="1"/>
          </p:cNvGraphicFramePr>
          <p:nvPr/>
        </p:nvGraphicFramePr>
        <p:xfrm>
          <a:off x="3271838" y="3486150"/>
          <a:ext cx="528637" cy="585788"/>
        </p:xfrm>
        <a:graphic>
          <a:graphicData uri="http://schemas.openxmlformats.org/presentationml/2006/ole">
            <mc:AlternateContent xmlns:mc="http://schemas.openxmlformats.org/markup-compatibility/2006">
              <mc:Choice xmlns:v="urn:schemas-microsoft-com:vml" Requires="v">
                <p:oleObj name="Equation" r:id="rId19" imgW="380835" imgH="418918" progId="Equation.DSMT4">
                  <p:embed/>
                </p:oleObj>
              </mc:Choice>
              <mc:Fallback>
                <p:oleObj name="Equation" r:id="rId19" imgW="380835" imgH="418918" progId="Equation.DSMT4">
                  <p:embed/>
                  <p:pic>
                    <p:nvPicPr>
                      <p:cNvPr id="24589"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71838" y="3486150"/>
                        <a:ext cx="528637" cy="5857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sy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8850" y="1574800"/>
            <a:ext cx="1227138"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3" descr="gli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17550"/>
            <a:ext cx="3554413"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Rectangle 104"/>
          <p:cNvSpPr>
            <a:spLocks noChangeArrowheads="1"/>
          </p:cNvSpPr>
          <p:nvPr/>
        </p:nvSpPr>
        <p:spPr bwMode="auto">
          <a:xfrm>
            <a:off x="209550" y="188913"/>
            <a:ext cx="213677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18000" tIns="18000" rIns="18000" bIns="18000">
            <a:spAutoFit/>
          </a:bodyPr>
          <a:lstStyle/>
          <a:p>
            <a:pPr>
              <a:spcBef>
                <a:spcPct val="20000"/>
              </a:spcBef>
              <a:buFont typeface="Wingdings" pitchFamily="2" charset="2"/>
              <a:buNone/>
            </a:pPr>
            <a:r>
              <a:rPr lang="en-US" i="1">
                <a:latin typeface="Times New Roman" pitchFamily="18" charset="0"/>
                <a:sym typeface="Wingdings" pitchFamily="2" charset="2"/>
              </a:rPr>
              <a:t>Different type of glides</a:t>
            </a:r>
            <a:endParaRPr lang="en-US">
              <a:latin typeface="Times New Roman" pitchFamily="18" charset="0"/>
              <a:sym typeface="Symbol"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96838" y="503238"/>
            <a:ext cx="8991600" cy="5064125"/>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We have so far considered various types of symmetry operators- those with translation and those without (keeping our focus on those related to crystals).</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 symmetry operators without translation (rotation, inversion, mirror, roto-inversion, roto-reflection) leave a finite number of identity-points and even those involving translation (glide and screw) leave a finite number of identity-points within the unit cell.</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Symmetry operators which do not involve translation can combine with one another in certain specific ways so as to leave a finite number of identity-points (i.e. arbitrary combinations are not possible). </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Wingdings" pitchFamily="2" charset="2"/>
              </a:rPr>
              <a:t> The number of such possible combinations (along with ‘single’ symmetry operators) is 32 	and these are called the </a:t>
            </a:r>
            <a:r>
              <a:rPr lang="en-US" b="1">
                <a:solidFill>
                  <a:srgbClr val="CC3300"/>
                </a:solidFill>
                <a:latin typeface="Times New Roman" pitchFamily="18" charset="0"/>
                <a:cs typeface="Times New Roman" pitchFamily="18" charset="0"/>
                <a:sym typeface="Wingdings" pitchFamily="2" charset="2"/>
              </a:rPr>
              <a:t>32</a:t>
            </a:r>
            <a:r>
              <a:rPr lang="en-US" b="1">
                <a:solidFill>
                  <a:srgbClr val="0000FF"/>
                </a:solidFill>
                <a:latin typeface="Times New Roman" pitchFamily="18" charset="0"/>
                <a:cs typeface="Times New Roman" pitchFamily="18" charset="0"/>
                <a:sym typeface="Wingdings" pitchFamily="2" charset="2"/>
              </a:rPr>
              <a:t> Point Groups</a:t>
            </a:r>
            <a:r>
              <a:rPr lang="en-US">
                <a:latin typeface="Times New Roman" pitchFamily="18" charset="0"/>
                <a:cs typeface="Times New Roman" pitchFamily="18" charset="0"/>
                <a:sym typeface="Wingdings" pitchFamily="2" charset="2"/>
              </a:rPr>
              <a:t>.</a:t>
            </a:r>
            <a:br>
              <a:rPr lang="en-US">
                <a:latin typeface="Times New Roman" pitchFamily="18" charset="0"/>
                <a:cs typeface="Times New Roman" pitchFamily="18" charset="0"/>
                <a:sym typeface="Wingdings" pitchFamily="2" charset="2"/>
              </a:rPr>
            </a:br>
            <a:r>
              <a:rPr lang="en-US">
                <a:latin typeface="Times New Roman" pitchFamily="18" charset="0"/>
                <a:cs typeface="Times New Roman" pitchFamily="18" charset="0"/>
                <a:sym typeface="Wingdings" pitchFamily="2" charset="2"/>
              </a:rPr>
              <a:t> One such combination is 4mm*</a:t>
            </a:r>
            <a:br>
              <a:rPr lang="en-US">
                <a:latin typeface="Times New Roman" pitchFamily="18" charset="0"/>
                <a:cs typeface="Times New Roman" pitchFamily="18" charset="0"/>
                <a:sym typeface="Wingdings" pitchFamily="2" charset="2"/>
              </a:rPr>
            </a:br>
            <a:r>
              <a:rPr lang="en-US">
                <a:latin typeface="Times New Roman" pitchFamily="18" charset="0"/>
                <a:cs typeface="Times New Roman" pitchFamily="18" charset="0"/>
                <a:sym typeface="Wingdings" pitchFamily="2" charset="2"/>
              </a:rPr>
              <a:t> An example of a disallowed combination is 22 (with an included angle of (say) 15</a:t>
            </a:r>
            <a:r>
              <a:rPr lang="en-US">
                <a:latin typeface="Times New Roman" pitchFamily="18" charset="0"/>
                <a:cs typeface="Times New Roman" pitchFamily="18" charset="0"/>
                <a:sym typeface="Symbol" pitchFamily="18" charset="2"/>
              </a:rPr>
              <a:t>)*.</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There are 7 distinct point group symmetries of lattices (14 Bravais Lattices) which correspond to the </a:t>
            </a:r>
            <a:r>
              <a:rPr lang="en-US" b="1">
                <a:solidFill>
                  <a:srgbClr val="CC3300"/>
                </a:solidFill>
                <a:latin typeface="Times New Roman" pitchFamily="18" charset="0"/>
                <a:cs typeface="Times New Roman" pitchFamily="18" charset="0"/>
                <a:sym typeface="Symbol" pitchFamily="18" charset="2"/>
              </a:rPr>
              <a:t>7</a:t>
            </a:r>
            <a:r>
              <a:rPr lang="en-US" b="1">
                <a:latin typeface="Times New Roman" pitchFamily="18" charset="0"/>
                <a:cs typeface="Times New Roman" pitchFamily="18" charset="0"/>
                <a:sym typeface="Symbol" pitchFamily="18" charset="2"/>
              </a:rPr>
              <a:t> </a:t>
            </a:r>
            <a:r>
              <a:rPr lang="en-US" b="1">
                <a:solidFill>
                  <a:srgbClr val="0000FF"/>
                </a:solidFill>
                <a:latin typeface="Times New Roman" pitchFamily="18" charset="0"/>
                <a:cs typeface="Times New Roman" pitchFamily="18" charset="0"/>
                <a:sym typeface="Symbol" pitchFamily="18" charset="2"/>
              </a:rPr>
              <a:t>Crystal Systems</a:t>
            </a:r>
            <a:r>
              <a:rPr lang="en-US">
                <a:latin typeface="Times New Roman" pitchFamily="18" charset="0"/>
                <a:cs typeface="Times New Roman" pitchFamily="18" charset="0"/>
                <a:sym typeface="Symbol" pitchFamily="18" charset="2"/>
              </a:rPr>
              <a:t>.</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When all symmetry elements are allowed to combine- including those with translation- then we end up with </a:t>
            </a:r>
            <a:r>
              <a:rPr lang="en-US">
                <a:solidFill>
                  <a:srgbClr val="CC3300"/>
                </a:solidFill>
                <a:latin typeface="Times New Roman" pitchFamily="18" charset="0"/>
                <a:cs typeface="Times New Roman" pitchFamily="18" charset="0"/>
                <a:sym typeface="Symbol" pitchFamily="18" charset="2"/>
              </a:rPr>
              <a:t>230 </a:t>
            </a:r>
            <a:r>
              <a:rPr lang="en-US">
                <a:solidFill>
                  <a:srgbClr val="0000FF"/>
                </a:solidFill>
                <a:latin typeface="Times New Roman" pitchFamily="18" charset="0"/>
                <a:cs typeface="Times New Roman" pitchFamily="18" charset="0"/>
                <a:sym typeface="Symbol" pitchFamily="18" charset="2"/>
              </a:rPr>
              <a:t>space groups</a:t>
            </a:r>
            <a:r>
              <a:rPr lang="en-US">
                <a:latin typeface="Times New Roman" pitchFamily="18" charset="0"/>
                <a:cs typeface="Times New Roman" pitchFamily="18" charset="0"/>
                <a:sym typeface="Symbol" pitchFamily="18" charset="2"/>
              </a:rPr>
              <a:t>.</a:t>
            </a:r>
          </a:p>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There are 14 distinct space group symmetries of Lattices → the 14 Bravais Lattices</a:t>
            </a:r>
          </a:p>
        </p:txBody>
      </p:sp>
      <p:sp>
        <p:nvSpPr>
          <p:cNvPr id="26627" name="Text Box 3"/>
          <p:cNvSpPr txBox="1">
            <a:spLocks noChangeArrowheads="1"/>
          </p:cNvSpPr>
          <p:nvPr/>
        </p:nvSpPr>
        <p:spPr bwMode="auto">
          <a:xfrm>
            <a:off x="120650" y="33338"/>
            <a:ext cx="3378200" cy="425450"/>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rPr>
              <a:t>Point Groups and Space Groups</a:t>
            </a:r>
          </a:p>
        </p:txBody>
      </p:sp>
      <p:sp>
        <p:nvSpPr>
          <p:cNvPr id="26628" name="Rectangle 105"/>
          <p:cNvSpPr>
            <a:spLocks noChangeArrowheads="1"/>
          </p:cNvSpPr>
          <p:nvPr/>
        </p:nvSpPr>
        <p:spPr bwMode="auto">
          <a:xfrm>
            <a:off x="150813" y="6411913"/>
            <a:ext cx="8850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18000" tIns="18000" rIns="18000" bIns="18000">
            <a:spAutoFit/>
          </a:bodyPr>
          <a:lstStyle/>
          <a:p>
            <a:pPr marL="360363" indent="-360363">
              <a:spcBef>
                <a:spcPct val="20000"/>
              </a:spcBef>
              <a:buFont typeface="Wingdings" pitchFamily="2" charset="2"/>
              <a:buNone/>
            </a:pPr>
            <a:r>
              <a:rPr lang="en-US" sz="1200" i="1">
                <a:latin typeface="Times New Roman" pitchFamily="18" charset="0"/>
                <a:sym typeface="Wingdings" pitchFamily="2" charset="2"/>
              </a:rPr>
              <a:t>We shall not formally derive the 32 point groups or the 230 space groups- interested readers may consult Elementary Crystallography </a:t>
            </a:r>
            <a:br>
              <a:rPr lang="en-US" sz="1200" i="1">
                <a:latin typeface="Times New Roman" pitchFamily="18" charset="0"/>
                <a:sym typeface="Wingdings" pitchFamily="2" charset="2"/>
              </a:rPr>
            </a:br>
            <a:r>
              <a:rPr lang="en-US" sz="1200" i="1">
                <a:latin typeface="Times New Roman" pitchFamily="18" charset="0"/>
                <a:sym typeface="Wingdings" pitchFamily="2" charset="2"/>
              </a:rPr>
              <a:t>by M.J. Buerger</a:t>
            </a:r>
            <a:endParaRPr lang="en-US" sz="1200">
              <a:latin typeface="Times New Roman" pitchFamily="18" charset="0"/>
              <a:sym typeface="Symbol" pitchFamily="18" charset="2"/>
            </a:endParaRPr>
          </a:p>
        </p:txBody>
      </p:sp>
      <p:sp>
        <p:nvSpPr>
          <p:cNvPr id="26629" name="Rectangle 105"/>
          <p:cNvSpPr>
            <a:spLocks noChangeArrowheads="1"/>
          </p:cNvSpPr>
          <p:nvPr/>
        </p:nvSpPr>
        <p:spPr bwMode="auto">
          <a:xfrm>
            <a:off x="146050" y="6129338"/>
            <a:ext cx="8850313"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18000" tIns="18000" rIns="18000" bIns="18000">
            <a:spAutoFit/>
          </a:bodyPr>
          <a:lstStyle/>
          <a:p>
            <a:pPr marL="360363" indent="-360363">
              <a:spcBef>
                <a:spcPct val="20000"/>
              </a:spcBef>
              <a:buFont typeface="Wingdings" pitchFamily="2" charset="2"/>
              <a:buNone/>
            </a:pPr>
            <a:r>
              <a:rPr lang="en-US" sz="1200" i="1">
                <a:latin typeface="Times New Roman" pitchFamily="18" charset="0"/>
                <a:sym typeface="Wingdings" pitchFamily="2" charset="2"/>
              </a:rPr>
              <a:t>* Considered in upcoming slides</a:t>
            </a:r>
            <a:endParaRPr lang="en-US" sz="1200">
              <a:latin typeface="Times New Roman" pitchFamily="18" charset="0"/>
              <a:sym typeface="Symbol"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100013" y="1401763"/>
            <a:ext cx="2482850" cy="847725"/>
          </a:xfrm>
          <a:prstGeom prst="rect">
            <a:avLst/>
          </a:prstGeom>
          <a:noFill/>
          <a:ln w="25400" algn="ctr">
            <a:solidFill>
              <a:srgbClr val="CC66FF"/>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solidFill>
                  <a:srgbClr val="800000"/>
                </a:solidFill>
                <a:latin typeface="Times New Roman" pitchFamily="18" charset="0"/>
              </a:rPr>
              <a:t>Symmetries acting</a:t>
            </a:r>
            <a:br>
              <a:rPr lang="en-US" sz="2400">
                <a:solidFill>
                  <a:srgbClr val="800000"/>
                </a:solidFill>
                <a:latin typeface="Times New Roman" pitchFamily="18" charset="0"/>
              </a:rPr>
            </a:br>
            <a:r>
              <a:rPr lang="en-US" sz="2400">
                <a:solidFill>
                  <a:srgbClr val="800000"/>
                </a:solidFill>
                <a:latin typeface="Times New Roman" pitchFamily="18" charset="0"/>
              </a:rPr>
              <a:t>at a point</a:t>
            </a:r>
          </a:p>
        </p:txBody>
      </p:sp>
      <p:sp>
        <p:nvSpPr>
          <p:cNvPr id="27651" name="Text Box 3"/>
          <p:cNvSpPr txBox="1">
            <a:spLocks noChangeArrowheads="1"/>
          </p:cNvSpPr>
          <p:nvPr/>
        </p:nvSpPr>
        <p:spPr bwMode="auto">
          <a:xfrm>
            <a:off x="2792413" y="1608138"/>
            <a:ext cx="1128712" cy="436562"/>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  </a:t>
            </a:r>
            <a:r>
              <a:rPr lang="en-US" sz="2200">
                <a:latin typeface="Times New Roman" pitchFamily="18" charset="0"/>
                <a:sym typeface="Symbol" pitchFamily="18" charset="2"/>
              </a:rPr>
              <a:t></a:t>
            </a:r>
            <a:r>
              <a:rPr lang="en-US" sz="2200">
                <a:latin typeface="Times New Roman" pitchFamily="18" charset="0"/>
              </a:rPr>
              <a:t> </a:t>
            </a:r>
            <a:r>
              <a:rPr lang="en-US" sz="2200">
                <a:latin typeface="Times New Roman" pitchFamily="18" charset="0"/>
                <a:cs typeface="Times New Roman" pitchFamily="18" charset="0"/>
                <a:sym typeface="Symbol" pitchFamily="18" charset="2"/>
              </a:rPr>
              <a:t>R</a:t>
            </a:r>
          </a:p>
        </p:txBody>
      </p:sp>
      <p:cxnSp>
        <p:nvCxnSpPr>
          <p:cNvPr id="27652" name="AutoShape 4"/>
          <p:cNvCxnSpPr>
            <a:cxnSpLocks noChangeShapeType="1"/>
            <a:stCxn id="27650" idx="3"/>
            <a:endCxn id="27651" idx="1"/>
          </p:cNvCxnSpPr>
          <p:nvPr/>
        </p:nvCxnSpPr>
        <p:spPr bwMode="auto">
          <a:xfrm>
            <a:off x="2595563" y="1825625"/>
            <a:ext cx="196850" cy="1588"/>
          </a:xfrm>
          <a:prstGeom prst="straightConnector1">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3" name="Text Box 5"/>
          <p:cNvSpPr txBox="1">
            <a:spLocks noChangeArrowheads="1"/>
          </p:cNvSpPr>
          <p:nvPr/>
        </p:nvSpPr>
        <p:spPr bwMode="auto">
          <a:xfrm>
            <a:off x="317500" y="6246813"/>
            <a:ext cx="8496300" cy="433387"/>
          </a:xfrm>
          <a:prstGeom prst="rect">
            <a:avLst/>
          </a:prstGeom>
          <a:noFill/>
          <a:ln w="6350" algn="ctr">
            <a:solidFill>
              <a:srgbClr val="0066FF"/>
            </a:solidFill>
            <a:miter lim="800000"/>
            <a:headEnd/>
            <a:tailEnd/>
          </a:ln>
          <a:effectLst/>
          <a:extLst>
            <a:ext uri="{909E8E84-426E-40DD-AFC4-6F175D3DCCD1}">
              <a14:hiddenFill xmlns:a14="http://schemas.microsoft.com/office/drawing/2010/main">
                <a:solidFill>
                  <a:srgbClr val="E5FFE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R  + </a:t>
            </a:r>
            <a:r>
              <a:rPr lang="en-US" sz="2200">
                <a:latin typeface="Times New Roman" pitchFamily="18" charset="0"/>
                <a:cs typeface="Times New Roman" pitchFamily="18" charset="0"/>
                <a:sym typeface="Symbol" pitchFamily="18" charset="2"/>
              </a:rPr>
              <a:t>R → rotations compatible with translational symmetry (1, 2, 3, 4, 6)</a:t>
            </a:r>
          </a:p>
        </p:txBody>
      </p:sp>
      <p:sp>
        <p:nvSpPr>
          <p:cNvPr id="27654" name="Text Box 6"/>
          <p:cNvSpPr txBox="1">
            <a:spLocks noChangeArrowheads="1"/>
          </p:cNvSpPr>
          <p:nvPr/>
        </p:nvSpPr>
        <p:spPr bwMode="auto">
          <a:xfrm>
            <a:off x="4297363" y="1604963"/>
            <a:ext cx="1944687" cy="433387"/>
          </a:xfrm>
          <a:prstGeom prst="rect">
            <a:avLst/>
          </a:prstGeom>
          <a:solidFill>
            <a:srgbClr val="FFCCFF"/>
          </a:solidFill>
          <a:ln w="6350"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cs typeface="Times New Roman" pitchFamily="18" charset="0"/>
                <a:sym typeface="Symbol" pitchFamily="18" charset="2"/>
              </a:rPr>
              <a:t>32 point groups</a:t>
            </a:r>
          </a:p>
        </p:txBody>
      </p:sp>
      <p:cxnSp>
        <p:nvCxnSpPr>
          <p:cNvPr id="27655" name="AutoShape 7"/>
          <p:cNvCxnSpPr>
            <a:cxnSpLocks noChangeShapeType="1"/>
            <a:stCxn id="27651" idx="3"/>
            <a:endCxn id="27654" idx="1"/>
          </p:cNvCxnSpPr>
          <p:nvPr/>
        </p:nvCxnSpPr>
        <p:spPr bwMode="auto">
          <a:xfrm flipV="1">
            <a:off x="3921125" y="1822450"/>
            <a:ext cx="376238" cy="4763"/>
          </a:xfrm>
          <a:prstGeom prst="straightConnector1">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6" name="Text Box 8"/>
          <p:cNvSpPr txBox="1">
            <a:spLocks noChangeArrowheads="1"/>
          </p:cNvSpPr>
          <p:nvPr/>
        </p:nvSpPr>
        <p:spPr bwMode="auto">
          <a:xfrm>
            <a:off x="3735388" y="2314575"/>
            <a:ext cx="3068637" cy="1395413"/>
          </a:xfrm>
          <a:prstGeom prst="rect">
            <a:avLst/>
          </a:prstGeom>
          <a:noFill/>
          <a:ln w="25400" algn="ctr">
            <a:solidFill>
              <a:srgbClr val="CC66FF"/>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solidFill>
                  <a:srgbClr val="800000"/>
                </a:solidFill>
                <a:latin typeface="Times New Roman" pitchFamily="18" charset="0"/>
              </a:rPr>
              <a:t>Along with symmetries</a:t>
            </a:r>
            <a:br>
              <a:rPr lang="en-US" sz="2400">
                <a:solidFill>
                  <a:srgbClr val="800000"/>
                </a:solidFill>
                <a:latin typeface="Times New Roman" pitchFamily="18" charset="0"/>
              </a:rPr>
            </a:br>
            <a:r>
              <a:rPr lang="en-US" sz="2400">
                <a:solidFill>
                  <a:srgbClr val="800000"/>
                </a:solidFill>
                <a:latin typeface="Times New Roman" pitchFamily="18" charset="0"/>
              </a:rPr>
              <a:t>having a translation</a:t>
            </a:r>
          </a:p>
          <a:p>
            <a:pPr algn="ctr" eaLnBrk="1" hangingPunct="1">
              <a:spcBef>
                <a:spcPct val="50000"/>
              </a:spcBef>
            </a:pPr>
            <a:endParaRPr lang="en-US" sz="2400">
              <a:solidFill>
                <a:srgbClr val="800000"/>
              </a:solidFill>
              <a:latin typeface="Times New Roman" pitchFamily="18" charset="0"/>
            </a:endParaRPr>
          </a:p>
        </p:txBody>
      </p:sp>
      <p:sp>
        <p:nvSpPr>
          <p:cNvPr id="27657" name="Text Box 9"/>
          <p:cNvSpPr txBox="1">
            <a:spLocks noChangeArrowheads="1"/>
          </p:cNvSpPr>
          <p:nvPr/>
        </p:nvSpPr>
        <p:spPr bwMode="auto">
          <a:xfrm>
            <a:off x="4776788" y="3170238"/>
            <a:ext cx="987425" cy="436562"/>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G  + </a:t>
            </a:r>
            <a:r>
              <a:rPr lang="en-US" sz="2200">
                <a:latin typeface="Times New Roman" pitchFamily="18" charset="0"/>
                <a:cs typeface="Times New Roman" pitchFamily="18" charset="0"/>
                <a:sym typeface="Symbol" pitchFamily="18" charset="2"/>
              </a:rPr>
              <a:t> S</a:t>
            </a:r>
          </a:p>
        </p:txBody>
      </p:sp>
      <p:sp>
        <p:nvSpPr>
          <p:cNvPr id="27658" name="Text Box 10"/>
          <p:cNvSpPr txBox="1">
            <a:spLocks noChangeArrowheads="1"/>
          </p:cNvSpPr>
          <p:nvPr/>
        </p:nvSpPr>
        <p:spPr bwMode="auto">
          <a:xfrm>
            <a:off x="4202113" y="4389438"/>
            <a:ext cx="2128837" cy="433387"/>
          </a:xfrm>
          <a:prstGeom prst="rect">
            <a:avLst/>
          </a:prstGeom>
          <a:solidFill>
            <a:srgbClr val="FFCCFF"/>
          </a:solidFill>
          <a:ln w="6350"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cs typeface="Times New Roman" pitchFamily="18" charset="0"/>
                <a:sym typeface="Symbol" pitchFamily="18" charset="2"/>
              </a:rPr>
              <a:t>230 space groups</a:t>
            </a:r>
          </a:p>
        </p:txBody>
      </p:sp>
      <p:cxnSp>
        <p:nvCxnSpPr>
          <p:cNvPr id="27659" name="AutoShape 11"/>
          <p:cNvCxnSpPr>
            <a:cxnSpLocks noChangeShapeType="1"/>
            <a:stCxn id="27656" idx="2"/>
            <a:endCxn id="27658" idx="0"/>
          </p:cNvCxnSpPr>
          <p:nvPr/>
        </p:nvCxnSpPr>
        <p:spPr bwMode="auto">
          <a:xfrm flipH="1">
            <a:off x="5267325" y="3722688"/>
            <a:ext cx="3175" cy="666750"/>
          </a:xfrm>
          <a:prstGeom prst="straightConnector1">
            <a:avLst/>
          </a:prstGeom>
          <a:noFill/>
          <a:ln w="9525">
            <a:solidFill>
              <a:srgbClr val="00CC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60" name="AutoShape 12"/>
          <p:cNvCxnSpPr>
            <a:cxnSpLocks noChangeShapeType="1"/>
            <a:stCxn id="27654" idx="2"/>
            <a:endCxn id="27656" idx="0"/>
          </p:cNvCxnSpPr>
          <p:nvPr/>
        </p:nvCxnSpPr>
        <p:spPr bwMode="auto">
          <a:xfrm>
            <a:off x="5270500" y="2038350"/>
            <a:ext cx="0" cy="263525"/>
          </a:xfrm>
          <a:prstGeom prst="straightConnector1">
            <a:avLst/>
          </a:prstGeom>
          <a:noFill/>
          <a:ln w="9525">
            <a:solidFill>
              <a:srgbClr val="00CC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1" name="Text Box 13"/>
          <p:cNvSpPr txBox="1">
            <a:spLocks noChangeArrowheads="1"/>
          </p:cNvSpPr>
          <p:nvPr/>
        </p:nvSpPr>
        <p:spPr bwMode="auto">
          <a:xfrm>
            <a:off x="6973888" y="276225"/>
            <a:ext cx="2093912" cy="1603375"/>
          </a:xfrm>
          <a:prstGeom prst="rect">
            <a:avLst/>
          </a:prstGeom>
          <a:solidFill>
            <a:srgbClr val="E5FFE5">
              <a:alpha val="50195"/>
            </a:srgbClr>
          </a:solidFill>
          <a:ln w="317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Point group </a:t>
            </a:r>
            <a:br>
              <a:rPr lang="en-US" sz="2200">
                <a:latin typeface="Times New Roman" pitchFamily="18" charset="0"/>
              </a:rPr>
            </a:br>
            <a:r>
              <a:rPr lang="en-US" sz="2200">
                <a:latin typeface="Times New Roman" pitchFamily="18" charset="0"/>
              </a:rPr>
              <a:t>symmetry of </a:t>
            </a:r>
            <a:br>
              <a:rPr lang="en-US" sz="2200">
                <a:latin typeface="Times New Roman" pitchFamily="18" charset="0"/>
              </a:rPr>
            </a:br>
            <a:r>
              <a:rPr lang="en-US" sz="2200">
                <a:latin typeface="Times New Roman" pitchFamily="18" charset="0"/>
              </a:rPr>
              <a:t>Lattices </a:t>
            </a:r>
            <a:r>
              <a:rPr lang="en-US" sz="2200">
                <a:latin typeface="Times New Roman" pitchFamily="18" charset="0"/>
                <a:cs typeface="Times New Roman" pitchFamily="18" charset="0"/>
              </a:rPr>
              <a:t>→</a:t>
            </a:r>
          </a:p>
          <a:p>
            <a:pPr eaLnBrk="1" hangingPunct="1">
              <a:spcBef>
                <a:spcPct val="50000"/>
              </a:spcBef>
            </a:pPr>
            <a:r>
              <a:rPr lang="en-US" sz="2200">
                <a:solidFill>
                  <a:srgbClr val="FF3300"/>
                </a:solidFill>
                <a:latin typeface="Times New Roman" pitchFamily="18" charset="0"/>
                <a:cs typeface="Times New Roman" pitchFamily="18" charset="0"/>
              </a:rPr>
              <a:t>7 crystal systems</a:t>
            </a:r>
          </a:p>
        </p:txBody>
      </p:sp>
      <p:cxnSp>
        <p:nvCxnSpPr>
          <p:cNvPr id="27662" name="AutoShape 14"/>
          <p:cNvCxnSpPr>
            <a:cxnSpLocks noChangeShapeType="1"/>
            <a:stCxn id="27654" idx="3"/>
            <a:endCxn id="27661" idx="1"/>
          </p:cNvCxnSpPr>
          <p:nvPr/>
        </p:nvCxnSpPr>
        <p:spPr bwMode="auto">
          <a:xfrm flipV="1">
            <a:off x="6242050" y="1077913"/>
            <a:ext cx="731838" cy="744537"/>
          </a:xfrm>
          <a:prstGeom prst="straightConnector1">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3" name="Text Box 15"/>
          <p:cNvSpPr txBox="1">
            <a:spLocks noChangeArrowheads="1"/>
          </p:cNvSpPr>
          <p:nvPr/>
        </p:nvSpPr>
        <p:spPr bwMode="auto">
          <a:xfrm>
            <a:off x="6831013" y="4481513"/>
            <a:ext cx="2249487" cy="1603375"/>
          </a:xfrm>
          <a:prstGeom prst="rect">
            <a:avLst/>
          </a:prstGeom>
          <a:solidFill>
            <a:srgbClr val="E5FFE5">
              <a:alpha val="50195"/>
            </a:srgbClr>
          </a:solidFill>
          <a:ln w="3175"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latin typeface="Times New Roman" pitchFamily="18" charset="0"/>
              </a:rPr>
              <a:t>Space group </a:t>
            </a:r>
            <a:br>
              <a:rPr lang="en-US" sz="2200">
                <a:latin typeface="Times New Roman" pitchFamily="18" charset="0"/>
              </a:rPr>
            </a:br>
            <a:r>
              <a:rPr lang="en-US" sz="2200">
                <a:latin typeface="Times New Roman" pitchFamily="18" charset="0"/>
              </a:rPr>
              <a:t>symmetry of </a:t>
            </a:r>
            <a:br>
              <a:rPr lang="en-US" sz="2200">
                <a:latin typeface="Times New Roman" pitchFamily="18" charset="0"/>
              </a:rPr>
            </a:br>
            <a:r>
              <a:rPr lang="en-US" sz="2200">
                <a:latin typeface="Times New Roman" pitchFamily="18" charset="0"/>
              </a:rPr>
              <a:t>Lattices </a:t>
            </a:r>
            <a:r>
              <a:rPr lang="en-US" sz="2200">
                <a:latin typeface="Times New Roman" pitchFamily="18" charset="0"/>
                <a:cs typeface="Times New Roman" pitchFamily="18" charset="0"/>
              </a:rPr>
              <a:t>→</a:t>
            </a:r>
          </a:p>
          <a:p>
            <a:pPr eaLnBrk="1" hangingPunct="1">
              <a:spcBef>
                <a:spcPct val="50000"/>
              </a:spcBef>
            </a:pPr>
            <a:r>
              <a:rPr lang="en-US" sz="2200">
                <a:solidFill>
                  <a:srgbClr val="FF3300"/>
                </a:solidFill>
                <a:latin typeface="Times New Roman" pitchFamily="18" charset="0"/>
                <a:cs typeface="Times New Roman" pitchFamily="18" charset="0"/>
              </a:rPr>
              <a:t>14 Bravais lattices</a:t>
            </a:r>
          </a:p>
        </p:txBody>
      </p:sp>
      <p:cxnSp>
        <p:nvCxnSpPr>
          <p:cNvPr id="27664" name="AutoShape 16"/>
          <p:cNvCxnSpPr>
            <a:cxnSpLocks noChangeShapeType="1"/>
            <a:stCxn id="27658" idx="3"/>
            <a:endCxn id="27663" idx="1"/>
          </p:cNvCxnSpPr>
          <p:nvPr/>
        </p:nvCxnSpPr>
        <p:spPr bwMode="auto">
          <a:xfrm>
            <a:off x="6330950" y="4606925"/>
            <a:ext cx="500063" cy="676275"/>
          </a:xfrm>
          <a:prstGeom prst="straightConnector1">
            <a:avLst/>
          </a:prstGeom>
          <a:noFill/>
          <a:ln w="9525">
            <a:solidFill>
              <a:srgbClr val="00CC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622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300" y="4610100"/>
            <a:ext cx="1782763"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3" descr="6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5750" y="2882900"/>
            <a:ext cx="1095375" cy="1095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8676" name="Picture 2" descr="4mm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8" y="4014788"/>
            <a:ext cx="2400300" cy="2400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8677" name="Text Box 130"/>
          <p:cNvSpPr txBox="1">
            <a:spLocks noChangeArrowheads="1"/>
          </p:cNvSpPr>
          <p:nvPr/>
        </p:nvSpPr>
        <p:spPr bwMode="auto">
          <a:xfrm>
            <a:off x="2949575" y="6256338"/>
            <a:ext cx="958850" cy="280987"/>
          </a:xfrm>
          <a:prstGeom prst="rect">
            <a:avLst/>
          </a:prstGeom>
          <a:solidFill>
            <a:schemeClr val="bg1"/>
          </a:solidFill>
          <a:ln w="6350" algn="ctr">
            <a:solidFill>
              <a:srgbClr val="FF33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FF3300"/>
                </a:solidFill>
                <a:latin typeface="Times New Roman" pitchFamily="18" charset="0"/>
                <a:sym typeface="Wingdings" pitchFamily="2" charset="2"/>
              </a:rPr>
              <a:t>Left Handed</a:t>
            </a:r>
          </a:p>
        </p:txBody>
      </p:sp>
      <p:sp>
        <p:nvSpPr>
          <p:cNvPr id="28678" name="Oval 131"/>
          <p:cNvSpPr>
            <a:spLocks noChangeArrowheads="1"/>
          </p:cNvSpPr>
          <p:nvPr/>
        </p:nvSpPr>
        <p:spPr bwMode="auto">
          <a:xfrm>
            <a:off x="2136775" y="6208713"/>
            <a:ext cx="214313" cy="214312"/>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28679" name="AutoShape 132"/>
          <p:cNvCxnSpPr>
            <a:cxnSpLocks noChangeShapeType="1"/>
            <a:stCxn id="28677" idx="1"/>
            <a:endCxn id="28678" idx="5"/>
          </p:cNvCxnSpPr>
          <p:nvPr/>
        </p:nvCxnSpPr>
        <p:spPr bwMode="auto">
          <a:xfrm flipH="1" flipV="1">
            <a:off x="2319338" y="6391275"/>
            <a:ext cx="630237" cy="6350"/>
          </a:xfrm>
          <a:prstGeom prst="straightConnector1">
            <a:avLst/>
          </a:prstGeom>
          <a:noFill/>
          <a:ln w="9525">
            <a:solidFill>
              <a:srgbClr val="FF3300"/>
            </a:solidFill>
            <a:round/>
            <a:headEnd type="triangle" w="med" len="med"/>
            <a:tailEnd/>
          </a:ln>
          <a:extLst>
            <a:ext uri="{909E8E84-426E-40DD-AFC4-6F175D3DCCD1}">
              <a14:hiddenFill xmlns:a14="http://schemas.microsoft.com/office/drawing/2010/main">
                <a:noFill/>
              </a14:hiddenFill>
            </a:ext>
          </a:extLst>
        </p:spPr>
      </p:cxnSp>
      <p:sp>
        <p:nvSpPr>
          <p:cNvPr id="28680" name="Oval 131"/>
          <p:cNvSpPr>
            <a:spLocks noChangeArrowheads="1"/>
          </p:cNvSpPr>
          <p:nvPr/>
        </p:nvSpPr>
        <p:spPr bwMode="auto">
          <a:xfrm>
            <a:off x="2417763" y="5927725"/>
            <a:ext cx="214312" cy="214313"/>
          </a:xfrm>
          <a:prstGeom prst="ellipse">
            <a:avLst/>
          </a:prstGeom>
          <a:noFill/>
          <a:ln w="9525">
            <a:solidFill>
              <a:srgbClr val="008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solidFill>
                <a:srgbClr val="008000"/>
              </a:solidFill>
            </a:endParaRPr>
          </a:p>
        </p:txBody>
      </p:sp>
      <p:cxnSp>
        <p:nvCxnSpPr>
          <p:cNvPr id="28681" name="AutoShape 132"/>
          <p:cNvCxnSpPr>
            <a:cxnSpLocks noChangeShapeType="1"/>
            <a:stCxn id="28683" idx="1"/>
            <a:endCxn id="28680" idx="6"/>
          </p:cNvCxnSpPr>
          <p:nvPr/>
        </p:nvCxnSpPr>
        <p:spPr bwMode="auto">
          <a:xfrm flipH="1">
            <a:off x="2632075" y="5875338"/>
            <a:ext cx="461963" cy="160337"/>
          </a:xfrm>
          <a:prstGeom prst="straightConnector1">
            <a:avLst/>
          </a:prstGeom>
          <a:noFill/>
          <a:ln w="9525">
            <a:solidFill>
              <a:srgbClr val="008000"/>
            </a:solidFill>
            <a:round/>
            <a:headEnd type="triangle" w="med" len="med"/>
            <a:tailEnd/>
          </a:ln>
          <a:extLst>
            <a:ext uri="{909E8E84-426E-40DD-AFC4-6F175D3DCCD1}">
              <a14:hiddenFill xmlns:a14="http://schemas.microsoft.com/office/drawing/2010/main">
                <a:noFill/>
              </a14:hiddenFill>
            </a:ext>
          </a:extLst>
        </p:spPr>
      </p:cxnSp>
      <p:sp>
        <p:nvSpPr>
          <p:cNvPr id="28682" name="Text Box 63"/>
          <p:cNvSpPr txBox="1">
            <a:spLocks noChangeArrowheads="1"/>
          </p:cNvSpPr>
          <p:nvPr/>
        </p:nvSpPr>
        <p:spPr bwMode="auto">
          <a:xfrm>
            <a:off x="811213" y="5891213"/>
            <a:ext cx="463550" cy="301625"/>
          </a:xfrm>
          <a:prstGeom prst="rect">
            <a:avLst/>
          </a:prstGeom>
          <a:solidFill>
            <a:srgbClr val="00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500">
                <a:solidFill>
                  <a:schemeClr val="bg1"/>
                </a:solidFill>
                <a:latin typeface="Times New Roman" pitchFamily="18" charset="0"/>
              </a:rPr>
              <a:t>4mm</a:t>
            </a:r>
            <a:endParaRPr lang="en-US" sz="1500" baseline="-25000">
              <a:solidFill>
                <a:schemeClr val="bg1"/>
              </a:solidFill>
              <a:latin typeface="Times New Roman" pitchFamily="18" charset="0"/>
              <a:cs typeface="Times New Roman" pitchFamily="18" charset="0"/>
            </a:endParaRPr>
          </a:p>
        </p:txBody>
      </p:sp>
      <p:sp>
        <p:nvSpPr>
          <p:cNvPr id="28683" name="Text Box 130"/>
          <p:cNvSpPr txBox="1">
            <a:spLocks noChangeArrowheads="1"/>
          </p:cNvSpPr>
          <p:nvPr/>
        </p:nvSpPr>
        <p:spPr bwMode="auto">
          <a:xfrm>
            <a:off x="3094038" y="5734050"/>
            <a:ext cx="1042987" cy="280988"/>
          </a:xfrm>
          <a:prstGeom prst="rect">
            <a:avLst/>
          </a:prstGeom>
          <a:solidFill>
            <a:schemeClr val="bg1"/>
          </a:solidFill>
          <a:ln w="6350" algn="ctr">
            <a:solidFill>
              <a:srgbClr val="0080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200">
                <a:solidFill>
                  <a:srgbClr val="008000"/>
                </a:solidFill>
                <a:latin typeface="Times New Roman" pitchFamily="18" charset="0"/>
                <a:sym typeface="Wingdings" pitchFamily="2" charset="2"/>
              </a:rPr>
              <a:t>Right Handed</a:t>
            </a:r>
          </a:p>
        </p:txBody>
      </p:sp>
      <p:sp>
        <p:nvSpPr>
          <p:cNvPr id="28684" name="Text Box 2"/>
          <p:cNvSpPr txBox="1">
            <a:spLocks noChangeArrowheads="1"/>
          </p:cNvSpPr>
          <p:nvPr/>
        </p:nvSpPr>
        <p:spPr bwMode="auto">
          <a:xfrm>
            <a:off x="96838" y="487363"/>
            <a:ext cx="8991600" cy="2171700"/>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As mentioned before only some combinations of symmetry operators are allowed.</a:t>
            </a:r>
          </a:p>
          <a:p>
            <a:pPr eaLnBrk="1" hangingPunct="1">
              <a:spcAft>
                <a:spcPct val="20000"/>
              </a:spcAft>
              <a:buClr>
                <a:srgbClr val="FF0000"/>
              </a:buClr>
              <a:buFont typeface="Wingdings" pitchFamily="2" charset="2"/>
              <a:buChar char="q"/>
            </a:pPr>
            <a:r>
              <a:rPr lang="en-US" sz="1600">
                <a:solidFill>
                  <a:srgbClr val="CC3300"/>
                </a:solidFill>
                <a:latin typeface="Times New Roman" pitchFamily="18" charset="0"/>
                <a:cs typeface="Times New Roman" pitchFamily="18" charset="0"/>
                <a:sym typeface="Symbol" pitchFamily="18" charset="2"/>
              </a:rPr>
              <a:t>4mm</a:t>
            </a:r>
            <a:r>
              <a:rPr lang="en-US" sz="1600">
                <a:latin typeface="Times New Roman" pitchFamily="18" charset="0"/>
                <a:cs typeface="Times New Roman" pitchFamily="18" charset="0"/>
                <a:sym typeface="Symbol" pitchFamily="18" charset="2"/>
              </a:rPr>
              <a:t> is an allowed combination (as below) provided that the two mirrors are at </a:t>
            </a:r>
            <a:r>
              <a:rPr lang="en-US" sz="1600">
                <a:solidFill>
                  <a:srgbClr val="CC3300"/>
                </a:solidFill>
                <a:latin typeface="Times New Roman" pitchFamily="18" charset="0"/>
                <a:cs typeface="Times New Roman" pitchFamily="18" charset="0"/>
                <a:sym typeface="Symbol" pitchFamily="18" charset="2"/>
              </a:rPr>
              <a:t>45</a:t>
            </a:r>
            <a:r>
              <a:rPr lang="en-US" sz="1600">
                <a:latin typeface="Times New Roman" pitchFamily="18" charset="0"/>
                <a:cs typeface="Times New Roman" pitchFamily="18" charset="0"/>
                <a:sym typeface="Symbol" pitchFamily="18" charset="2"/>
              </a:rPr>
              <a:t> and the line of intersection of the mirror is the line of the 4-fold axis. When ever we write a symbol for a combination (according to the </a:t>
            </a:r>
            <a:r>
              <a:rPr lang="en-US" sz="1600">
                <a:solidFill>
                  <a:srgbClr val="0000FF"/>
                </a:solidFill>
                <a:latin typeface="Times New Roman" pitchFamily="18" charset="0"/>
                <a:cs typeface="Times New Roman" pitchFamily="18" charset="0"/>
                <a:sym typeface="Symbol" pitchFamily="18" charset="2"/>
              </a:rPr>
              <a:t>Hermann–Mauguin notation</a:t>
            </a:r>
            <a:r>
              <a:rPr lang="en-US" sz="1600">
                <a:latin typeface="Times New Roman" pitchFamily="18" charset="0"/>
                <a:cs typeface="Times New Roman" pitchFamily="18" charset="0"/>
                <a:sym typeface="Symbol" pitchFamily="18" charset="2"/>
              </a:rPr>
              <a:t>)- the symbol has a precise meaning w.r.t to the relative orientation of the component operators.</a:t>
            </a:r>
          </a:p>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As shown below 2-fold axes with an included angle of </a:t>
            </a:r>
            <a:r>
              <a:rPr lang="en-US" sz="1600">
                <a:solidFill>
                  <a:srgbClr val="CC3300"/>
                </a:solidFill>
                <a:latin typeface="Times New Roman" pitchFamily="18" charset="0"/>
                <a:cs typeface="Times New Roman" pitchFamily="18" charset="0"/>
                <a:sym typeface="Symbol" pitchFamily="18" charset="2"/>
              </a:rPr>
              <a:t>30</a:t>
            </a:r>
            <a:r>
              <a:rPr lang="en-US" sz="1600">
                <a:latin typeface="Times New Roman" pitchFamily="18" charset="0"/>
                <a:cs typeface="Times New Roman" pitchFamily="18" charset="0"/>
                <a:sym typeface="Symbol" pitchFamily="18" charset="2"/>
              </a:rPr>
              <a:t> is an allowed combination → leading to point group </a:t>
            </a:r>
            <a:r>
              <a:rPr lang="en-US" sz="1600">
                <a:solidFill>
                  <a:srgbClr val="CC3300"/>
                </a:solidFill>
                <a:latin typeface="Times New Roman" pitchFamily="18" charset="0"/>
                <a:cs typeface="Times New Roman" pitchFamily="18" charset="0"/>
                <a:sym typeface="Symbol" pitchFamily="18" charset="2"/>
              </a:rPr>
              <a:t>622</a:t>
            </a:r>
            <a:r>
              <a:rPr lang="en-US" sz="1600">
                <a:latin typeface="Times New Roman" pitchFamily="18" charset="0"/>
                <a:cs typeface="Times New Roman" pitchFamily="18" charset="0"/>
                <a:sym typeface="Symbol" pitchFamily="18" charset="2"/>
              </a:rPr>
              <a:t> → Starting with just the two 2-fold axes- by repeated action of the two folds twelve 2-fold axes are created → </a:t>
            </a:r>
            <a:r>
              <a:rPr lang="en-US" sz="1600" i="1">
                <a:latin typeface="Times New Roman" pitchFamily="18" charset="0"/>
                <a:cs typeface="Times New Roman" pitchFamily="18" charset="0"/>
                <a:sym typeface="Symbol" pitchFamily="18" charset="2"/>
              </a:rPr>
              <a:t>which automatically implies that a 6-fold is perpendicular to the two 2-folds!</a:t>
            </a:r>
            <a:endParaRPr lang="en-US" sz="1600">
              <a:latin typeface="Times New Roman" pitchFamily="18" charset="0"/>
              <a:cs typeface="Times New Roman" pitchFamily="18" charset="0"/>
              <a:sym typeface="Symbol" pitchFamily="18" charset="2"/>
            </a:endParaRPr>
          </a:p>
        </p:txBody>
      </p:sp>
      <p:sp>
        <p:nvSpPr>
          <p:cNvPr id="28685" name="Text Box 3"/>
          <p:cNvSpPr txBox="1">
            <a:spLocks noChangeArrowheads="1"/>
          </p:cNvSpPr>
          <p:nvPr/>
        </p:nvSpPr>
        <p:spPr bwMode="auto">
          <a:xfrm>
            <a:off x="120650" y="33338"/>
            <a:ext cx="2197100" cy="395287"/>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rgbClr val="0000FF"/>
                </a:solidFill>
                <a:latin typeface="Times New Roman" pitchFamily="18" charset="0"/>
              </a:rPr>
              <a:t>Allowed combinations</a:t>
            </a:r>
          </a:p>
        </p:txBody>
      </p:sp>
      <p:sp>
        <p:nvSpPr>
          <p:cNvPr id="28686" name="Text Box 130"/>
          <p:cNvSpPr txBox="1">
            <a:spLocks noChangeArrowheads="1"/>
          </p:cNvSpPr>
          <p:nvPr/>
        </p:nvSpPr>
        <p:spPr bwMode="auto">
          <a:xfrm>
            <a:off x="1258888" y="4230688"/>
            <a:ext cx="379412" cy="304800"/>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400">
                <a:solidFill>
                  <a:srgbClr val="FF3300"/>
                </a:solidFill>
                <a:latin typeface="Times New Roman" pitchFamily="18" charset="0"/>
                <a:sym typeface="Wingdings" pitchFamily="2" charset="2"/>
              </a:rPr>
              <a:t>m</a:t>
            </a:r>
            <a:r>
              <a:rPr lang="en-US" sz="1400" baseline="-25000">
                <a:solidFill>
                  <a:srgbClr val="FF3300"/>
                </a:solidFill>
                <a:latin typeface="Times New Roman" pitchFamily="18" charset="0"/>
                <a:sym typeface="Wingdings" pitchFamily="2" charset="2"/>
              </a:rPr>
              <a:t>1</a:t>
            </a:r>
            <a:endParaRPr lang="en-US" sz="1400">
              <a:solidFill>
                <a:srgbClr val="FF3300"/>
              </a:solidFill>
              <a:latin typeface="Times New Roman" pitchFamily="18" charset="0"/>
              <a:sym typeface="Wingdings" pitchFamily="2" charset="2"/>
            </a:endParaRPr>
          </a:p>
        </p:txBody>
      </p:sp>
      <p:sp>
        <p:nvSpPr>
          <p:cNvPr id="28687" name="Text Box 130"/>
          <p:cNvSpPr txBox="1">
            <a:spLocks noChangeArrowheads="1"/>
          </p:cNvSpPr>
          <p:nvPr/>
        </p:nvSpPr>
        <p:spPr bwMode="auto">
          <a:xfrm>
            <a:off x="1828800" y="4446588"/>
            <a:ext cx="379413" cy="304800"/>
          </a:xfrm>
          <a:prstGeom prst="rect">
            <a:avLst/>
          </a:prstGeom>
          <a:solidFill>
            <a:schemeClr val="bg1"/>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400">
                <a:solidFill>
                  <a:srgbClr val="FF3300"/>
                </a:solidFill>
                <a:latin typeface="Times New Roman" pitchFamily="18" charset="0"/>
                <a:sym typeface="Wingdings" pitchFamily="2" charset="2"/>
              </a:rPr>
              <a:t>m</a:t>
            </a:r>
            <a:r>
              <a:rPr lang="en-US" sz="1400" baseline="-25000">
                <a:solidFill>
                  <a:srgbClr val="FF3300"/>
                </a:solidFill>
                <a:latin typeface="Times New Roman" pitchFamily="18" charset="0"/>
                <a:sym typeface="Wingdings" pitchFamily="2" charset="2"/>
              </a:rPr>
              <a:t>2</a:t>
            </a:r>
            <a:endParaRPr lang="en-US" sz="1400">
              <a:solidFill>
                <a:srgbClr val="FF3300"/>
              </a:solidFill>
              <a:latin typeface="Times New Roman" pitchFamily="18" charset="0"/>
              <a:sym typeface="Wingdings" pitchFamily="2" charset="2"/>
            </a:endParaRPr>
          </a:p>
        </p:txBody>
      </p:sp>
      <p:sp>
        <p:nvSpPr>
          <p:cNvPr id="28688" name="Text Box 130"/>
          <p:cNvSpPr txBox="1">
            <a:spLocks noChangeArrowheads="1"/>
          </p:cNvSpPr>
          <p:nvPr/>
        </p:nvSpPr>
        <p:spPr bwMode="auto">
          <a:xfrm>
            <a:off x="1274763" y="5064125"/>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400">
                <a:solidFill>
                  <a:srgbClr val="0000FF"/>
                </a:solidFill>
                <a:latin typeface="Times New Roman" pitchFamily="18" charset="0"/>
                <a:sym typeface="Wingdings" pitchFamily="2" charset="2"/>
              </a:rPr>
              <a:t>4</a:t>
            </a:r>
          </a:p>
        </p:txBody>
      </p:sp>
      <p:sp>
        <p:nvSpPr>
          <p:cNvPr id="28689" name="Text Box 63"/>
          <p:cNvSpPr txBox="1">
            <a:spLocks noChangeArrowheads="1"/>
          </p:cNvSpPr>
          <p:nvPr/>
        </p:nvSpPr>
        <p:spPr bwMode="auto">
          <a:xfrm>
            <a:off x="7572375" y="5210175"/>
            <a:ext cx="358775" cy="301625"/>
          </a:xfrm>
          <a:prstGeom prst="rect">
            <a:avLst/>
          </a:prstGeom>
          <a:solidFill>
            <a:srgbClr val="0000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500">
                <a:solidFill>
                  <a:schemeClr val="bg1"/>
                </a:solidFill>
                <a:latin typeface="Times New Roman" pitchFamily="18" charset="0"/>
              </a:rPr>
              <a:t>622</a:t>
            </a:r>
            <a:endParaRPr lang="en-US" sz="1500" baseline="-25000">
              <a:solidFill>
                <a:schemeClr val="bg1"/>
              </a:solidFill>
              <a:latin typeface="Times New Roman" pitchFamily="18" charset="0"/>
              <a:cs typeface="Times New Roman" pitchFamily="18" charset="0"/>
            </a:endParaRPr>
          </a:p>
        </p:txBody>
      </p:sp>
      <p:pic>
        <p:nvPicPr>
          <p:cNvPr id="28690" name="Picture 18" descr="2-o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7563" y="2930525"/>
            <a:ext cx="1338262"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1" name="Picture 19" descr="22op"/>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9063" y="2947988"/>
            <a:ext cx="1398587"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692" name="AutoShape 3"/>
          <p:cNvCxnSpPr>
            <a:cxnSpLocks noChangeShapeType="1"/>
          </p:cNvCxnSpPr>
          <p:nvPr/>
        </p:nvCxnSpPr>
        <p:spPr bwMode="auto">
          <a:xfrm>
            <a:off x="4740275" y="3614738"/>
            <a:ext cx="377825" cy="3175"/>
          </a:xfrm>
          <a:prstGeom prst="straightConnector1">
            <a:avLst/>
          </a:prstGeom>
          <a:noFill/>
          <a:ln w="76200">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28693" name="AutoShape 3"/>
          <p:cNvCxnSpPr>
            <a:cxnSpLocks noChangeShapeType="1"/>
          </p:cNvCxnSpPr>
          <p:nvPr/>
        </p:nvCxnSpPr>
        <p:spPr bwMode="auto">
          <a:xfrm>
            <a:off x="6426200" y="4283075"/>
            <a:ext cx="274638" cy="263525"/>
          </a:xfrm>
          <a:prstGeom prst="straightConnector1">
            <a:avLst/>
          </a:prstGeom>
          <a:noFill/>
          <a:ln w="76200">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8694" name="AutoShape 81"/>
          <p:cNvSpPr>
            <a:spLocks noChangeArrowheads="1"/>
          </p:cNvSpPr>
          <p:nvPr/>
        </p:nvSpPr>
        <p:spPr bwMode="auto">
          <a:xfrm>
            <a:off x="2054225" y="2776538"/>
            <a:ext cx="1222375" cy="174625"/>
          </a:xfrm>
          <a:prstGeom prst="wedgeRoundRectCallout">
            <a:avLst>
              <a:gd name="adj1" fmla="val 83375"/>
              <a:gd name="adj2" fmla="val 110000"/>
              <a:gd name="adj3" fmla="val 16667"/>
            </a:avLst>
          </a:prstGeom>
          <a:solidFill>
            <a:srgbClr val="FFD7FF"/>
          </a:solidFill>
          <a:ln w="9525">
            <a:solidFill>
              <a:srgbClr val="CC00CC"/>
            </a:solidFill>
            <a:miter lim="800000"/>
            <a:headEnd/>
            <a:tailEnd/>
          </a:ln>
        </p:spPr>
        <p:txBody>
          <a:bodyPr wrap="none" lIns="0" tIns="0" rIns="0" bIns="0">
            <a:spAutoFit/>
          </a:bodyPr>
          <a:lstStyle/>
          <a:p>
            <a:pPr algn="ctr" eaLnBrk="0" hangingPunct="0"/>
            <a:r>
              <a:rPr lang="en-US" sz="1000">
                <a:solidFill>
                  <a:srgbClr val="CC00CC"/>
                </a:solidFill>
                <a:latin typeface="Times New Roman" pitchFamily="18" charset="0"/>
              </a:rPr>
              <a:t>Active 2-fold is in red</a:t>
            </a:r>
          </a:p>
        </p:txBody>
      </p:sp>
      <p:sp>
        <p:nvSpPr>
          <p:cNvPr id="28695" name="Text Box 63"/>
          <p:cNvSpPr txBox="1">
            <a:spLocks noChangeArrowheads="1"/>
          </p:cNvSpPr>
          <p:nvPr/>
        </p:nvSpPr>
        <p:spPr bwMode="auto">
          <a:xfrm>
            <a:off x="8335963" y="3049588"/>
            <a:ext cx="263525" cy="225425"/>
          </a:xfrm>
          <a:prstGeom prst="rect">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000">
                <a:solidFill>
                  <a:schemeClr val="bg1"/>
                </a:solidFill>
                <a:latin typeface="Times New Roman" pitchFamily="18" charset="0"/>
              </a:rPr>
              <a:t>622</a:t>
            </a:r>
            <a:endParaRPr lang="en-US" sz="1000" baseline="-25000">
              <a:solidFill>
                <a:schemeClr val="bg1"/>
              </a:solidFill>
              <a:latin typeface="Times New Roman" pitchFamily="18" charset="0"/>
              <a:cs typeface="Times New Roman" pitchFamily="18" charset="0"/>
            </a:endParaRPr>
          </a:p>
        </p:txBody>
      </p:sp>
      <p:sp>
        <p:nvSpPr>
          <p:cNvPr id="28696" name="Text Box 116"/>
          <p:cNvSpPr txBox="1">
            <a:spLocks noChangeArrowheads="1"/>
          </p:cNvSpPr>
          <p:nvPr/>
        </p:nvSpPr>
        <p:spPr bwMode="auto">
          <a:xfrm>
            <a:off x="4611688" y="5156200"/>
            <a:ext cx="1743075" cy="771525"/>
          </a:xfrm>
          <a:prstGeom prst="rect">
            <a:avLst/>
          </a:prstGeom>
          <a:solidFill>
            <a:schemeClr val="bg1"/>
          </a:solidFill>
          <a:ln w="6350" algn="ctr">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100">
                <a:latin typeface="Times New Roman" pitchFamily="18" charset="0"/>
                <a:sym typeface="Wingdings" pitchFamily="2" charset="2"/>
              </a:rPr>
              <a:t>The 2-folds have been coloured differently to understand the origin of the 6-fold</a:t>
            </a:r>
          </a:p>
        </p:txBody>
      </p:sp>
      <p:sp>
        <p:nvSpPr>
          <p:cNvPr id="28697" name="Oval 117"/>
          <p:cNvSpPr>
            <a:spLocks noChangeArrowheads="1"/>
          </p:cNvSpPr>
          <p:nvPr/>
        </p:nvSpPr>
        <p:spPr bwMode="auto">
          <a:xfrm>
            <a:off x="6904038" y="5172075"/>
            <a:ext cx="239712" cy="227013"/>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28698" name="AutoShape 118"/>
          <p:cNvCxnSpPr>
            <a:cxnSpLocks noChangeShapeType="1"/>
            <a:stCxn id="28696" idx="3"/>
            <a:endCxn id="28697" idx="2"/>
          </p:cNvCxnSpPr>
          <p:nvPr/>
        </p:nvCxnSpPr>
        <p:spPr bwMode="auto">
          <a:xfrm flipV="1">
            <a:off x="6354763" y="5286375"/>
            <a:ext cx="549275" cy="255588"/>
          </a:xfrm>
          <a:prstGeom prst="straightConnector1">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cxnSp>
      <p:sp>
        <p:nvSpPr>
          <p:cNvPr id="28699" name="Oval 119"/>
          <p:cNvSpPr>
            <a:spLocks noChangeArrowheads="1"/>
          </p:cNvSpPr>
          <p:nvPr/>
        </p:nvSpPr>
        <p:spPr bwMode="auto">
          <a:xfrm>
            <a:off x="6772275" y="5599113"/>
            <a:ext cx="247650" cy="239712"/>
          </a:xfrm>
          <a:prstGeom prst="ellipse">
            <a:avLst/>
          </a:prstGeom>
          <a:noFill/>
          <a:ln w="952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cxnSp>
        <p:nvCxnSpPr>
          <p:cNvPr id="28700" name="AutoShape 120"/>
          <p:cNvCxnSpPr>
            <a:cxnSpLocks noChangeShapeType="1"/>
            <a:stCxn id="28696" idx="3"/>
            <a:endCxn id="28699" idx="2"/>
          </p:cNvCxnSpPr>
          <p:nvPr/>
        </p:nvCxnSpPr>
        <p:spPr bwMode="auto">
          <a:xfrm>
            <a:off x="6354763" y="5541963"/>
            <a:ext cx="417512" cy="177800"/>
          </a:xfrm>
          <a:prstGeom prst="straightConnector1">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96838" y="487363"/>
            <a:ext cx="8991600" cy="3149600"/>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Most of the possible combinations of symmetry elements are actually disallowed! If we randomly chose two rotation axes and put them at some random angle- more likely than not that would be a disallowed combination (note that there are only </a:t>
            </a:r>
            <a:r>
              <a:rPr lang="en-US" sz="1600">
                <a:solidFill>
                  <a:srgbClr val="CC3300"/>
                </a:solidFill>
                <a:latin typeface="Times New Roman" pitchFamily="18" charset="0"/>
                <a:cs typeface="Times New Roman" pitchFamily="18" charset="0"/>
                <a:sym typeface="Symbol" pitchFamily="18" charset="2"/>
              </a:rPr>
              <a:t>22</a:t>
            </a:r>
            <a:r>
              <a:rPr lang="en-US" sz="1600">
                <a:latin typeface="Times New Roman" pitchFamily="18" charset="0"/>
                <a:cs typeface="Times New Roman" pitchFamily="18" charset="0"/>
                <a:sym typeface="Symbol" pitchFamily="18" charset="2"/>
              </a:rPr>
              <a:t> allowed combinations → along with the single operators (</a:t>
            </a:r>
            <a:r>
              <a:rPr lang="en-US" sz="1600">
                <a:solidFill>
                  <a:srgbClr val="CC3300"/>
                </a:solidFill>
                <a:latin typeface="Times New Roman" pitchFamily="18" charset="0"/>
                <a:cs typeface="Times New Roman" pitchFamily="18" charset="0"/>
                <a:sym typeface="Symbol" pitchFamily="18" charset="2"/>
              </a:rPr>
              <a:t>10</a:t>
            </a:r>
            <a:r>
              <a:rPr lang="en-US" sz="1600">
                <a:latin typeface="Times New Roman" pitchFamily="18" charset="0"/>
                <a:cs typeface="Times New Roman" pitchFamily="18" charset="0"/>
                <a:sym typeface="Symbol" pitchFamily="18" charset="2"/>
              </a:rPr>
              <a:t> in number) we get the </a:t>
            </a:r>
            <a:r>
              <a:rPr lang="en-US" sz="1600">
                <a:solidFill>
                  <a:srgbClr val="CC3300"/>
                </a:solidFill>
                <a:latin typeface="Times New Roman" pitchFamily="18" charset="0"/>
                <a:cs typeface="Times New Roman" pitchFamily="18" charset="0"/>
                <a:sym typeface="Symbol" pitchFamily="18" charset="2"/>
              </a:rPr>
              <a:t>32</a:t>
            </a:r>
            <a:r>
              <a:rPr lang="en-US" sz="1600">
                <a:latin typeface="Times New Roman" pitchFamily="18" charset="0"/>
                <a:cs typeface="Times New Roman" pitchFamily="18" charset="0"/>
                <a:sym typeface="Symbol" pitchFamily="18" charset="2"/>
              </a:rPr>
              <a:t> point groups)</a:t>
            </a:r>
          </a:p>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As shown below two 2-fold axis with an included angle of (say) 15 is a disallowed combination → this is because the presence of two 2-folds with an included angle of 15 implies the presence of a 12 fold perpendicular to the plane of the 2-folds </a:t>
            </a:r>
            <a:r>
              <a:rPr lang="en-US" sz="1600" i="1">
                <a:latin typeface="Times New Roman" pitchFamily="18" charset="0"/>
                <a:cs typeface="Times New Roman" pitchFamily="18" charset="0"/>
                <a:sym typeface="Symbol" pitchFamily="18" charset="2"/>
              </a:rPr>
              <a:t>→ which is a disallowed rotational symmetry in crystallography.</a:t>
            </a:r>
            <a:endParaRPr lang="en-US" sz="1600">
              <a:latin typeface="Times New Roman" pitchFamily="18" charset="0"/>
              <a:cs typeface="Times New Roman" pitchFamily="18" charset="0"/>
              <a:sym typeface="Symbol" pitchFamily="18" charset="2"/>
            </a:endParaRPr>
          </a:p>
          <a:p>
            <a:pPr eaLnBrk="1" hangingPunct="1">
              <a:spcAft>
                <a:spcPct val="20000"/>
              </a:spcAft>
              <a:buClr>
                <a:srgbClr val="FF0000"/>
              </a:buClr>
              <a:buFont typeface="Wingdings" pitchFamily="2" charset="2"/>
              <a:buChar char="q"/>
            </a:pPr>
            <a:r>
              <a:rPr lang="en-US" sz="1600">
                <a:latin typeface="Times New Roman" pitchFamily="18" charset="0"/>
                <a:cs typeface="Times New Roman" pitchFamily="18" charset="0"/>
                <a:sym typeface="Symbol" pitchFamily="18" charset="2"/>
              </a:rPr>
              <a:t>Another example of a combination which is disallowed is (say) two 2-fold axes with an included angle of 7 </a:t>
            </a:r>
            <a:r>
              <a:rPr lang="en-US" sz="1200">
                <a:latin typeface="Times New Roman" pitchFamily="18" charset="0"/>
                <a:cs typeface="Times New Roman" pitchFamily="18" charset="0"/>
                <a:sym typeface="Symbol" pitchFamily="18" charset="2"/>
              </a:rPr>
              <a:t>(360 is not divisible by 7!)</a:t>
            </a:r>
            <a:r>
              <a:rPr lang="en-US" sz="1600">
                <a:latin typeface="Times New Roman" pitchFamily="18" charset="0"/>
                <a:cs typeface="Times New Roman" pitchFamily="18" charset="0"/>
                <a:sym typeface="Symbol" pitchFamily="18" charset="2"/>
              </a:rPr>
              <a:t>. In this case: the action of one two fold on the other repeatedly, would lead to an infinite number of two folds on the plane and hence an infinite number of points (if we start with one point) (i.e. space would not close on itself!).</a:t>
            </a:r>
          </a:p>
        </p:txBody>
      </p:sp>
      <p:sp>
        <p:nvSpPr>
          <p:cNvPr id="29699" name="Text Box 3"/>
          <p:cNvSpPr txBox="1">
            <a:spLocks noChangeArrowheads="1"/>
          </p:cNvSpPr>
          <p:nvPr/>
        </p:nvSpPr>
        <p:spPr bwMode="auto">
          <a:xfrm>
            <a:off x="120650" y="33338"/>
            <a:ext cx="2451100" cy="395287"/>
          </a:xfrm>
          <a:prstGeom prst="rect">
            <a:avLst/>
          </a:prstGeom>
          <a:solidFill>
            <a:srgbClr val="CCFFFF"/>
          </a:solidFill>
          <a:ln w="12700" algn="ctr">
            <a:solidFill>
              <a:srgbClr val="3366FF"/>
            </a:solidFill>
            <a:miter lim="800000"/>
            <a:headEnd/>
            <a:tailEnd/>
          </a:ln>
        </p:spPr>
        <p:txBody>
          <a:bodyPr wrap="none" lIns="54000" tIns="54000" rIns="54000" bIns="54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rgbClr val="0000FF"/>
                </a:solidFill>
                <a:latin typeface="Times New Roman" pitchFamily="18" charset="0"/>
              </a:rPr>
              <a:t>Disallowed combinations</a:t>
            </a:r>
          </a:p>
        </p:txBody>
      </p:sp>
      <p:pic>
        <p:nvPicPr>
          <p:cNvPr id="29700" name="Picture 4" descr="12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3836988"/>
            <a:ext cx="2606675" cy="284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96838" y="112713"/>
            <a:ext cx="5518150" cy="395287"/>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4000" tIns="54000" rIns="54000" bIns="54000">
            <a:spAutoFit/>
          </a:bodyPr>
          <a:lstStyle/>
          <a:p>
            <a:pPr>
              <a:spcBef>
                <a:spcPct val="50000"/>
              </a:spcBef>
            </a:pPr>
            <a:r>
              <a:rPr lang="en-US">
                <a:solidFill>
                  <a:srgbClr val="0000FF"/>
                </a:solidFill>
                <a:latin typeface="Times New Roman" pitchFamily="18" charset="0"/>
              </a:rPr>
              <a:t>Positioning a object with respect to the symmetry elements</a:t>
            </a:r>
            <a:endParaRPr lang="en-US">
              <a:solidFill>
                <a:srgbClr val="0000FF"/>
              </a:solidFill>
              <a:latin typeface="Times New Roman" pitchFamily="18" charset="0"/>
              <a:sym typeface="Symbol" pitchFamily="18" charset="2"/>
            </a:endParaRPr>
          </a:p>
        </p:txBody>
      </p:sp>
      <p:sp>
        <p:nvSpPr>
          <p:cNvPr id="30723" name="Text Box 32"/>
          <p:cNvSpPr txBox="1">
            <a:spLocks noChangeArrowheads="1"/>
          </p:cNvSpPr>
          <p:nvPr/>
        </p:nvSpPr>
        <p:spPr bwMode="auto">
          <a:xfrm>
            <a:off x="157163" y="576263"/>
            <a:ext cx="88757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600">
                <a:latin typeface="Times New Roman" pitchFamily="18" charset="0"/>
              </a:rPr>
              <a:t>In this part we briefly consider the effect of positioning an object with respect to the distribution of symmetry elements </a:t>
            </a:r>
          </a:p>
        </p:txBody>
      </p:sp>
      <p:sp>
        <p:nvSpPr>
          <p:cNvPr id="30724" name="Text Box 2"/>
          <p:cNvSpPr txBox="1">
            <a:spLocks noChangeArrowheads="1"/>
          </p:cNvSpPr>
          <p:nvPr/>
        </p:nvSpPr>
        <p:spPr bwMode="auto">
          <a:xfrm>
            <a:off x="152400" y="1185863"/>
            <a:ext cx="8839200" cy="666750"/>
          </a:xfrm>
          <a:prstGeom prst="rect">
            <a:avLst/>
          </a:prstGeom>
          <a:solidFill>
            <a:srgbClr val="EFFFFF"/>
          </a:solidFill>
          <a:ln w="9525">
            <a:solidFill>
              <a:srgbClr val="0000FF"/>
            </a:solidFill>
            <a:miter lim="800000"/>
            <a:headEnd/>
            <a:tailEnd/>
          </a:ln>
        </p:spPr>
        <p:txBody>
          <a:bodyPr lIns="54000" tIns="54000" rIns="54000" bIns="5400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As seen in the example of 4mm point group- placing an object in special positions reduces the number of identity-points/’objects’ produced by the point group.</a:t>
            </a:r>
          </a:p>
        </p:txBody>
      </p:sp>
      <p:pic>
        <p:nvPicPr>
          <p:cNvPr id="30725"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175" y="1968500"/>
            <a:ext cx="1892300" cy="201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6"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8538" y="1985963"/>
            <a:ext cx="18923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7" name="Text Box 36"/>
          <p:cNvSpPr txBox="1">
            <a:spLocks noChangeArrowheads="1"/>
          </p:cNvSpPr>
          <p:nvPr/>
        </p:nvSpPr>
        <p:spPr bwMode="auto">
          <a:xfrm>
            <a:off x="587375" y="4057650"/>
            <a:ext cx="1577975" cy="520700"/>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400">
                <a:latin typeface="Times New Roman" pitchFamily="18" charset="0"/>
                <a:cs typeface="Times New Roman" pitchFamily="18" charset="0"/>
                <a:sym typeface="Symbol" pitchFamily="18" charset="2"/>
              </a:rPr>
              <a:t>General site </a:t>
            </a:r>
            <a:br>
              <a:rPr lang="en-US" sz="1400">
                <a:latin typeface="Times New Roman" pitchFamily="18" charset="0"/>
                <a:cs typeface="Times New Roman" pitchFamily="18" charset="0"/>
                <a:sym typeface="Symbol" pitchFamily="18" charset="2"/>
              </a:rPr>
            </a:br>
            <a:r>
              <a:rPr lang="en-US" sz="1400">
                <a:latin typeface="Times New Roman" pitchFamily="18" charset="0"/>
                <a:cs typeface="Times New Roman" pitchFamily="18" charset="0"/>
                <a:sym typeface="Symbol" pitchFamily="18" charset="2"/>
              </a:rPr>
              <a:t> 8 identity-points</a:t>
            </a:r>
            <a:endParaRPr lang="en-US" sz="1400" i="1">
              <a:latin typeface="Times New Roman" pitchFamily="18" charset="0"/>
              <a:cs typeface="Times New Roman" pitchFamily="18" charset="0"/>
              <a:sym typeface="Symbol" pitchFamily="18" charset="2"/>
            </a:endParaRPr>
          </a:p>
        </p:txBody>
      </p:sp>
      <p:sp>
        <p:nvSpPr>
          <p:cNvPr id="30728" name="Text Box 37"/>
          <p:cNvSpPr txBox="1">
            <a:spLocks noChangeArrowheads="1"/>
          </p:cNvSpPr>
          <p:nvPr/>
        </p:nvSpPr>
        <p:spPr bwMode="auto">
          <a:xfrm>
            <a:off x="2722563" y="4057650"/>
            <a:ext cx="1733550" cy="520700"/>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400">
                <a:latin typeface="Times New Roman" pitchFamily="18" charset="0"/>
                <a:cs typeface="Times New Roman" pitchFamily="18" charset="0"/>
                <a:sym typeface="Symbol" pitchFamily="18" charset="2"/>
              </a:rPr>
              <a:t>On mirror plane (</a:t>
            </a:r>
            <a:r>
              <a:rPr lang="en-US" sz="1400">
                <a:solidFill>
                  <a:srgbClr val="0066FF"/>
                </a:solidFill>
                <a:latin typeface="Times New Roman" pitchFamily="18" charset="0"/>
                <a:cs typeface="Times New Roman" pitchFamily="18" charset="0"/>
                <a:sym typeface="Symbol" pitchFamily="18" charset="2"/>
              </a:rPr>
              <a:t>m</a:t>
            </a:r>
            <a:r>
              <a:rPr lang="en-US" sz="1400" baseline="-25000">
                <a:solidFill>
                  <a:srgbClr val="0066FF"/>
                </a:solidFill>
                <a:latin typeface="Times New Roman" pitchFamily="18" charset="0"/>
                <a:cs typeface="Times New Roman" pitchFamily="18" charset="0"/>
                <a:sym typeface="Symbol" pitchFamily="18" charset="2"/>
              </a:rPr>
              <a:t>1</a:t>
            </a:r>
            <a:r>
              <a:rPr lang="en-US" sz="1400">
                <a:latin typeface="Times New Roman" pitchFamily="18" charset="0"/>
                <a:cs typeface="Times New Roman" pitchFamily="18" charset="0"/>
                <a:sym typeface="Symbol" pitchFamily="18" charset="2"/>
              </a:rPr>
              <a:t>) </a:t>
            </a:r>
            <a:br>
              <a:rPr lang="en-US" sz="1400">
                <a:latin typeface="Times New Roman" pitchFamily="18" charset="0"/>
                <a:cs typeface="Times New Roman" pitchFamily="18" charset="0"/>
                <a:sym typeface="Symbol" pitchFamily="18" charset="2"/>
              </a:rPr>
            </a:br>
            <a:r>
              <a:rPr lang="en-US" sz="1400">
                <a:latin typeface="Times New Roman" pitchFamily="18" charset="0"/>
                <a:cs typeface="Times New Roman" pitchFamily="18" charset="0"/>
                <a:sym typeface="Symbol" pitchFamily="18" charset="2"/>
              </a:rPr>
              <a:t> 4 identity-points</a:t>
            </a:r>
            <a:endParaRPr lang="en-US" sz="1400" i="1">
              <a:latin typeface="Times New Roman" pitchFamily="18" charset="0"/>
              <a:cs typeface="Times New Roman" pitchFamily="18" charset="0"/>
              <a:sym typeface="Symbol" pitchFamily="18" charset="2"/>
            </a:endParaRPr>
          </a:p>
        </p:txBody>
      </p:sp>
      <p:sp>
        <p:nvSpPr>
          <p:cNvPr id="30729" name="Text Box 38"/>
          <p:cNvSpPr txBox="1">
            <a:spLocks noChangeArrowheads="1"/>
          </p:cNvSpPr>
          <p:nvPr/>
        </p:nvSpPr>
        <p:spPr bwMode="auto">
          <a:xfrm>
            <a:off x="4914900" y="4057650"/>
            <a:ext cx="1733550" cy="520700"/>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400">
                <a:latin typeface="Times New Roman" pitchFamily="18" charset="0"/>
                <a:cs typeface="Times New Roman" pitchFamily="18" charset="0"/>
                <a:sym typeface="Symbol" pitchFamily="18" charset="2"/>
              </a:rPr>
              <a:t>On mirror plane (</a:t>
            </a:r>
            <a:r>
              <a:rPr lang="en-US" sz="1400">
                <a:solidFill>
                  <a:srgbClr val="0066FF"/>
                </a:solidFill>
                <a:latin typeface="Times New Roman" pitchFamily="18" charset="0"/>
                <a:cs typeface="Times New Roman" pitchFamily="18" charset="0"/>
                <a:sym typeface="Symbol" pitchFamily="18" charset="2"/>
              </a:rPr>
              <a:t>m</a:t>
            </a:r>
            <a:r>
              <a:rPr lang="en-US" sz="1400" baseline="-25000">
                <a:solidFill>
                  <a:srgbClr val="0066FF"/>
                </a:solidFill>
                <a:latin typeface="Times New Roman" pitchFamily="18" charset="0"/>
                <a:cs typeface="Times New Roman" pitchFamily="18" charset="0"/>
                <a:sym typeface="Symbol" pitchFamily="18" charset="2"/>
              </a:rPr>
              <a:t>2</a:t>
            </a:r>
            <a:r>
              <a:rPr lang="en-US" sz="1400">
                <a:latin typeface="Times New Roman" pitchFamily="18" charset="0"/>
                <a:cs typeface="Times New Roman" pitchFamily="18" charset="0"/>
                <a:sym typeface="Symbol" pitchFamily="18" charset="2"/>
              </a:rPr>
              <a:t>) </a:t>
            </a:r>
            <a:br>
              <a:rPr lang="en-US" sz="1400">
                <a:latin typeface="Times New Roman" pitchFamily="18" charset="0"/>
                <a:cs typeface="Times New Roman" pitchFamily="18" charset="0"/>
                <a:sym typeface="Symbol" pitchFamily="18" charset="2"/>
              </a:rPr>
            </a:br>
            <a:r>
              <a:rPr lang="en-US" sz="1400">
                <a:latin typeface="Times New Roman" pitchFamily="18" charset="0"/>
                <a:cs typeface="Times New Roman" pitchFamily="18" charset="0"/>
                <a:sym typeface="Symbol" pitchFamily="18" charset="2"/>
              </a:rPr>
              <a:t> 4 identity-points</a:t>
            </a:r>
            <a:endParaRPr lang="en-US" sz="1400" i="1">
              <a:latin typeface="Times New Roman" pitchFamily="18" charset="0"/>
              <a:cs typeface="Times New Roman" pitchFamily="18" charset="0"/>
              <a:sym typeface="Symbol" pitchFamily="18" charset="2"/>
            </a:endParaRPr>
          </a:p>
        </p:txBody>
      </p:sp>
      <p:pic>
        <p:nvPicPr>
          <p:cNvPr id="30730" name="Picture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363" y="1911350"/>
            <a:ext cx="1893887"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31" name="Picture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4525" y="2033588"/>
            <a:ext cx="1814513" cy="193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32" name="Text Box 41"/>
          <p:cNvSpPr txBox="1">
            <a:spLocks noChangeArrowheads="1"/>
          </p:cNvSpPr>
          <p:nvPr/>
        </p:nvSpPr>
        <p:spPr bwMode="auto">
          <a:xfrm>
            <a:off x="233363" y="6469063"/>
            <a:ext cx="63071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1400" i="1">
                <a:latin typeface="Times New Roman" pitchFamily="18" charset="0"/>
              </a:rPr>
              <a:t>Note: this is for a point group and not for a lattice </a:t>
            </a:r>
            <a:r>
              <a:rPr lang="en-US" sz="1400" i="1">
                <a:latin typeface="Times New Roman" pitchFamily="18" charset="0"/>
                <a:sym typeface="Symbol" pitchFamily="18" charset="2"/>
              </a:rPr>
              <a:t> the black lines are not unit cells</a:t>
            </a:r>
          </a:p>
        </p:txBody>
      </p:sp>
      <p:sp>
        <p:nvSpPr>
          <p:cNvPr id="30733" name="Text Box 42"/>
          <p:cNvSpPr txBox="1">
            <a:spLocks noChangeArrowheads="1"/>
          </p:cNvSpPr>
          <p:nvPr/>
        </p:nvSpPr>
        <p:spPr bwMode="auto">
          <a:xfrm>
            <a:off x="7056438" y="4057650"/>
            <a:ext cx="1673225" cy="520700"/>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400">
                <a:latin typeface="Times New Roman" pitchFamily="18" charset="0"/>
                <a:cs typeface="Times New Roman" pitchFamily="18" charset="0"/>
                <a:sym typeface="Symbol" pitchFamily="18" charset="2"/>
              </a:rPr>
              <a:t>Site symmetry </a:t>
            </a:r>
            <a:r>
              <a:rPr lang="en-US" sz="1400">
                <a:solidFill>
                  <a:srgbClr val="0066FF"/>
                </a:solidFill>
                <a:latin typeface="Times New Roman" pitchFamily="18" charset="0"/>
                <a:cs typeface="Times New Roman" pitchFamily="18" charset="0"/>
                <a:sym typeface="Symbol" pitchFamily="18" charset="2"/>
              </a:rPr>
              <a:t>4mm</a:t>
            </a:r>
            <a:r>
              <a:rPr lang="en-US" sz="1400">
                <a:latin typeface="Times New Roman" pitchFamily="18" charset="0"/>
                <a:cs typeface="Times New Roman" pitchFamily="18" charset="0"/>
                <a:sym typeface="Symbol" pitchFamily="18" charset="2"/>
              </a:rPr>
              <a:t> </a:t>
            </a:r>
            <a:br>
              <a:rPr lang="en-US" sz="1400">
                <a:latin typeface="Times New Roman" pitchFamily="18" charset="0"/>
                <a:cs typeface="Times New Roman" pitchFamily="18" charset="0"/>
                <a:sym typeface="Symbol" pitchFamily="18" charset="2"/>
              </a:rPr>
            </a:br>
            <a:r>
              <a:rPr lang="en-US" sz="1400">
                <a:latin typeface="Times New Roman" pitchFamily="18" charset="0"/>
                <a:cs typeface="Times New Roman" pitchFamily="18" charset="0"/>
                <a:sym typeface="Symbol" pitchFamily="18" charset="2"/>
              </a:rPr>
              <a:t> 1 identity-point</a:t>
            </a:r>
            <a:endParaRPr lang="en-US" sz="1400" i="1">
              <a:latin typeface="Times New Roman" pitchFamily="18" charset="0"/>
              <a:cs typeface="Times New Roman" pitchFamily="18" charset="0"/>
              <a:sym typeface="Symbol" pitchFamily="18" charset="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8" y="866775"/>
            <a:ext cx="4864100" cy="517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7" name="Rectangle 3"/>
          <p:cNvSpPr>
            <a:spLocks noChangeArrowheads="1"/>
          </p:cNvSpPr>
          <p:nvPr/>
        </p:nvSpPr>
        <p:spPr bwMode="auto">
          <a:xfrm>
            <a:off x="3530600" y="2055813"/>
            <a:ext cx="1503363" cy="1611312"/>
          </a:xfrm>
          <a:prstGeom prst="rect">
            <a:avLst/>
          </a:prstGeom>
          <a:solidFill>
            <a:srgbClr val="FFFFDB">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1748" name="AutoShape 4"/>
          <p:cNvCxnSpPr>
            <a:cxnSpLocks noChangeShapeType="1"/>
            <a:stCxn id="31747" idx="0"/>
            <a:endCxn id="31750" idx="0"/>
          </p:cNvCxnSpPr>
          <p:nvPr/>
        </p:nvCxnSpPr>
        <p:spPr bwMode="auto">
          <a:xfrm flipV="1">
            <a:off x="4283075" y="1671638"/>
            <a:ext cx="3054350" cy="384175"/>
          </a:xfrm>
          <a:prstGeom prst="straightConnector1">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9" name="AutoShape 5"/>
          <p:cNvCxnSpPr>
            <a:cxnSpLocks noChangeShapeType="1"/>
            <a:stCxn id="31747" idx="2"/>
            <a:endCxn id="31750" idx="2"/>
          </p:cNvCxnSpPr>
          <p:nvPr/>
        </p:nvCxnSpPr>
        <p:spPr bwMode="auto">
          <a:xfrm>
            <a:off x="4283075" y="3667125"/>
            <a:ext cx="3054350" cy="595313"/>
          </a:xfrm>
          <a:prstGeom prst="straightConnector1">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17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9338" y="1671638"/>
            <a:ext cx="241617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1" name="Rectangle 7"/>
          <p:cNvSpPr>
            <a:spLocks noChangeArrowheads="1"/>
          </p:cNvSpPr>
          <p:nvPr/>
        </p:nvSpPr>
        <p:spPr bwMode="auto">
          <a:xfrm>
            <a:off x="71438" y="177800"/>
            <a:ext cx="8156575" cy="392113"/>
          </a:xfrm>
          <a:prstGeom prst="rect">
            <a:avLst/>
          </a:prstGeom>
          <a:solidFill>
            <a:srgbClr val="E5FFE5"/>
          </a:solidFill>
          <a:ln w="254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atin typeface="Times New Roman" pitchFamily="18" charset="0"/>
              </a:rPr>
              <a:t>Positioning of a motif w.r.t to the symmetry elements of a lattice </a:t>
            </a:r>
            <a:r>
              <a:rPr lang="en-US">
                <a:latin typeface="Times New Roman" pitchFamily="18" charset="0"/>
                <a:sym typeface="Symbol" pitchFamily="18" charset="2"/>
              </a:rPr>
              <a:t> Wyckoff positions</a:t>
            </a:r>
          </a:p>
        </p:txBody>
      </p:sp>
      <p:sp>
        <p:nvSpPr>
          <p:cNvPr id="31752" name="Text Box 8"/>
          <p:cNvSpPr txBox="1">
            <a:spLocks noChangeArrowheads="1"/>
          </p:cNvSpPr>
          <p:nvPr/>
        </p:nvSpPr>
        <p:spPr bwMode="auto">
          <a:xfrm>
            <a:off x="5348288" y="5027613"/>
            <a:ext cx="3609975" cy="369887"/>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atin typeface="Times New Roman" pitchFamily="18" charset="0"/>
                <a:cs typeface="Times New Roman" pitchFamily="18" charset="0"/>
                <a:sym typeface="Symbol" pitchFamily="18" charset="2"/>
              </a:rPr>
              <a:t>A 2D lattice with symmetry elements</a:t>
            </a:r>
            <a:endParaRPr lang="en-US" i="1">
              <a:latin typeface="Times New Roman" pitchFamily="18" charset="0"/>
              <a:cs typeface="Times New Roman" pitchFamily="18" charset="0"/>
              <a:sym typeface="Symbol"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770" name="AutoShape 2"/>
          <p:cNvCxnSpPr>
            <a:cxnSpLocks noChangeShapeType="1"/>
            <a:stCxn id="32867" idx="1"/>
          </p:cNvCxnSpPr>
          <p:nvPr/>
        </p:nvCxnSpPr>
        <p:spPr bwMode="auto">
          <a:xfrm flipV="1">
            <a:off x="3775075" y="5278438"/>
            <a:ext cx="2236788" cy="525462"/>
          </a:xfrm>
          <a:prstGeom prst="straightConnector1">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282575"/>
            <a:ext cx="2587625"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8773" name="Group 101"/>
          <p:cNvGraphicFramePr>
            <a:graphicFrameLocks noGrp="1"/>
          </p:cNvGraphicFramePr>
          <p:nvPr/>
        </p:nvGraphicFramePr>
        <p:xfrm>
          <a:off x="3087688" y="557213"/>
          <a:ext cx="5980112" cy="4721292"/>
        </p:xfrm>
        <a:graphic>
          <a:graphicData uri="http://schemas.openxmlformats.org/drawingml/2006/table">
            <a:tbl>
              <a:tblPr/>
              <a:tblGrid>
                <a:gridCol w="796925">
                  <a:extLst>
                    <a:ext uri="{9D8B030D-6E8A-4147-A177-3AD203B41FA5}">
                      <a16:colId xmlns:a16="http://schemas.microsoft.com/office/drawing/2014/main" val="20000"/>
                    </a:ext>
                  </a:extLst>
                </a:gridCol>
                <a:gridCol w="500062">
                  <a:extLst>
                    <a:ext uri="{9D8B030D-6E8A-4147-A177-3AD203B41FA5}">
                      <a16:colId xmlns:a16="http://schemas.microsoft.com/office/drawing/2014/main" val="20001"/>
                    </a:ext>
                  </a:extLst>
                </a:gridCol>
                <a:gridCol w="500063">
                  <a:extLst>
                    <a:ext uri="{9D8B030D-6E8A-4147-A177-3AD203B41FA5}">
                      <a16:colId xmlns:a16="http://schemas.microsoft.com/office/drawing/2014/main" val="20002"/>
                    </a:ext>
                  </a:extLst>
                </a:gridCol>
                <a:gridCol w="1127125">
                  <a:extLst>
                    <a:ext uri="{9D8B030D-6E8A-4147-A177-3AD203B41FA5}">
                      <a16:colId xmlns:a16="http://schemas.microsoft.com/office/drawing/2014/main" val="20003"/>
                    </a:ext>
                  </a:extLst>
                </a:gridCol>
                <a:gridCol w="741362">
                  <a:extLst>
                    <a:ext uri="{9D8B030D-6E8A-4147-A177-3AD203B41FA5}">
                      <a16:colId xmlns:a16="http://schemas.microsoft.com/office/drawing/2014/main" val="20004"/>
                    </a:ext>
                  </a:extLst>
                </a:gridCol>
                <a:gridCol w="823913">
                  <a:extLst>
                    <a:ext uri="{9D8B030D-6E8A-4147-A177-3AD203B41FA5}">
                      <a16:colId xmlns:a16="http://schemas.microsoft.com/office/drawing/2014/main" val="20005"/>
                    </a:ext>
                  </a:extLst>
                </a:gridCol>
                <a:gridCol w="688975">
                  <a:extLst>
                    <a:ext uri="{9D8B030D-6E8A-4147-A177-3AD203B41FA5}">
                      <a16:colId xmlns:a16="http://schemas.microsoft.com/office/drawing/2014/main" val="20006"/>
                    </a:ext>
                  </a:extLst>
                </a:gridCol>
                <a:gridCol w="801687">
                  <a:extLst>
                    <a:ext uri="{9D8B030D-6E8A-4147-A177-3AD203B41FA5}">
                      <a16:colId xmlns:a16="http://schemas.microsoft.com/office/drawing/2014/main" val="20007"/>
                    </a:ext>
                  </a:extLst>
                </a:gridCol>
              </a:tblGrid>
              <a:tr h="5793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Multi-plicity</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Wyckoff </a:t>
                      </a:r>
                      <a:br>
                        <a:rPr kumimoji="0" lang="en-US" sz="1600" b="0" i="0" u="none" strike="noStrike" cap="none" normalizeH="0" baseline="0">
                          <a:ln>
                            <a:noFill/>
                          </a:ln>
                          <a:solidFill>
                            <a:schemeClr val="tx1"/>
                          </a:solidFill>
                          <a:effectLst/>
                          <a:latin typeface="Times New Roman" pitchFamily="18" charset="0"/>
                        </a:rPr>
                      </a:br>
                      <a:r>
                        <a:rPr kumimoji="0" lang="en-US" sz="1600" b="0" i="0" u="none" strike="noStrike" cap="none" normalizeH="0" baseline="0">
                          <a:ln>
                            <a:noFill/>
                          </a:ln>
                          <a:solidFill>
                            <a:schemeClr val="tx1"/>
                          </a:solidFill>
                          <a:effectLst/>
                          <a:latin typeface="Times New Roman" pitchFamily="18" charset="0"/>
                        </a:rPr>
                        <a:t>letter</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Site symmetry</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rPr>
                        <a:t>Coordinates</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3523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8</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g</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C3300"/>
                          </a:solidFill>
                          <a:effectLst/>
                          <a:latin typeface="Arial" charset="0"/>
                        </a:rPr>
                        <a:t>Area</a:t>
                      </a:r>
                    </a:p>
                  </a:txBody>
                  <a:tcPr marT="45714" marB="45714"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(x,y)</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(-x,-y)</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(-y,x)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(y,-x)</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35">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(-x,y)</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(x,-y)</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(y,x)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((-y,-x)</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3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f</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C3300"/>
                          </a:solidFill>
                          <a:effectLst/>
                          <a:latin typeface="Arial" charset="0"/>
                        </a:rPr>
                        <a:t>Lines </a:t>
                      </a:r>
                    </a:p>
                  </a:txBody>
                  <a:tcPr marT="45714" marB="45714"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(-x,x)</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77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e</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v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x</a:t>
                      </a: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x</a:t>
                      </a:r>
                      <a:r>
                        <a:rPr kumimoji="0" lang="en-US" sz="1600" b="0" i="0" u="none" strike="noStrike" cap="none" normalizeH="0" baseline="0">
                          <a:ln>
                            <a:noFill/>
                          </a:ln>
                          <a:solidFill>
                            <a:schemeClr val="tx1"/>
                          </a:solidFill>
                          <a:effectLst/>
                          <a:latin typeface="Arial" charset="0"/>
                        </a:rPr>
                        <a:t>, </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,-x)</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3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d</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v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x</a:t>
                      </a: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0</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x</a:t>
                      </a: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0</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(0,x)</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(0,-x)</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77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c</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CC3300"/>
                          </a:solidFill>
                          <a:effectLst/>
                          <a:latin typeface="Arial" charset="0"/>
                        </a:rPr>
                        <a:t>Points</a:t>
                      </a:r>
                    </a:p>
                  </a:txBody>
                  <a:tcPr marT="45714" marB="45714" vert="eaVert"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2mm.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0</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(0,</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3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b</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v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4mm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r>
                        <a:rPr kumimoji="0" lang="en-US" sz="1600" b="0" i="0" u="none" strike="noStrike" cap="none" normalizeH="0" baseline="0">
                          <a:ln>
                            <a:noFill/>
                          </a:ln>
                          <a:solidFill>
                            <a:schemeClr val="tx1"/>
                          </a:solidFill>
                          <a:effectLst/>
                          <a:latin typeface="Arial" charset="0"/>
                          <a:cs typeface="Times New Roman" pitchFamily="18" charset="0"/>
                        </a:rPr>
                        <a:t>½</a:t>
                      </a:r>
                      <a:r>
                        <a:rPr kumimoji="0" lang="en-US" sz="1600" b="0" i="0" u="none" strike="noStrike" cap="none" normalizeH="0" baseline="0">
                          <a:ln>
                            <a:noFill/>
                          </a:ln>
                          <a:solidFill>
                            <a:schemeClr val="tx1"/>
                          </a:solidFill>
                          <a:effectLst/>
                          <a:latin typeface="Arial" charset="0"/>
                        </a:rPr>
                        <a:t>)</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777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1</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663300"/>
                          </a:solidFill>
                          <a:effectLst/>
                          <a:latin typeface="Arial" charset="0"/>
                        </a:rPr>
                        <a:t>a</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vMerge="1">
                  <a:txBody>
                    <a:bodyPr/>
                    <a:lstStyle/>
                    <a:p>
                      <a:endParaRPr lang="en-I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4mm</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2856" name="Text Box 88"/>
          <p:cNvSpPr txBox="1">
            <a:spLocks noChangeArrowheads="1"/>
          </p:cNvSpPr>
          <p:nvPr/>
        </p:nvSpPr>
        <p:spPr bwMode="auto">
          <a:xfrm>
            <a:off x="387350" y="2551113"/>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a</a:t>
            </a:r>
          </a:p>
        </p:txBody>
      </p:sp>
      <p:sp>
        <p:nvSpPr>
          <p:cNvPr id="32857" name="Text Box 89"/>
          <p:cNvSpPr txBox="1">
            <a:spLocks noChangeArrowheads="1"/>
          </p:cNvSpPr>
          <p:nvPr/>
        </p:nvSpPr>
        <p:spPr bwMode="auto">
          <a:xfrm>
            <a:off x="1373188" y="1498600"/>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b</a:t>
            </a:r>
          </a:p>
        </p:txBody>
      </p:sp>
      <p:sp>
        <p:nvSpPr>
          <p:cNvPr id="32858" name="Text Box 90"/>
          <p:cNvSpPr txBox="1">
            <a:spLocks noChangeArrowheads="1"/>
          </p:cNvSpPr>
          <p:nvPr/>
        </p:nvSpPr>
        <p:spPr bwMode="auto">
          <a:xfrm>
            <a:off x="1373188" y="2544763"/>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c</a:t>
            </a:r>
          </a:p>
        </p:txBody>
      </p:sp>
      <p:sp>
        <p:nvSpPr>
          <p:cNvPr id="32859" name="Text Box 91"/>
          <p:cNvSpPr txBox="1">
            <a:spLocks noChangeArrowheads="1"/>
          </p:cNvSpPr>
          <p:nvPr/>
        </p:nvSpPr>
        <p:spPr bwMode="auto">
          <a:xfrm>
            <a:off x="387350" y="2032000"/>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d</a:t>
            </a:r>
          </a:p>
        </p:txBody>
      </p:sp>
      <p:sp>
        <p:nvSpPr>
          <p:cNvPr id="32860" name="Text Box 92"/>
          <p:cNvSpPr txBox="1">
            <a:spLocks noChangeArrowheads="1"/>
          </p:cNvSpPr>
          <p:nvPr/>
        </p:nvSpPr>
        <p:spPr bwMode="auto">
          <a:xfrm>
            <a:off x="1371600" y="1012825"/>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e</a:t>
            </a:r>
          </a:p>
        </p:txBody>
      </p:sp>
      <p:sp>
        <p:nvSpPr>
          <p:cNvPr id="32861" name="Text Box 93"/>
          <p:cNvSpPr txBox="1">
            <a:spLocks noChangeArrowheads="1"/>
          </p:cNvSpPr>
          <p:nvPr/>
        </p:nvSpPr>
        <p:spPr bwMode="auto">
          <a:xfrm>
            <a:off x="1987550" y="874713"/>
            <a:ext cx="204788" cy="244475"/>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1600">
                <a:solidFill>
                  <a:schemeClr val="bg1"/>
                </a:solidFill>
                <a:latin typeface="Times New Roman" pitchFamily="18" charset="0"/>
              </a:rPr>
              <a:t>f</a:t>
            </a:r>
          </a:p>
        </p:txBody>
      </p:sp>
      <p:sp>
        <p:nvSpPr>
          <p:cNvPr id="32862" name="AutoShape 94"/>
          <p:cNvSpPr>
            <a:spLocks noChangeArrowheads="1"/>
          </p:cNvSpPr>
          <p:nvPr/>
        </p:nvSpPr>
        <p:spPr bwMode="auto">
          <a:xfrm rot="10800000">
            <a:off x="809625" y="5854700"/>
            <a:ext cx="2098675" cy="698500"/>
          </a:xfrm>
          <a:prstGeom prst="wedgeRectCallout">
            <a:avLst>
              <a:gd name="adj1" fmla="val -76477"/>
              <a:gd name="adj2" fmla="val 124995"/>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lIns="45720" rIns="45720"/>
          <a:lstStyle/>
          <a:p>
            <a:pPr algn="ctr" eaLnBrk="0" hangingPunct="0"/>
            <a:r>
              <a:rPr lang="en-US">
                <a:latin typeface="Times New Roman" pitchFamily="18" charset="0"/>
              </a:rPr>
              <a:t>Number of </a:t>
            </a:r>
            <a:br>
              <a:rPr lang="en-US">
                <a:latin typeface="Times New Roman" pitchFamily="18" charset="0"/>
              </a:rPr>
            </a:br>
            <a:r>
              <a:rPr lang="en-US">
                <a:latin typeface="Times New Roman" pitchFamily="18" charset="0"/>
              </a:rPr>
              <a:t>Identi-points</a:t>
            </a:r>
          </a:p>
        </p:txBody>
      </p:sp>
      <p:cxnSp>
        <p:nvCxnSpPr>
          <p:cNvPr id="32863" name="AutoShape 95"/>
          <p:cNvCxnSpPr>
            <a:cxnSpLocks noChangeShapeType="1"/>
            <a:stCxn id="32868" idx="3"/>
          </p:cNvCxnSpPr>
          <p:nvPr/>
        </p:nvCxnSpPr>
        <p:spPr bwMode="auto">
          <a:xfrm flipV="1">
            <a:off x="9051925" y="5292725"/>
            <a:ext cx="15875" cy="542925"/>
          </a:xfrm>
          <a:prstGeom prst="straightConnector1">
            <a:avLst/>
          </a:prstGeom>
          <a:noFill/>
          <a:ln w="952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2864" name="Group 96"/>
          <p:cNvGrpSpPr>
            <a:grpSpLocks/>
          </p:cNvGrpSpPr>
          <p:nvPr/>
        </p:nvGrpSpPr>
        <p:grpSpPr bwMode="auto">
          <a:xfrm>
            <a:off x="3775075" y="5759450"/>
            <a:ext cx="5276850" cy="1016000"/>
            <a:chOff x="2378" y="3628"/>
            <a:chExt cx="3324" cy="640"/>
          </a:xfrm>
        </p:grpSpPr>
        <p:sp>
          <p:nvSpPr>
            <p:cNvPr id="32866" name="Text Box 97"/>
            <p:cNvSpPr txBox="1">
              <a:spLocks noChangeArrowheads="1"/>
            </p:cNvSpPr>
            <p:nvPr/>
          </p:nvSpPr>
          <p:spPr bwMode="auto">
            <a:xfrm>
              <a:off x="2380" y="3664"/>
              <a:ext cx="3322" cy="604"/>
            </a:xfrm>
            <a:prstGeom prst="rect">
              <a:avLst/>
            </a:prstGeom>
            <a:solidFill>
              <a:srgbClr val="E5FFE5"/>
            </a:solidFill>
            <a:ln w="254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atin typeface="Times New Roman" pitchFamily="18" charset="0"/>
                </a:rPr>
                <a:t>Any site of lower symmetry should exclude site(s) of higher symmetry </a:t>
              </a:r>
              <a:r>
                <a:rPr lang="en-US" i="1">
                  <a:latin typeface="Times New Roman" pitchFamily="18" charset="0"/>
                </a:rPr>
                <a:t>[e.g. (x,x) in site</a:t>
              </a:r>
              <a:r>
                <a:rPr lang="en-US" b="1" i="1">
                  <a:solidFill>
                    <a:srgbClr val="660066"/>
                  </a:solidFill>
                  <a:latin typeface="Times New Roman" pitchFamily="18" charset="0"/>
                </a:rPr>
                <a:t> f </a:t>
              </a:r>
              <a:r>
                <a:rPr lang="en-US" i="1">
                  <a:latin typeface="Times New Roman" pitchFamily="18" charset="0"/>
                </a:rPr>
                <a:t>cannot take values (0,0) or (½, ½)]</a:t>
              </a:r>
              <a:endParaRPr lang="en-US">
                <a:latin typeface="Times New Roman" pitchFamily="18" charset="0"/>
              </a:endParaRPr>
            </a:p>
            <a:p>
              <a:pPr eaLnBrk="1" hangingPunct="1">
                <a:spcBef>
                  <a:spcPct val="50000"/>
                </a:spcBef>
              </a:pPr>
              <a:endParaRPr lang="en-US">
                <a:latin typeface="Times New Roman" pitchFamily="18" charset="0"/>
              </a:endParaRPr>
            </a:p>
          </p:txBody>
        </p:sp>
        <p:sp>
          <p:nvSpPr>
            <p:cNvPr id="32867" name="Rectangle 98"/>
            <p:cNvSpPr>
              <a:spLocks noChangeArrowheads="1"/>
            </p:cNvSpPr>
            <p:nvPr/>
          </p:nvSpPr>
          <p:spPr bwMode="auto">
            <a:xfrm>
              <a:off x="2378" y="3628"/>
              <a:ext cx="74" cy="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2868" name="Rectangle 99"/>
            <p:cNvSpPr>
              <a:spLocks noChangeArrowheads="1"/>
            </p:cNvSpPr>
            <p:nvPr/>
          </p:nvSpPr>
          <p:spPr bwMode="auto">
            <a:xfrm>
              <a:off x="5628" y="3648"/>
              <a:ext cx="74" cy="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2865" name="Text Box 100"/>
          <p:cNvSpPr txBox="1">
            <a:spLocks noChangeArrowheads="1"/>
          </p:cNvSpPr>
          <p:nvPr/>
        </p:nvSpPr>
        <p:spPr bwMode="auto">
          <a:xfrm>
            <a:off x="565150" y="981075"/>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794" name="AutoShape 2"/>
          <p:cNvCxnSpPr>
            <a:cxnSpLocks noChangeShapeType="1"/>
            <a:stCxn id="33821" idx="5"/>
            <a:endCxn id="33826" idx="1"/>
          </p:cNvCxnSpPr>
          <p:nvPr/>
        </p:nvCxnSpPr>
        <p:spPr bwMode="auto">
          <a:xfrm>
            <a:off x="3833813" y="3554413"/>
            <a:ext cx="1054100" cy="1084262"/>
          </a:xfrm>
          <a:prstGeom prst="straightConnector1">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795" name="AutoShape 3"/>
          <p:cNvCxnSpPr>
            <a:cxnSpLocks noChangeShapeType="1"/>
            <a:stCxn id="33824" idx="7"/>
            <a:endCxn id="33825" idx="3"/>
          </p:cNvCxnSpPr>
          <p:nvPr/>
        </p:nvCxnSpPr>
        <p:spPr bwMode="auto">
          <a:xfrm flipV="1">
            <a:off x="3830638" y="3549650"/>
            <a:ext cx="1060450" cy="1093788"/>
          </a:xfrm>
          <a:prstGeom prst="straightConnector1">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37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013" y="228600"/>
            <a:ext cx="2587625"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7" name="Text Box 5"/>
          <p:cNvSpPr txBox="1">
            <a:spLocks noChangeArrowheads="1"/>
          </p:cNvSpPr>
          <p:nvPr/>
        </p:nvSpPr>
        <p:spPr bwMode="auto">
          <a:xfrm>
            <a:off x="3481388" y="2497138"/>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a</a:t>
            </a:r>
          </a:p>
        </p:txBody>
      </p:sp>
      <p:sp>
        <p:nvSpPr>
          <p:cNvPr id="33798" name="Text Box 6"/>
          <p:cNvSpPr txBox="1">
            <a:spLocks noChangeArrowheads="1"/>
          </p:cNvSpPr>
          <p:nvPr/>
        </p:nvSpPr>
        <p:spPr bwMode="auto">
          <a:xfrm>
            <a:off x="4467225" y="1444625"/>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b</a:t>
            </a:r>
          </a:p>
        </p:txBody>
      </p:sp>
      <p:sp>
        <p:nvSpPr>
          <p:cNvPr id="33799" name="Text Box 7"/>
          <p:cNvSpPr txBox="1">
            <a:spLocks noChangeArrowheads="1"/>
          </p:cNvSpPr>
          <p:nvPr/>
        </p:nvSpPr>
        <p:spPr bwMode="auto">
          <a:xfrm>
            <a:off x="4467225" y="2490788"/>
            <a:ext cx="204788"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c</a:t>
            </a:r>
          </a:p>
        </p:txBody>
      </p:sp>
      <p:sp>
        <p:nvSpPr>
          <p:cNvPr id="33800" name="Text Box 8"/>
          <p:cNvSpPr txBox="1">
            <a:spLocks noChangeArrowheads="1"/>
          </p:cNvSpPr>
          <p:nvPr/>
        </p:nvSpPr>
        <p:spPr bwMode="auto">
          <a:xfrm>
            <a:off x="3481388" y="1978025"/>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d</a:t>
            </a:r>
          </a:p>
        </p:txBody>
      </p:sp>
      <p:sp>
        <p:nvSpPr>
          <p:cNvPr id="33801" name="Text Box 9"/>
          <p:cNvSpPr txBox="1">
            <a:spLocks noChangeArrowheads="1"/>
          </p:cNvSpPr>
          <p:nvPr/>
        </p:nvSpPr>
        <p:spPr bwMode="auto">
          <a:xfrm>
            <a:off x="4465638" y="958850"/>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e</a:t>
            </a:r>
          </a:p>
        </p:txBody>
      </p:sp>
      <p:sp>
        <p:nvSpPr>
          <p:cNvPr id="33802" name="Text Box 10"/>
          <p:cNvSpPr txBox="1">
            <a:spLocks noChangeArrowheads="1"/>
          </p:cNvSpPr>
          <p:nvPr/>
        </p:nvSpPr>
        <p:spPr bwMode="auto">
          <a:xfrm>
            <a:off x="5081588" y="820738"/>
            <a:ext cx="204787" cy="244475"/>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1600">
                <a:solidFill>
                  <a:schemeClr val="bg1"/>
                </a:solidFill>
                <a:latin typeface="Times New Roman" pitchFamily="18" charset="0"/>
              </a:rPr>
              <a:t>f</a:t>
            </a:r>
          </a:p>
        </p:txBody>
      </p:sp>
      <p:sp>
        <p:nvSpPr>
          <p:cNvPr id="33803" name="Rectangle 11"/>
          <p:cNvSpPr>
            <a:spLocks noChangeArrowheads="1"/>
          </p:cNvSpPr>
          <p:nvPr/>
        </p:nvSpPr>
        <p:spPr bwMode="auto">
          <a:xfrm>
            <a:off x="280988" y="3459163"/>
            <a:ext cx="1122362" cy="1166812"/>
          </a:xfrm>
          <a:prstGeom prst="rect">
            <a:avLst/>
          </a:prstGeom>
          <a:noFill/>
          <a:ln w="1905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04" name="Oval 12"/>
          <p:cNvSpPr>
            <a:spLocks noChangeArrowheads="1"/>
          </p:cNvSpPr>
          <p:nvPr/>
        </p:nvSpPr>
        <p:spPr bwMode="auto">
          <a:xfrm>
            <a:off x="236538" y="3411538"/>
            <a:ext cx="90487"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05" name="Oval 13"/>
          <p:cNvSpPr>
            <a:spLocks noChangeArrowheads="1"/>
          </p:cNvSpPr>
          <p:nvPr/>
        </p:nvSpPr>
        <p:spPr bwMode="auto">
          <a:xfrm>
            <a:off x="234950" y="3995738"/>
            <a:ext cx="90488"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3806" name="AutoShape 14"/>
          <p:cNvCxnSpPr>
            <a:cxnSpLocks noChangeShapeType="1"/>
            <a:stCxn id="33803" idx="2"/>
            <a:endCxn id="33803" idx="0"/>
          </p:cNvCxnSpPr>
          <p:nvPr/>
        </p:nvCxnSpPr>
        <p:spPr bwMode="auto">
          <a:xfrm flipV="1">
            <a:off x="842963" y="3449638"/>
            <a:ext cx="0" cy="1185862"/>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07" name="AutoShape 15"/>
          <p:cNvCxnSpPr>
            <a:cxnSpLocks noChangeShapeType="1"/>
            <a:stCxn id="33803" idx="3"/>
          </p:cNvCxnSpPr>
          <p:nvPr/>
        </p:nvCxnSpPr>
        <p:spPr bwMode="auto">
          <a:xfrm flipH="1" flipV="1">
            <a:off x="273050" y="4037013"/>
            <a:ext cx="1139825" cy="635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08" name="Oval 16"/>
          <p:cNvSpPr>
            <a:spLocks noChangeArrowheads="1"/>
          </p:cNvSpPr>
          <p:nvPr/>
        </p:nvSpPr>
        <p:spPr bwMode="auto">
          <a:xfrm>
            <a:off x="233363" y="4584700"/>
            <a:ext cx="90487"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09" name="Oval 17"/>
          <p:cNvSpPr>
            <a:spLocks noChangeArrowheads="1"/>
          </p:cNvSpPr>
          <p:nvPr/>
        </p:nvSpPr>
        <p:spPr bwMode="auto">
          <a:xfrm>
            <a:off x="1358900" y="3406775"/>
            <a:ext cx="90488"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0" name="Oval 18"/>
          <p:cNvSpPr>
            <a:spLocks noChangeArrowheads="1"/>
          </p:cNvSpPr>
          <p:nvPr/>
        </p:nvSpPr>
        <p:spPr bwMode="auto">
          <a:xfrm>
            <a:off x="1357313" y="3990975"/>
            <a:ext cx="90487"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1" name="Oval 19"/>
          <p:cNvSpPr>
            <a:spLocks noChangeArrowheads="1"/>
          </p:cNvSpPr>
          <p:nvPr/>
        </p:nvSpPr>
        <p:spPr bwMode="auto">
          <a:xfrm>
            <a:off x="1355725" y="4579938"/>
            <a:ext cx="90488"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2" name="Oval 20"/>
          <p:cNvSpPr>
            <a:spLocks noChangeArrowheads="1"/>
          </p:cNvSpPr>
          <p:nvPr/>
        </p:nvSpPr>
        <p:spPr bwMode="auto">
          <a:xfrm>
            <a:off x="806450" y="3419475"/>
            <a:ext cx="90488"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3" name="Oval 21"/>
          <p:cNvSpPr>
            <a:spLocks noChangeArrowheads="1"/>
          </p:cNvSpPr>
          <p:nvPr/>
        </p:nvSpPr>
        <p:spPr bwMode="auto">
          <a:xfrm>
            <a:off x="803275" y="4592638"/>
            <a:ext cx="90488"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14" name="Text Box 22"/>
          <p:cNvSpPr txBox="1">
            <a:spLocks noChangeArrowheads="1"/>
          </p:cNvSpPr>
          <p:nvPr/>
        </p:nvSpPr>
        <p:spPr bwMode="auto">
          <a:xfrm>
            <a:off x="185738" y="4167188"/>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d</a:t>
            </a:r>
          </a:p>
        </p:txBody>
      </p:sp>
      <p:sp>
        <p:nvSpPr>
          <p:cNvPr id="33815" name="Text Box 23"/>
          <p:cNvSpPr txBox="1">
            <a:spLocks noChangeArrowheads="1"/>
          </p:cNvSpPr>
          <p:nvPr/>
        </p:nvSpPr>
        <p:spPr bwMode="auto">
          <a:xfrm>
            <a:off x="1827213" y="3746500"/>
            <a:ext cx="1181100" cy="520700"/>
          </a:xfrm>
          <a:prstGeom prst="rect">
            <a:avLst/>
          </a:prstGeom>
          <a:noFill/>
          <a:ln w="317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1400">
                <a:latin typeface="Times New Roman" pitchFamily="18" charset="0"/>
                <a:cs typeface="Times New Roman" pitchFamily="18" charset="0"/>
              </a:rPr>
              <a:t>Exclude these</a:t>
            </a:r>
            <a:br>
              <a:rPr lang="en-US" sz="1400">
                <a:latin typeface="Times New Roman" pitchFamily="18" charset="0"/>
                <a:cs typeface="Times New Roman" pitchFamily="18" charset="0"/>
              </a:rPr>
            </a:br>
            <a:r>
              <a:rPr lang="en-US" sz="1400">
                <a:latin typeface="Times New Roman" pitchFamily="18" charset="0"/>
                <a:cs typeface="Times New Roman" pitchFamily="18" charset="0"/>
              </a:rPr>
              <a:t>points</a:t>
            </a:r>
          </a:p>
        </p:txBody>
      </p:sp>
      <p:cxnSp>
        <p:nvCxnSpPr>
          <p:cNvPr id="33816" name="AutoShape 24"/>
          <p:cNvCxnSpPr>
            <a:cxnSpLocks noChangeShapeType="1"/>
            <a:stCxn id="33809" idx="4"/>
            <a:endCxn id="33815" idx="1"/>
          </p:cNvCxnSpPr>
          <p:nvPr/>
        </p:nvCxnSpPr>
        <p:spPr bwMode="auto">
          <a:xfrm>
            <a:off x="1404938" y="3506788"/>
            <a:ext cx="422275" cy="500062"/>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17" name="AutoShape 25"/>
          <p:cNvCxnSpPr>
            <a:cxnSpLocks noChangeShapeType="1"/>
            <a:stCxn id="33810" idx="6"/>
            <a:endCxn id="33815" idx="1"/>
          </p:cNvCxnSpPr>
          <p:nvPr/>
        </p:nvCxnSpPr>
        <p:spPr bwMode="auto">
          <a:xfrm flipV="1">
            <a:off x="1457325" y="4006850"/>
            <a:ext cx="369888" cy="30163"/>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18" name="AutoShape 26"/>
          <p:cNvCxnSpPr>
            <a:cxnSpLocks noChangeShapeType="1"/>
            <a:stCxn id="33811" idx="7"/>
            <a:endCxn id="33815" idx="1"/>
          </p:cNvCxnSpPr>
          <p:nvPr/>
        </p:nvCxnSpPr>
        <p:spPr bwMode="auto">
          <a:xfrm flipV="1">
            <a:off x="1433513" y="4006850"/>
            <a:ext cx="393700" cy="576263"/>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19" name="Text Box 27"/>
          <p:cNvSpPr txBox="1">
            <a:spLocks noChangeArrowheads="1"/>
          </p:cNvSpPr>
          <p:nvPr/>
        </p:nvSpPr>
        <p:spPr bwMode="auto">
          <a:xfrm>
            <a:off x="3659188" y="927100"/>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g</a:t>
            </a:r>
          </a:p>
        </p:txBody>
      </p:sp>
      <p:sp>
        <p:nvSpPr>
          <p:cNvPr id="33820" name="Rectangle 28"/>
          <p:cNvSpPr>
            <a:spLocks noChangeArrowheads="1"/>
          </p:cNvSpPr>
          <p:nvPr/>
        </p:nvSpPr>
        <p:spPr bwMode="auto">
          <a:xfrm>
            <a:off x="3800475" y="3514725"/>
            <a:ext cx="1122363" cy="1166813"/>
          </a:xfrm>
          <a:prstGeom prst="rect">
            <a:avLst/>
          </a:prstGeom>
          <a:noFill/>
          <a:ln w="6350"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21" name="Oval 29"/>
          <p:cNvSpPr>
            <a:spLocks noChangeArrowheads="1"/>
          </p:cNvSpPr>
          <p:nvPr/>
        </p:nvSpPr>
        <p:spPr bwMode="auto">
          <a:xfrm>
            <a:off x="3756025" y="3467100"/>
            <a:ext cx="90488"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3822" name="AutoShape 30"/>
          <p:cNvCxnSpPr>
            <a:cxnSpLocks noChangeShapeType="1"/>
            <a:stCxn id="33820" idx="2"/>
            <a:endCxn id="33820" idx="0"/>
          </p:cNvCxnSpPr>
          <p:nvPr/>
        </p:nvCxnSpPr>
        <p:spPr bwMode="auto">
          <a:xfrm flipV="1">
            <a:off x="4362450" y="3514725"/>
            <a:ext cx="0" cy="1166813"/>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23" name="AutoShape 31"/>
          <p:cNvCxnSpPr>
            <a:cxnSpLocks noChangeShapeType="1"/>
            <a:stCxn id="33820" idx="3"/>
          </p:cNvCxnSpPr>
          <p:nvPr/>
        </p:nvCxnSpPr>
        <p:spPr bwMode="auto">
          <a:xfrm flipH="1" flipV="1">
            <a:off x="3783013" y="4092575"/>
            <a:ext cx="1139825" cy="6350"/>
          </a:xfrm>
          <a:prstGeom prst="straightConnector1">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24" name="Oval 32"/>
          <p:cNvSpPr>
            <a:spLocks noChangeArrowheads="1"/>
          </p:cNvSpPr>
          <p:nvPr/>
        </p:nvSpPr>
        <p:spPr bwMode="auto">
          <a:xfrm>
            <a:off x="3752850" y="4640263"/>
            <a:ext cx="90488"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25" name="Oval 33"/>
          <p:cNvSpPr>
            <a:spLocks noChangeArrowheads="1"/>
          </p:cNvSpPr>
          <p:nvPr/>
        </p:nvSpPr>
        <p:spPr bwMode="auto">
          <a:xfrm>
            <a:off x="4878388" y="3462338"/>
            <a:ext cx="90487"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26" name="Oval 34"/>
          <p:cNvSpPr>
            <a:spLocks noChangeArrowheads="1"/>
          </p:cNvSpPr>
          <p:nvPr/>
        </p:nvSpPr>
        <p:spPr bwMode="auto">
          <a:xfrm>
            <a:off x="4875213" y="4635500"/>
            <a:ext cx="90487"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27" name="Oval 35"/>
          <p:cNvSpPr>
            <a:spLocks noChangeArrowheads="1"/>
          </p:cNvSpPr>
          <p:nvPr/>
        </p:nvSpPr>
        <p:spPr bwMode="auto">
          <a:xfrm>
            <a:off x="4308475" y="4044950"/>
            <a:ext cx="90488"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28" name="Text Box 36"/>
          <p:cNvSpPr txBox="1">
            <a:spLocks noChangeArrowheads="1"/>
          </p:cNvSpPr>
          <p:nvPr/>
        </p:nvSpPr>
        <p:spPr bwMode="auto">
          <a:xfrm>
            <a:off x="5346700" y="3802063"/>
            <a:ext cx="1181100" cy="520700"/>
          </a:xfrm>
          <a:prstGeom prst="rect">
            <a:avLst/>
          </a:prstGeom>
          <a:noFill/>
          <a:ln w="317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1400">
                <a:latin typeface="Times New Roman" pitchFamily="18" charset="0"/>
                <a:cs typeface="Times New Roman" pitchFamily="18" charset="0"/>
              </a:rPr>
              <a:t>Exclude these</a:t>
            </a:r>
            <a:br>
              <a:rPr lang="en-US" sz="1400">
                <a:latin typeface="Times New Roman" pitchFamily="18" charset="0"/>
                <a:cs typeface="Times New Roman" pitchFamily="18" charset="0"/>
              </a:rPr>
            </a:br>
            <a:r>
              <a:rPr lang="en-US" sz="1400">
                <a:latin typeface="Times New Roman" pitchFamily="18" charset="0"/>
                <a:cs typeface="Times New Roman" pitchFamily="18" charset="0"/>
              </a:rPr>
              <a:t>points</a:t>
            </a:r>
          </a:p>
        </p:txBody>
      </p:sp>
      <p:cxnSp>
        <p:nvCxnSpPr>
          <p:cNvPr id="33829" name="AutoShape 37"/>
          <p:cNvCxnSpPr>
            <a:cxnSpLocks noChangeShapeType="1"/>
            <a:stCxn id="33825" idx="4"/>
            <a:endCxn id="33828" idx="1"/>
          </p:cNvCxnSpPr>
          <p:nvPr/>
        </p:nvCxnSpPr>
        <p:spPr bwMode="auto">
          <a:xfrm>
            <a:off x="4924425" y="3562350"/>
            <a:ext cx="422275" cy="500063"/>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0" name="AutoShape 38"/>
          <p:cNvCxnSpPr>
            <a:cxnSpLocks noChangeShapeType="1"/>
            <a:stCxn id="33827" idx="6"/>
            <a:endCxn id="33828" idx="1"/>
          </p:cNvCxnSpPr>
          <p:nvPr/>
        </p:nvCxnSpPr>
        <p:spPr bwMode="auto">
          <a:xfrm flipV="1">
            <a:off x="4408488" y="4062413"/>
            <a:ext cx="938212" cy="28575"/>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1" name="AutoShape 39"/>
          <p:cNvCxnSpPr>
            <a:cxnSpLocks noChangeShapeType="1"/>
            <a:stCxn id="33826" idx="7"/>
            <a:endCxn id="33828" idx="1"/>
          </p:cNvCxnSpPr>
          <p:nvPr/>
        </p:nvCxnSpPr>
        <p:spPr bwMode="auto">
          <a:xfrm flipV="1">
            <a:off x="4953000" y="4062413"/>
            <a:ext cx="393700" cy="576262"/>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32" name="Text Box 40"/>
          <p:cNvSpPr txBox="1">
            <a:spLocks noChangeArrowheads="1"/>
          </p:cNvSpPr>
          <p:nvPr/>
        </p:nvSpPr>
        <p:spPr bwMode="auto">
          <a:xfrm>
            <a:off x="4568825" y="3652838"/>
            <a:ext cx="204788" cy="244475"/>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1600">
                <a:solidFill>
                  <a:schemeClr val="bg1"/>
                </a:solidFill>
                <a:latin typeface="Times New Roman" pitchFamily="18" charset="0"/>
              </a:rPr>
              <a:t>f</a:t>
            </a:r>
          </a:p>
        </p:txBody>
      </p:sp>
      <p:sp>
        <p:nvSpPr>
          <p:cNvPr id="33833" name="Rectangle 41"/>
          <p:cNvSpPr>
            <a:spLocks noChangeArrowheads="1"/>
          </p:cNvSpPr>
          <p:nvPr/>
        </p:nvSpPr>
        <p:spPr bwMode="auto">
          <a:xfrm>
            <a:off x="1970088" y="5307013"/>
            <a:ext cx="1122362" cy="1166812"/>
          </a:xfrm>
          <a:prstGeom prst="rect">
            <a:avLst/>
          </a:prstGeom>
          <a:noFill/>
          <a:ln w="6350" cap="rnd">
            <a:solidFill>
              <a:schemeClr val="tx1"/>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3834" name="AutoShape 42"/>
          <p:cNvCxnSpPr>
            <a:cxnSpLocks noChangeShapeType="1"/>
            <a:stCxn id="33833" idx="2"/>
            <a:endCxn id="33833" idx="0"/>
          </p:cNvCxnSpPr>
          <p:nvPr/>
        </p:nvCxnSpPr>
        <p:spPr bwMode="auto">
          <a:xfrm flipV="1">
            <a:off x="2532063" y="5307013"/>
            <a:ext cx="0" cy="1166812"/>
          </a:xfrm>
          <a:prstGeom prst="straightConnector1">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35" name="AutoShape 43"/>
          <p:cNvCxnSpPr>
            <a:cxnSpLocks noChangeShapeType="1"/>
            <a:stCxn id="33833" idx="3"/>
          </p:cNvCxnSpPr>
          <p:nvPr/>
        </p:nvCxnSpPr>
        <p:spPr bwMode="auto">
          <a:xfrm flipH="1" flipV="1">
            <a:off x="1952625" y="5884863"/>
            <a:ext cx="1139825" cy="6350"/>
          </a:xfrm>
          <a:prstGeom prst="straightConnector1">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36" name="Oval 44"/>
          <p:cNvSpPr>
            <a:spLocks noChangeArrowheads="1"/>
          </p:cNvSpPr>
          <p:nvPr/>
        </p:nvSpPr>
        <p:spPr bwMode="auto">
          <a:xfrm>
            <a:off x="3036888" y="5854700"/>
            <a:ext cx="90487"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37" name="Oval 45"/>
          <p:cNvSpPr>
            <a:spLocks noChangeArrowheads="1"/>
          </p:cNvSpPr>
          <p:nvPr/>
        </p:nvSpPr>
        <p:spPr bwMode="auto">
          <a:xfrm>
            <a:off x="2476500" y="5264150"/>
            <a:ext cx="90488" cy="90488"/>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38" name="Oval 46"/>
          <p:cNvSpPr>
            <a:spLocks noChangeArrowheads="1"/>
          </p:cNvSpPr>
          <p:nvPr/>
        </p:nvSpPr>
        <p:spPr bwMode="auto">
          <a:xfrm>
            <a:off x="2481263" y="6430963"/>
            <a:ext cx="90487"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39" name="Oval 47"/>
          <p:cNvSpPr>
            <a:spLocks noChangeArrowheads="1"/>
          </p:cNvSpPr>
          <p:nvPr/>
        </p:nvSpPr>
        <p:spPr bwMode="auto">
          <a:xfrm>
            <a:off x="2478088" y="5837238"/>
            <a:ext cx="90487"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40" name="Text Box 48"/>
          <p:cNvSpPr txBox="1">
            <a:spLocks noChangeArrowheads="1"/>
          </p:cNvSpPr>
          <p:nvPr/>
        </p:nvSpPr>
        <p:spPr bwMode="auto">
          <a:xfrm>
            <a:off x="3516313" y="5594350"/>
            <a:ext cx="1181100" cy="520700"/>
          </a:xfrm>
          <a:prstGeom prst="rect">
            <a:avLst/>
          </a:prstGeom>
          <a:noFill/>
          <a:ln w="317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1400">
                <a:latin typeface="Times New Roman" pitchFamily="18" charset="0"/>
                <a:cs typeface="Times New Roman" pitchFamily="18" charset="0"/>
              </a:rPr>
              <a:t>Exclude these</a:t>
            </a:r>
            <a:br>
              <a:rPr lang="en-US" sz="1400">
                <a:latin typeface="Times New Roman" pitchFamily="18" charset="0"/>
                <a:cs typeface="Times New Roman" pitchFamily="18" charset="0"/>
              </a:rPr>
            </a:br>
            <a:r>
              <a:rPr lang="en-US" sz="1400">
                <a:latin typeface="Times New Roman" pitchFamily="18" charset="0"/>
                <a:cs typeface="Times New Roman" pitchFamily="18" charset="0"/>
              </a:rPr>
              <a:t>points</a:t>
            </a:r>
          </a:p>
        </p:txBody>
      </p:sp>
      <p:cxnSp>
        <p:nvCxnSpPr>
          <p:cNvPr id="33841" name="AutoShape 49"/>
          <p:cNvCxnSpPr>
            <a:cxnSpLocks noChangeShapeType="1"/>
            <a:stCxn id="33837" idx="6"/>
            <a:endCxn id="33840" idx="1"/>
          </p:cNvCxnSpPr>
          <p:nvPr/>
        </p:nvCxnSpPr>
        <p:spPr bwMode="auto">
          <a:xfrm>
            <a:off x="2576513" y="5310188"/>
            <a:ext cx="939800" cy="544512"/>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2" name="AutoShape 50"/>
          <p:cNvCxnSpPr>
            <a:cxnSpLocks noChangeShapeType="1"/>
            <a:stCxn id="33836" idx="6"/>
            <a:endCxn id="33840" idx="1"/>
          </p:cNvCxnSpPr>
          <p:nvPr/>
        </p:nvCxnSpPr>
        <p:spPr bwMode="auto">
          <a:xfrm flipV="1">
            <a:off x="3136900" y="5854700"/>
            <a:ext cx="379413" cy="46038"/>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843" name="AutoShape 51"/>
          <p:cNvCxnSpPr>
            <a:cxnSpLocks noChangeShapeType="1"/>
            <a:stCxn id="33838" idx="7"/>
            <a:endCxn id="33840" idx="1"/>
          </p:cNvCxnSpPr>
          <p:nvPr/>
        </p:nvCxnSpPr>
        <p:spPr bwMode="auto">
          <a:xfrm flipV="1">
            <a:off x="2559050" y="5854700"/>
            <a:ext cx="957263" cy="579438"/>
          </a:xfrm>
          <a:prstGeom prst="straightConnector1">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44" name="Oval 52"/>
          <p:cNvSpPr>
            <a:spLocks noChangeArrowheads="1"/>
          </p:cNvSpPr>
          <p:nvPr/>
        </p:nvSpPr>
        <p:spPr bwMode="auto">
          <a:xfrm>
            <a:off x="1916113" y="5837238"/>
            <a:ext cx="90487" cy="90487"/>
          </a:xfrm>
          <a:prstGeom prst="ellipse">
            <a:avLst/>
          </a:prstGeom>
          <a:solidFill>
            <a:schemeClr val="bg1"/>
          </a:solidFill>
          <a:ln w="19050">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3845" name="Text Box 53"/>
          <p:cNvSpPr txBox="1">
            <a:spLocks noChangeArrowheads="1"/>
          </p:cNvSpPr>
          <p:nvPr/>
        </p:nvSpPr>
        <p:spPr bwMode="auto">
          <a:xfrm>
            <a:off x="2424113" y="5448300"/>
            <a:ext cx="204787" cy="304800"/>
          </a:xfrm>
          <a:prstGeom prst="rect">
            <a:avLst/>
          </a:prstGeom>
          <a:solidFill>
            <a:srgbClr val="66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sz="2000">
                <a:solidFill>
                  <a:schemeClr val="bg1"/>
                </a:solidFill>
                <a:latin typeface="Times New Roman" pitchFamily="18" charset="0"/>
              </a:rPr>
              <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3"/>
          <p:cNvSpPr txBox="1">
            <a:spLocks noChangeArrowheads="1"/>
          </p:cNvSpPr>
          <p:nvPr/>
        </p:nvSpPr>
        <p:spPr bwMode="auto">
          <a:xfrm>
            <a:off x="377825" y="2716213"/>
            <a:ext cx="1900238" cy="409575"/>
          </a:xfrm>
          <a:prstGeom prst="rect">
            <a:avLst/>
          </a:prstGeom>
          <a:solidFill>
            <a:srgbClr val="CCFFFF"/>
          </a:solid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rgbClr val="0000FF"/>
                </a:solidFill>
                <a:latin typeface="Times New Roman" pitchFamily="18" charset="0"/>
                <a:cs typeface="Times New Roman" pitchFamily="18" charset="0"/>
                <a:sym typeface="Symbol" pitchFamily="18" charset="2"/>
              </a:rPr>
              <a:t>Symmetry of the</a:t>
            </a:r>
          </a:p>
        </p:txBody>
      </p:sp>
      <p:sp>
        <p:nvSpPr>
          <p:cNvPr id="34819" name="Text Box 4"/>
          <p:cNvSpPr txBox="1">
            <a:spLocks noChangeArrowheads="1"/>
          </p:cNvSpPr>
          <p:nvPr/>
        </p:nvSpPr>
        <p:spPr bwMode="auto">
          <a:xfrm>
            <a:off x="2624138" y="2381250"/>
            <a:ext cx="773112" cy="409575"/>
          </a:xfrm>
          <a:prstGeom prst="rect">
            <a:avLst/>
          </a:prstGeom>
          <a:solidFill>
            <a:srgbClr val="E5FFE5"/>
          </a:solid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Motif</a:t>
            </a:r>
          </a:p>
        </p:txBody>
      </p:sp>
      <p:sp>
        <p:nvSpPr>
          <p:cNvPr id="34820" name="Text Box 5"/>
          <p:cNvSpPr txBox="1">
            <a:spLocks noChangeArrowheads="1"/>
          </p:cNvSpPr>
          <p:nvPr/>
        </p:nvSpPr>
        <p:spPr bwMode="auto">
          <a:xfrm>
            <a:off x="2628900" y="3028950"/>
            <a:ext cx="928688" cy="409575"/>
          </a:xfrm>
          <a:prstGeom prst="rect">
            <a:avLst/>
          </a:prstGeom>
          <a:solidFill>
            <a:srgbClr val="E5FFE5"/>
          </a:solid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Crystal</a:t>
            </a:r>
          </a:p>
        </p:txBody>
      </p:sp>
      <p:sp>
        <p:nvSpPr>
          <p:cNvPr id="34821" name="Text Box 6"/>
          <p:cNvSpPr txBox="1">
            <a:spLocks noChangeArrowheads="1"/>
          </p:cNvSpPr>
          <p:nvPr/>
        </p:nvSpPr>
        <p:spPr bwMode="auto">
          <a:xfrm>
            <a:off x="2625725" y="1720850"/>
            <a:ext cx="900113" cy="409575"/>
          </a:xfrm>
          <a:prstGeom prst="rect">
            <a:avLst/>
          </a:prstGeom>
          <a:solidFill>
            <a:srgbClr val="E5FFE5"/>
          </a:solid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Lattice</a:t>
            </a:r>
          </a:p>
        </p:txBody>
      </p:sp>
      <p:cxnSp>
        <p:nvCxnSpPr>
          <p:cNvPr id="34822" name="AutoShape 7"/>
          <p:cNvCxnSpPr>
            <a:cxnSpLocks noChangeShapeType="1"/>
            <a:stCxn id="34818" idx="3"/>
            <a:endCxn id="34819" idx="1"/>
          </p:cNvCxnSpPr>
          <p:nvPr/>
        </p:nvCxnSpPr>
        <p:spPr bwMode="auto">
          <a:xfrm flipV="1">
            <a:off x="2278063" y="2586038"/>
            <a:ext cx="346075" cy="334962"/>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3" name="AutoShape 8"/>
          <p:cNvCxnSpPr>
            <a:cxnSpLocks noChangeShapeType="1"/>
            <a:stCxn id="34818" idx="3"/>
            <a:endCxn id="34820" idx="1"/>
          </p:cNvCxnSpPr>
          <p:nvPr/>
        </p:nvCxnSpPr>
        <p:spPr bwMode="auto">
          <a:xfrm>
            <a:off x="2278063" y="2921000"/>
            <a:ext cx="350837" cy="312738"/>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824" name="AutoShape 9"/>
          <p:cNvCxnSpPr>
            <a:cxnSpLocks noChangeShapeType="1"/>
            <a:stCxn id="34818" idx="3"/>
            <a:endCxn id="34821" idx="1"/>
          </p:cNvCxnSpPr>
          <p:nvPr/>
        </p:nvCxnSpPr>
        <p:spPr bwMode="auto">
          <a:xfrm flipV="1">
            <a:off x="2278063" y="1925638"/>
            <a:ext cx="347662" cy="995362"/>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5" name="Text Box 10"/>
          <p:cNvSpPr txBox="1">
            <a:spLocks noChangeArrowheads="1"/>
          </p:cNvSpPr>
          <p:nvPr/>
        </p:nvSpPr>
        <p:spPr bwMode="auto">
          <a:xfrm>
            <a:off x="2635250" y="3649663"/>
            <a:ext cx="1133475" cy="409575"/>
          </a:xfrm>
          <a:prstGeom prst="rect">
            <a:avLst/>
          </a:prstGeom>
          <a:solidFill>
            <a:srgbClr val="E5FFE5"/>
          </a:solidFill>
          <a:ln w="12700"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rPr>
              <a:t>Unit Cell</a:t>
            </a:r>
          </a:p>
        </p:txBody>
      </p:sp>
      <p:cxnSp>
        <p:nvCxnSpPr>
          <p:cNvPr id="34826" name="AutoShape 11"/>
          <p:cNvCxnSpPr>
            <a:cxnSpLocks noChangeShapeType="1"/>
            <a:stCxn id="34818" idx="3"/>
            <a:endCxn id="34825" idx="1"/>
          </p:cNvCxnSpPr>
          <p:nvPr/>
        </p:nvCxnSpPr>
        <p:spPr bwMode="auto">
          <a:xfrm>
            <a:off x="2278063" y="2921000"/>
            <a:ext cx="357187" cy="933450"/>
          </a:xfrm>
          <a:prstGeom prst="straightConnector1">
            <a:avLst/>
          </a:prstGeom>
          <a:noFill/>
          <a:ln w="127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7" name="Text Box 12"/>
          <p:cNvSpPr txBox="1">
            <a:spLocks noChangeArrowheads="1"/>
          </p:cNvSpPr>
          <p:nvPr/>
        </p:nvSpPr>
        <p:spPr bwMode="auto">
          <a:xfrm>
            <a:off x="2533650" y="4521200"/>
            <a:ext cx="5137150" cy="1401763"/>
          </a:xfrm>
          <a:prstGeom prst="rect">
            <a:avLst/>
          </a:prstGeom>
          <a:solidFill>
            <a:srgbClr val="E5FFE5"/>
          </a:solidFill>
          <a:ln w="12700"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solidFill>
                  <a:schemeClr val="bg2"/>
                </a:solidFill>
                <a:latin typeface="Times New Roman" pitchFamily="18" charset="0"/>
              </a:rPr>
              <a:t>Eumorphic crystal (equilibrium shape and growth shape of the crystal)</a:t>
            </a:r>
          </a:p>
          <a:p>
            <a:pPr eaLnBrk="1" hangingPunct="1">
              <a:spcBef>
                <a:spcPct val="50000"/>
              </a:spcBef>
            </a:pPr>
            <a:r>
              <a:rPr lang="en-US" i="1">
                <a:solidFill>
                  <a:schemeClr val="bg2"/>
                </a:solidFill>
                <a:latin typeface="Times New Roman" pitchFamily="18" charset="0"/>
              </a:rPr>
              <a:t>The shape of the crystal corresponds to the point group symmetry of the crystal</a:t>
            </a:r>
          </a:p>
        </p:txBody>
      </p:sp>
      <p:cxnSp>
        <p:nvCxnSpPr>
          <p:cNvPr id="34828" name="AutoShape 13"/>
          <p:cNvCxnSpPr>
            <a:cxnSpLocks noChangeShapeType="1"/>
            <a:stCxn id="34818" idx="3"/>
            <a:endCxn id="34827" idx="1"/>
          </p:cNvCxnSpPr>
          <p:nvPr/>
        </p:nvCxnSpPr>
        <p:spPr bwMode="auto">
          <a:xfrm>
            <a:off x="2278063" y="2921000"/>
            <a:ext cx="255587" cy="2301875"/>
          </a:xfrm>
          <a:prstGeom prst="straightConnector1">
            <a:avLst/>
          </a:prstGeom>
          <a:noFill/>
          <a:ln w="12700">
            <a:solidFill>
              <a:schemeClr val="bg2"/>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829" name="Text Box 14"/>
          <p:cNvSpPr txBox="1">
            <a:spLocks noChangeArrowheads="1"/>
          </p:cNvSpPr>
          <p:nvPr/>
        </p:nvSpPr>
        <p:spPr bwMode="auto">
          <a:xfrm>
            <a:off x="152400" y="115888"/>
            <a:ext cx="8839200" cy="1347787"/>
          </a:xfrm>
          <a:prstGeom prst="rect">
            <a:avLst/>
          </a:prstGeom>
          <a:solidFill>
            <a:srgbClr val="EFFF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marL="344488" indent="-34448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20000"/>
              </a:spcAft>
              <a:buClr>
                <a:srgbClr val="FF0000"/>
              </a:buClr>
              <a:buFont typeface="Wingdings" pitchFamily="2" charset="2"/>
              <a:buChar char="q"/>
            </a:pPr>
            <a:r>
              <a:rPr lang="en-US">
                <a:latin typeface="Times New Roman" pitchFamily="18" charset="0"/>
                <a:cs typeface="Times New Roman" pitchFamily="18" charset="0"/>
                <a:sym typeface="Symbol" pitchFamily="18" charset="2"/>
              </a:rPr>
              <a:t>In crystallography when we talk of Symmetry; the natural question which arises is: </a:t>
            </a:r>
            <a:r>
              <a:rPr lang="en-US" i="1">
                <a:latin typeface="Times New Roman" pitchFamily="18" charset="0"/>
                <a:cs typeface="Times New Roman" pitchFamily="18" charset="0"/>
                <a:sym typeface="Symbol" pitchFamily="18" charset="2"/>
              </a:rPr>
              <a:t>Symmetry of What?</a:t>
            </a:r>
          </a:p>
          <a:p>
            <a:pPr eaLnBrk="1" hangingPunct="1">
              <a:spcAft>
                <a:spcPct val="20000"/>
              </a:spcAft>
              <a:buClr>
                <a:srgbClr val="FF0000"/>
              </a:buClr>
              <a:buFont typeface="Wingdings" pitchFamily="2" charset="2"/>
              <a:buChar char="q"/>
            </a:pPr>
            <a:r>
              <a:rPr lang="en-US">
                <a:solidFill>
                  <a:srgbClr val="0000FF"/>
                </a:solidFill>
                <a:latin typeface="Times New Roman" pitchFamily="18" charset="0"/>
                <a:cs typeface="Times New Roman" pitchFamily="18" charset="0"/>
                <a:sym typeface="Symbol" pitchFamily="18" charset="2"/>
              </a:rPr>
              <a:t>The symmetry of the following entities are different and should not be confused with one another!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516063" y="188913"/>
            <a:ext cx="6111875" cy="469900"/>
          </a:xfrm>
          <a:prstGeom prst="rect">
            <a:avLst/>
          </a:prstGeom>
          <a:solidFill>
            <a:srgbClr val="CCFFFF"/>
          </a:solidFill>
          <a:ln w="12700" algn="ctr">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400">
                <a:solidFill>
                  <a:srgbClr val="0000FF"/>
                </a:solidFill>
                <a:latin typeface="Times New Roman" pitchFamily="18" charset="0"/>
                <a:sym typeface="Wingdings" pitchFamily="2" charset="2"/>
              </a:rPr>
              <a:t>Effect of decoration of a lattice on the symmetry</a:t>
            </a:r>
          </a:p>
        </p:txBody>
      </p:sp>
      <p:sp>
        <p:nvSpPr>
          <p:cNvPr id="35843" name="Text Box 3"/>
          <p:cNvSpPr txBox="1">
            <a:spLocks noChangeArrowheads="1"/>
          </p:cNvSpPr>
          <p:nvPr/>
        </p:nvSpPr>
        <p:spPr bwMode="auto">
          <a:xfrm>
            <a:off x="133350" y="1522413"/>
            <a:ext cx="8877300" cy="2473325"/>
          </a:xfrm>
          <a:prstGeom prst="rect">
            <a:avLst/>
          </a:prstGeom>
          <a:solidFill>
            <a:srgbClr val="EFFFFF"/>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marL="363538" indent="-36353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40000"/>
              </a:spcAft>
              <a:buClr>
                <a:srgbClr val="FF0000"/>
              </a:buClr>
              <a:buFont typeface="Wingdings" pitchFamily="2" charset="2"/>
              <a:buChar char="q"/>
            </a:pPr>
            <a:r>
              <a:rPr lang="en-US" sz="2200">
                <a:latin typeface="Times New Roman" pitchFamily="18" charset="0"/>
                <a:cs typeface="Times New Roman" pitchFamily="18" charset="0"/>
                <a:sym typeface="Symbol" pitchFamily="18" charset="2"/>
              </a:rPr>
              <a:t>An Infinite </a:t>
            </a:r>
            <a:r>
              <a:rPr lang="en-US" sz="2200">
                <a:latin typeface="Times New Roman" pitchFamily="18" charset="0"/>
                <a:cs typeface="Times New Roman" pitchFamily="18" charset="0"/>
                <a:sym typeface="Symbol" pitchFamily="18" charset="2"/>
                <a:hlinkClick r:id="rId2" action="ppaction://hlinkpres?slideindex=1&amp;slidetitle="/>
              </a:rPr>
              <a:t>Lattice</a:t>
            </a:r>
            <a:r>
              <a:rPr lang="en-US" sz="2200">
                <a:latin typeface="Times New Roman" pitchFamily="18" charset="0"/>
                <a:cs typeface="Times New Roman" pitchFamily="18" charset="0"/>
                <a:sym typeface="Symbol" pitchFamily="18" charset="2"/>
              </a:rPr>
              <a:t> can be represented by a </a:t>
            </a:r>
            <a:r>
              <a:rPr lang="en-US" sz="2200">
                <a:latin typeface="Times New Roman" pitchFamily="18" charset="0"/>
                <a:cs typeface="Times New Roman" pitchFamily="18" charset="0"/>
                <a:sym typeface="Symbol" pitchFamily="18" charset="2"/>
                <a:hlinkClick r:id="rId3" action="ppaction://hlinkpres?slideindex=1&amp;slidetitle="/>
              </a:rPr>
              <a:t>Unit Cell</a:t>
            </a:r>
            <a:r>
              <a:rPr lang="en-US" sz="2200">
                <a:latin typeface="Times New Roman" pitchFamily="18" charset="0"/>
                <a:cs typeface="Times New Roman" pitchFamily="18" charset="0"/>
                <a:sym typeface="Symbol" pitchFamily="18" charset="2"/>
              </a:rPr>
              <a:t>.</a:t>
            </a:r>
          </a:p>
          <a:p>
            <a:pPr eaLnBrk="1" hangingPunct="1">
              <a:spcAft>
                <a:spcPct val="40000"/>
              </a:spcAft>
              <a:buClr>
                <a:srgbClr val="FF0000"/>
              </a:buClr>
              <a:buFont typeface="Wingdings" pitchFamily="2" charset="2"/>
              <a:buChar char="q"/>
            </a:pPr>
            <a:r>
              <a:rPr lang="en-US" sz="2200">
                <a:latin typeface="Times New Roman" pitchFamily="18" charset="0"/>
                <a:cs typeface="Times New Roman" pitchFamily="18" charset="0"/>
                <a:sym typeface="Symbol" pitchFamily="18" charset="2"/>
              </a:rPr>
              <a:t>On decorating the lattice with objects the symmetry of the lattice may be:</a:t>
            </a:r>
            <a:br>
              <a:rPr lang="en-US" sz="2200">
                <a:latin typeface="Times New Roman" pitchFamily="18" charset="0"/>
                <a:cs typeface="Times New Roman" pitchFamily="18" charset="0"/>
                <a:sym typeface="Symbol" pitchFamily="18" charset="2"/>
              </a:rPr>
            </a:br>
            <a:r>
              <a:rPr lang="en-US" sz="2200">
                <a:latin typeface="Times New Roman" pitchFamily="18" charset="0"/>
                <a:cs typeface="Times New Roman" pitchFamily="18" charset="0"/>
                <a:sym typeface="Wingdings" pitchFamily="2" charset="2"/>
              </a:rPr>
              <a:t> Maintained</a:t>
            </a:r>
            <a:br>
              <a:rPr lang="en-US" sz="2200">
                <a:latin typeface="Times New Roman" pitchFamily="18" charset="0"/>
                <a:cs typeface="Times New Roman" pitchFamily="18" charset="0"/>
                <a:sym typeface="Wingdings" pitchFamily="2" charset="2"/>
              </a:rPr>
            </a:br>
            <a:r>
              <a:rPr lang="en-US" sz="2200">
                <a:latin typeface="Times New Roman" pitchFamily="18" charset="0"/>
                <a:cs typeface="Times New Roman" pitchFamily="18" charset="0"/>
                <a:sym typeface="Wingdings" pitchFamily="2" charset="2"/>
              </a:rPr>
              <a:t> lowered</a:t>
            </a:r>
          </a:p>
          <a:p>
            <a:pPr eaLnBrk="1" hangingPunct="1">
              <a:spcAft>
                <a:spcPct val="40000"/>
              </a:spcAft>
              <a:buClr>
                <a:srgbClr val="FF0000"/>
              </a:buClr>
              <a:buFont typeface="Wingdings" pitchFamily="2" charset="2"/>
              <a:buChar char="q"/>
            </a:pPr>
            <a:r>
              <a:rPr lang="en-US" sz="2200">
                <a:latin typeface="Times New Roman" pitchFamily="18" charset="0"/>
                <a:cs typeface="Times New Roman" pitchFamily="18" charset="0"/>
                <a:sym typeface="Wingdings" pitchFamily="2" charset="2"/>
              </a:rPr>
              <a:t>A special type of object which is repeated identically (in shape, orientation colour etc.) at each lattice point is called a </a:t>
            </a:r>
            <a:r>
              <a:rPr lang="en-US" sz="2200">
                <a:latin typeface="Times New Roman" pitchFamily="18" charset="0"/>
                <a:cs typeface="Times New Roman" pitchFamily="18" charset="0"/>
                <a:sym typeface="Wingdings" pitchFamily="2" charset="2"/>
                <a:hlinkClick r:id="rId4" action="ppaction://hlinkpres?slideindex=1&amp;slidetitle="/>
              </a:rPr>
              <a:t>Motif</a:t>
            </a:r>
            <a:r>
              <a:rPr lang="en-US" sz="2200">
                <a:latin typeface="Times New Roman" pitchFamily="18" charset="0"/>
                <a:cs typeface="Times New Roman" pitchFamily="18" charset="0"/>
                <a:sym typeface="Wingdings" pitchFamily="2" charset="2"/>
              </a:rPr>
              <a:t>.</a:t>
            </a:r>
          </a:p>
        </p:txBody>
      </p:sp>
      <p:sp>
        <p:nvSpPr>
          <p:cNvPr id="35844" name="Text Box 4"/>
          <p:cNvSpPr txBox="1">
            <a:spLocks noChangeArrowheads="1"/>
          </p:cNvSpPr>
          <p:nvPr/>
        </p:nvSpPr>
        <p:spPr bwMode="auto">
          <a:xfrm>
            <a:off x="157163" y="695325"/>
            <a:ext cx="6953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atin typeface="Times New Roman" pitchFamily="18" charset="0"/>
              </a:rPr>
              <a:t>We briefly consider this aspect here- details can be found in the topics on </a:t>
            </a:r>
            <a:br>
              <a:rPr lang="en-US">
                <a:latin typeface="Times New Roman" pitchFamily="18" charset="0"/>
              </a:rPr>
            </a:br>
            <a:r>
              <a:rPr lang="en-US">
                <a:latin typeface="Times New Roman" pitchFamily="18" charset="0"/>
                <a:hlinkClick r:id="rId5" action="ppaction://hlinkpres?slideindex=1&amp;slidetitle="/>
              </a:rPr>
              <a:t>Geometry of Crystals</a:t>
            </a:r>
            <a:r>
              <a:rPr lang="en-US">
                <a:latin typeface="Times New Roman" pitchFamily="18" charset="0"/>
              </a:rPr>
              <a:t> and </a:t>
            </a:r>
            <a:r>
              <a:rPr lang="en-US">
                <a:latin typeface="Times New Roman" pitchFamily="18" charset="0"/>
                <a:hlinkClick r:id="rId6" action="ppaction://hlinkpres?slideindex=1&amp;slidetitle="/>
              </a:rPr>
              <a:t>Making Crystals</a:t>
            </a:r>
            <a:endParaRPr lang="en-US">
              <a:latin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33350" y="333375"/>
            <a:ext cx="8877300" cy="1670050"/>
          </a:xfrm>
          <a:prstGeom prst="rect">
            <a:avLst/>
          </a:prstGeom>
          <a:solidFill>
            <a:srgbClr val="EFFFFF"/>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spAutoFit/>
          </a:bodyPr>
          <a:lstStyle>
            <a:lvl1pPr marL="363538" indent="-363538"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Aft>
                <a:spcPct val="40000"/>
              </a:spcAft>
              <a:buClr>
                <a:srgbClr val="FF0000"/>
              </a:buClr>
              <a:buFont typeface="Wingdings" pitchFamily="2" charset="2"/>
              <a:buChar char="q"/>
            </a:pPr>
            <a:r>
              <a:rPr lang="en-US" sz="2200">
                <a:latin typeface="Times New Roman" pitchFamily="18" charset="0"/>
                <a:cs typeface="Times New Roman" pitchFamily="18" charset="0"/>
                <a:sym typeface="Symbol" pitchFamily="18" charset="2"/>
              </a:rPr>
              <a:t>Consider a square </a:t>
            </a:r>
            <a:r>
              <a:rPr lang="en-US" sz="2200" i="1">
                <a:latin typeface="Times New Roman" pitchFamily="18" charset="0"/>
                <a:cs typeface="Times New Roman" pitchFamily="18" charset="0"/>
                <a:sym typeface="Symbol" pitchFamily="18" charset="2"/>
              </a:rPr>
              <a:t>(which could also function as a unit cell of a crystal if decorated with a </a:t>
            </a:r>
            <a:r>
              <a:rPr lang="en-US" sz="2200" i="1">
                <a:latin typeface="Times New Roman" pitchFamily="18" charset="0"/>
                <a:cs typeface="Times New Roman" pitchFamily="18" charset="0"/>
                <a:sym typeface="Symbol" pitchFamily="18" charset="2"/>
                <a:hlinkClick r:id="rId2" action="ppaction://hlinkpres?slideindex=1&amp;slidetitle="/>
              </a:rPr>
              <a:t>motif</a:t>
            </a:r>
            <a:r>
              <a:rPr lang="en-US" sz="2200" i="1">
                <a:latin typeface="Times New Roman" pitchFamily="18" charset="0"/>
                <a:cs typeface="Times New Roman" pitchFamily="18" charset="0"/>
                <a:sym typeface="Symbol" pitchFamily="18" charset="2"/>
              </a:rPr>
              <a:t>)</a:t>
            </a:r>
          </a:p>
          <a:p>
            <a:pPr eaLnBrk="1" hangingPunct="1">
              <a:spcAft>
                <a:spcPct val="40000"/>
              </a:spcAft>
              <a:buClr>
                <a:srgbClr val="FF0000"/>
              </a:buClr>
              <a:buFont typeface="Wingdings" pitchFamily="2" charset="2"/>
              <a:buChar char="q"/>
            </a:pPr>
            <a:r>
              <a:rPr lang="en-US" sz="2200">
                <a:latin typeface="Times New Roman" pitchFamily="18" charset="0"/>
                <a:cs typeface="Times New Roman" pitchFamily="18" charset="0"/>
                <a:sym typeface="Wingdings" pitchFamily="2" charset="2"/>
              </a:rPr>
              <a:t>The square shape </a:t>
            </a:r>
            <a:r>
              <a:rPr lang="en-US" sz="2200" i="1">
                <a:latin typeface="Times New Roman" pitchFamily="18" charset="0"/>
                <a:cs typeface="Times New Roman" pitchFamily="18" charset="0"/>
                <a:sym typeface="Wingdings" pitchFamily="2" charset="2"/>
              </a:rPr>
              <a:t>(and also the collection of four points in the corners of a square) </a:t>
            </a:r>
            <a:r>
              <a:rPr lang="en-US" sz="2200">
                <a:latin typeface="Times New Roman" pitchFamily="18" charset="0"/>
                <a:cs typeface="Times New Roman" pitchFamily="18" charset="0"/>
                <a:sym typeface="Wingdings" pitchFamily="2" charset="2"/>
              </a:rPr>
              <a:t>have some basic symmetries as shown below</a:t>
            </a:r>
          </a:p>
        </p:txBody>
      </p:sp>
      <p:graphicFrame>
        <p:nvGraphicFramePr>
          <p:cNvPr id="36867" name="Object 3"/>
          <p:cNvGraphicFramePr>
            <a:graphicFrameLocks noChangeAspect="1"/>
          </p:cNvGraphicFramePr>
          <p:nvPr/>
        </p:nvGraphicFramePr>
        <p:xfrm>
          <a:off x="3132138" y="2492375"/>
          <a:ext cx="2516187" cy="2516188"/>
        </p:xfrm>
        <a:graphic>
          <a:graphicData uri="http://schemas.openxmlformats.org/presentationml/2006/ole">
            <mc:AlternateContent xmlns:mc="http://schemas.openxmlformats.org/markup-compatibility/2006">
              <mc:Choice xmlns:v="urn:schemas-microsoft-com:vml" Requires="v">
                <p:oleObj name="CorelDRAW" r:id="rId3" imgW="3169896" imgH="3169896" progId="CorelDRAW.Graphic.14">
                  <p:embed/>
                </p:oleObj>
              </mc:Choice>
              <mc:Fallback>
                <p:oleObj name="CorelDRAW" r:id="rId3" imgW="3169896" imgH="3169896" progId="CorelDRAW.Graphic.14">
                  <p:embed/>
                  <p:pic>
                    <p:nvPicPr>
                      <p:cNvPr id="3686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492375"/>
                        <a:ext cx="2516187" cy="251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68" name="Rectangle 4"/>
          <p:cNvSpPr>
            <a:spLocks noChangeArrowheads="1"/>
          </p:cNvSpPr>
          <p:nvPr/>
        </p:nvSpPr>
        <p:spPr bwMode="auto">
          <a:xfrm>
            <a:off x="395288" y="2708275"/>
            <a:ext cx="504825" cy="50482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69" name="Text Box 5"/>
          <p:cNvSpPr txBox="1">
            <a:spLocks noChangeArrowheads="1"/>
          </p:cNvSpPr>
          <p:nvPr/>
        </p:nvSpPr>
        <p:spPr bwMode="auto">
          <a:xfrm>
            <a:off x="250825" y="3254375"/>
            <a:ext cx="70802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atin typeface="Times New Roman" pitchFamily="18" charset="0"/>
              </a:rPr>
              <a:t>Square</a:t>
            </a:r>
            <a:endParaRPr lang="en-US">
              <a:latin typeface="Times New Roman" pitchFamily="18" charset="0"/>
              <a:sym typeface="Symbol" pitchFamily="18" charset="2"/>
            </a:endParaRPr>
          </a:p>
        </p:txBody>
      </p:sp>
      <p:cxnSp>
        <p:nvCxnSpPr>
          <p:cNvPr id="36870" name="AutoShape 6"/>
          <p:cNvCxnSpPr>
            <a:cxnSpLocks noChangeShapeType="1"/>
            <a:stCxn id="36875" idx="0"/>
            <a:endCxn id="36872" idx="3"/>
          </p:cNvCxnSpPr>
          <p:nvPr/>
        </p:nvCxnSpPr>
        <p:spPr bwMode="auto">
          <a:xfrm flipV="1">
            <a:off x="3746500" y="4959350"/>
            <a:ext cx="638175" cy="190500"/>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871" name="AutoShape 7"/>
          <p:cNvCxnSpPr>
            <a:cxnSpLocks noChangeShapeType="1"/>
            <a:stCxn id="36874" idx="0"/>
            <a:endCxn id="36873" idx="3"/>
          </p:cNvCxnSpPr>
          <p:nvPr/>
        </p:nvCxnSpPr>
        <p:spPr bwMode="auto">
          <a:xfrm flipV="1">
            <a:off x="5032375" y="4941888"/>
            <a:ext cx="539750" cy="207962"/>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872" name="Oval 8"/>
          <p:cNvSpPr>
            <a:spLocks noChangeArrowheads="1"/>
          </p:cNvSpPr>
          <p:nvPr/>
        </p:nvSpPr>
        <p:spPr bwMode="auto">
          <a:xfrm>
            <a:off x="4371975" y="4883150"/>
            <a:ext cx="88900" cy="889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73" name="Oval 9"/>
          <p:cNvSpPr>
            <a:spLocks noChangeArrowheads="1"/>
          </p:cNvSpPr>
          <p:nvPr/>
        </p:nvSpPr>
        <p:spPr bwMode="auto">
          <a:xfrm>
            <a:off x="5559425" y="4865688"/>
            <a:ext cx="88900" cy="889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74" name="Text Box 10"/>
          <p:cNvSpPr txBox="1">
            <a:spLocks noChangeArrowheads="1"/>
          </p:cNvSpPr>
          <p:nvPr/>
        </p:nvSpPr>
        <p:spPr bwMode="auto">
          <a:xfrm>
            <a:off x="4573588" y="5149850"/>
            <a:ext cx="915987" cy="366713"/>
          </a:xfrm>
          <a:prstGeom prst="rect">
            <a:avLst/>
          </a:prstGeom>
          <a:solidFill>
            <a:srgbClr val="CC3300"/>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chemeClr val="bg1"/>
                </a:solidFill>
                <a:latin typeface="Times New Roman" pitchFamily="18" charset="0"/>
                <a:cs typeface="Times New Roman" pitchFamily="18" charset="0"/>
                <a:sym typeface="Symbol" pitchFamily="18" charset="2"/>
              </a:rPr>
              <a:t>m</a:t>
            </a:r>
            <a:r>
              <a:rPr lang="en-US" baseline="-25000">
                <a:solidFill>
                  <a:schemeClr val="bg1"/>
                </a:solidFill>
                <a:latin typeface="Times New Roman" pitchFamily="18" charset="0"/>
                <a:cs typeface="Times New Roman" pitchFamily="18" charset="0"/>
                <a:sym typeface="Symbol" pitchFamily="18" charset="2"/>
              </a:rPr>
              <a:t>d </a:t>
            </a:r>
            <a:r>
              <a:rPr lang="en-US">
                <a:solidFill>
                  <a:schemeClr val="bg1"/>
                </a:solidFill>
                <a:latin typeface="Times New Roman" pitchFamily="18" charset="0"/>
                <a:cs typeface="Times New Roman" pitchFamily="18" charset="0"/>
                <a:sym typeface="Symbol" pitchFamily="18" charset="2"/>
              </a:rPr>
              <a:t>= m</a:t>
            </a:r>
            <a:r>
              <a:rPr lang="en-US" baseline="-25000">
                <a:solidFill>
                  <a:schemeClr val="bg1"/>
                </a:solidFill>
                <a:latin typeface="Times New Roman" pitchFamily="18" charset="0"/>
                <a:cs typeface="Times New Roman" pitchFamily="18" charset="0"/>
                <a:sym typeface="Symbol" pitchFamily="18" charset="2"/>
              </a:rPr>
              <a:t>2</a:t>
            </a:r>
          </a:p>
        </p:txBody>
      </p:sp>
      <p:sp>
        <p:nvSpPr>
          <p:cNvPr id="36875" name="Text Box 11"/>
          <p:cNvSpPr txBox="1">
            <a:spLocks noChangeArrowheads="1"/>
          </p:cNvSpPr>
          <p:nvPr/>
        </p:nvSpPr>
        <p:spPr bwMode="auto">
          <a:xfrm>
            <a:off x="3278188" y="5149850"/>
            <a:ext cx="935037" cy="366713"/>
          </a:xfrm>
          <a:prstGeom prst="rect">
            <a:avLst/>
          </a:prstGeom>
          <a:solidFill>
            <a:srgbClr val="CC3300"/>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chemeClr val="bg1"/>
                </a:solidFill>
                <a:latin typeface="Times New Roman" pitchFamily="18" charset="0"/>
                <a:cs typeface="Times New Roman" pitchFamily="18" charset="0"/>
                <a:sym typeface="Symbol" pitchFamily="18" charset="2"/>
              </a:rPr>
              <a:t>m</a:t>
            </a:r>
            <a:r>
              <a:rPr lang="en-US" baseline="-25000">
                <a:solidFill>
                  <a:schemeClr val="bg1"/>
                </a:solidFill>
                <a:latin typeface="Times New Roman" pitchFamily="18" charset="0"/>
                <a:cs typeface="Times New Roman" pitchFamily="18" charset="0"/>
                <a:sym typeface="Symbol" pitchFamily="18" charset="2"/>
              </a:rPr>
              <a:t>v</a:t>
            </a:r>
            <a:r>
              <a:rPr lang="en-US">
                <a:solidFill>
                  <a:schemeClr val="bg1"/>
                </a:solidFill>
                <a:latin typeface="Times New Roman" pitchFamily="18" charset="0"/>
                <a:cs typeface="Times New Roman" pitchFamily="18" charset="0"/>
                <a:sym typeface="Symbol" pitchFamily="18" charset="2"/>
              </a:rPr>
              <a:t> = m</a:t>
            </a:r>
            <a:r>
              <a:rPr lang="en-US" baseline="-25000">
                <a:solidFill>
                  <a:schemeClr val="bg1"/>
                </a:solidFill>
                <a:latin typeface="Times New Roman" pitchFamily="18" charset="0"/>
                <a:cs typeface="Times New Roman" pitchFamily="18" charset="0"/>
                <a:sym typeface="Symbol" pitchFamily="18" charset="2"/>
              </a:rPr>
              <a:t>1</a:t>
            </a:r>
          </a:p>
        </p:txBody>
      </p:sp>
      <p:cxnSp>
        <p:nvCxnSpPr>
          <p:cNvPr id="36876" name="AutoShape 12"/>
          <p:cNvCxnSpPr>
            <a:cxnSpLocks noChangeShapeType="1"/>
            <a:stCxn id="36878" idx="0"/>
            <a:endCxn id="36877" idx="3"/>
          </p:cNvCxnSpPr>
          <p:nvPr/>
        </p:nvCxnSpPr>
        <p:spPr bwMode="auto">
          <a:xfrm flipV="1">
            <a:off x="3792538" y="3860800"/>
            <a:ext cx="484187" cy="28098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877" name="Oval 13"/>
          <p:cNvSpPr>
            <a:spLocks noChangeArrowheads="1"/>
          </p:cNvSpPr>
          <p:nvPr/>
        </p:nvSpPr>
        <p:spPr bwMode="auto">
          <a:xfrm>
            <a:off x="4264025" y="3784600"/>
            <a:ext cx="88900" cy="889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78" name="Text Box 14"/>
          <p:cNvSpPr txBox="1">
            <a:spLocks noChangeArrowheads="1"/>
          </p:cNvSpPr>
          <p:nvPr/>
        </p:nvSpPr>
        <p:spPr bwMode="auto">
          <a:xfrm>
            <a:off x="3421063" y="4141788"/>
            <a:ext cx="742950" cy="366712"/>
          </a:xfrm>
          <a:prstGeom prst="rect">
            <a:avLst/>
          </a:prstGeom>
          <a:solidFill>
            <a:srgbClr val="0000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chemeClr val="bg1"/>
                </a:solidFill>
                <a:latin typeface="Times New Roman" pitchFamily="18" charset="0"/>
                <a:cs typeface="Times New Roman" pitchFamily="18" charset="0"/>
                <a:sym typeface="Symbol" pitchFamily="18" charset="2"/>
              </a:rPr>
              <a:t>4-fold</a:t>
            </a:r>
            <a:endParaRPr lang="en-US" baseline="-25000">
              <a:solidFill>
                <a:schemeClr val="bg1"/>
              </a:solidFill>
              <a:latin typeface="Times New Roman" pitchFamily="18" charset="0"/>
              <a:cs typeface="Times New Roman" pitchFamily="18" charset="0"/>
              <a:sym typeface="Symbol" pitchFamily="18" charset="2"/>
            </a:endParaRPr>
          </a:p>
        </p:txBody>
      </p:sp>
      <p:cxnSp>
        <p:nvCxnSpPr>
          <p:cNvPr id="36879" name="AutoShape 15"/>
          <p:cNvCxnSpPr>
            <a:cxnSpLocks noChangeShapeType="1"/>
            <a:stCxn id="36880" idx="1"/>
            <a:endCxn id="36881" idx="5"/>
          </p:cNvCxnSpPr>
          <p:nvPr/>
        </p:nvCxnSpPr>
        <p:spPr bwMode="auto">
          <a:xfrm flipH="1">
            <a:off x="4408488" y="3108325"/>
            <a:ext cx="307975" cy="612775"/>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880" name="Text Box 16"/>
          <p:cNvSpPr txBox="1">
            <a:spLocks noChangeArrowheads="1"/>
          </p:cNvSpPr>
          <p:nvPr/>
        </p:nvSpPr>
        <p:spPr bwMode="auto">
          <a:xfrm>
            <a:off x="4716463" y="2924175"/>
            <a:ext cx="247650" cy="366713"/>
          </a:xfrm>
          <a:prstGeom prst="rect">
            <a:avLst/>
          </a:prstGeom>
          <a:solidFill>
            <a:srgbClr val="FF3300"/>
          </a:solidFill>
          <a:ln>
            <a:noFill/>
          </a:ln>
          <a:effectLst/>
          <a:extLst>
            <a:ext uri="{91240B29-F687-4F45-9708-019B960494DF}">
              <a14:hiddenLine xmlns:a14="http://schemas.microsoft.com/office/drawing/2010/main" w="25400" algn="ctr">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solidFill>
                  <a:schemeClr val="bg1"/>
                </a:solidFill>
                <a:latin typeface="Times New Roman" pitchFamily="18" charset="0"/>
                <a:cs typeface="Times New Roman" pitchFamily="18" charset="0"/>
                <a:sym typeface="Symbol" pitchFamily="18" charset="2"/>
              </a:rPr>
              <a:t>i</a:t>
            </a:r>
            <a:endParaRPr lang="en-US" baseline="-25000">
              <a:solidFill>
                <a:schemeClr val="bg1"/>
              </a:solidFill>
              <a:latin typeface="Times New Roman" pitchFamily="18" charset="0"/>
              <a:cs typeface="Times New Roman" pitchFamily="18" charset="0"/>
              <a:sym typeface="Symbol" pitchFamily="18" charset="2"/>
            </a:endParaRPr>
          </a:p>
        </p:txBody>
      </p:sp>
      <p:sp>
        <p:nvSpPr>
          <p:cNvPr id="36881" name="Oval 17"/>
          <p:cNvSpPr>
            <a:spLocks noChangeArrowheads="1"/>
          </p:cNvSpPr>
          <p:nvPr/>
        </p:nvSpPr>
        <p:spPr bwMode="auto">
          <a:xfrm>
            <a:off x="4332288" y="3644900"/>
            <a:ext cx="88900" cy="889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882" name="Text Box 18"/>
          <p:cNvSpPr txBox="1">
            <a:spLocks noChangeArrowheads="1"/>
          </p:cNvSpPr>
          <p:nvPr/>
        </p:nvSpPr>
        <p:spPr bwMode="auto">
          <a:xfrm>
            <a:off x="7453313" y="3716338"/>
            <a:ext cx="1236662" cy="427037"/>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4 m</a:t>
            </a:r>
            <a:r>
              <a:rPr lang="en-US" sz="2200" baseline="-25000">
                <a:solidFill>
                  <a:schemeClr val="bg1"/>
                </a:solidFill>
                <a:latin typeface="Times New Roman" pitchFamily="18" charset="0"/>
                <a:cs typeface="Times New Roman" pitchFamily="18" charset="0"/>
                <a:sym typeface="Symbol" pitchFamily="18" charset="2"/>
              </a:rPr>
              <a:t>1</a:t>
            </a:r>
            <a:r>
              <a:rPr lang="en-US" sz="2200">
                <a:solidFill>
                  <a:schemeClr val="bg1"/>
                </a:solidFill>
                <a:latin typeface="Times New Roman" pitchFamily="18" charset="0"/>
                <a:cs typeface="Times New Roman" pitchFamily="18" charset="0"/>
                <a:sym typeface="Symbol" pitchFamily="18" charset="2"/>
              </a:rPr>
              <a:t> m</a:t>
            </a:r>
            <a:r>
              <a:rPr lang="en-US" sz="2200" baseline="-25000">
                <a:solidFill>
                  <a:schemeClr val="bg1"/>
                </a:solidFill>
                <a:latin typeface="Times New Roman" pitchFamily="18" charset="0"/>
                <a:cs typeface="Times New Roman" pitchFamily="18" charset="0"/>
                <a:sym typeface="Symbol" pitchFamily="18" charset="2"/>
              </a:rPr>
              <a:t>2</a:t>
            </a:r>
            <a:r>
              <a:rPr lang="en-US" sz="2200">
                <a:solidFill>
                  <a:schemeClr val="bg1"/>
                </a:solidFill>
                <a:latin typeface="Times New Roman" pitchFamily="18" charset="0"/>
                <a:cs typeface="Times New Roman" pitchFamily="18" charset="0"/>
                <a:sym typeface="Symbol" pitchFamily="18" charset="2"/>
              </a:rPr>
              <a:t> i</a:t>
            </a:r>
          </a:p>
        </p:txBody>
      </p:sp>
      <p:sp>
        <p:nvSpPr>
          <p:cNvPr id="36883" name="AutoShape 19"/>
          <p:cNvSpPr>
            <a:spLocks noChangeArrowheads="1"/>
          </p:cNvSpPr>
          <p:nvPr/>
        </p:nvSpPr>
        <p:spPr bwMode="auto">
          <a:xfrm>
            <a:off x="5868988" y="3644900"/>
            <a:ext cx="1238250" cy="692150"/>
          </a:xfrm>
          <a:prstGeom prst="rightArrow">
            <a:avLst>
              <a:gd name="adj1" fmla="val 50000"/>
              <a:gd name="adj2" fmla="val 44725"/>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pPr algn="ctr"/>
            <a:r>
              <a:rPr lang="en-US" sz="1000">
                <a:solidFill>
                  <a:srgbClr val="3333FF"/>
                </a:solidFill>
                <a:latin typeface="Times New Roman" pitchFamily="18" charset="0"/>
              </a:rPr>
              <a:t>Which can be written as</a:t>
            </a:r>
          </a:p>
        </p:txBody>
      </p:sp>
      <p:sp>
        <p:nvSpPr>
          <p:cNvPr id="36884" name="AutoShape 20"/>
          <p:cNvSpPr>
            <a:spLocks noChangeArrowheads="1"/>
          </p:cNvSpPr>
          <p:nvPr/>
        </p:nvSpPr>
        <p:spPr bwMode="auto">
          <a:xfrm>
            <a:off x="5868988" y="4797425"/>
            <a:ext cx="1238250" cy="996950"/>
          </a:xfrm>
          <a:prstGeom prst="rightArrow">
            <a:avLst>
              <a:gd name="adj1" fmla="val 50000"/>
              <a:gd name="adj2" fmla="val 31051"/>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nchor="ctr">
            <a:spAutoFit/>
          </a:bodyPr>
          <a:lstStyle/>
          <a:p>
            <a:pPr algn="ctr"/>
            <a:r>
              <a:rPr lang="en-US" sz="1000">
                <a:solidFill>
                  <a:srgbClr val="3333FF"/>
                </a:solidFill>
                <a:latin typeface="Times New Roman" pitchFamily="18" charset="0"/>
              </a:rPr>
              <a:t>Which can be further abbreviated as</a:t>
            </a:r>
          </a:p>
        </p:txBody>
      </p:sp>
      <p:sp>
        <p:nvSpPr>
          <p:cNvPr id="36885" name="Text Box 21"/>
          <p:cNvSpPr txBox="1">
            <a:spLocks noChangeArrowheads="1"/>
          </p:cNvSpPr>
          <p:nvPr/>
        </p:nvSpPr>
        <p:spPr bwMode="auto">
          <a:xfrm>
            <a:off x="7524750" y="5084763"/>
            <a:ext cx="758825" cy="427037"/>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4mm</a:t>
            </a:r>
          </a:p>
        </p:txBody>
      </p:sp>
      <p:pic>
        <p:nvPicPr>
          <p:cNvPr id="36886" name="Picture 22" descr="4p"/>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0825" y="3860800"/>
            <a:ext cx="1257300" cy="1260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6887" name="Text Box 23"/>
          <p:cNvSpPr txBox="1">
            <a:spLocks noChangeArrowheads="1"/>
          </p:cNvSpPr>
          <p:nvPr/>
        </p:nvSpPr>
        <p:spPr bwMode="auto">
          <a:xfrm>
            <a:off x="179388" y="5300663"/>
            <a:ext cx="187325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400">
                <a:latin typeface="Times New Roman" pitchFamily="18" charset="0"/>
              </a:rPr>
              <a:t>4 points at the vertices of a square</a:t>
            </a:r>
            <a:endParaRPr lang="en-US" sz="1400">
              <a:latin typeface="Times New Roman" pitchFamily="18" charset="0"/>
              <a:sym typeface="Symbol" pitchFamily="18" charset="2"/>
            </a:endParaRPr>
          </a:p>
        </p:txBody>
      </p:sp>
      <p:sp>
        <p:nvSpPr>
          <p:cNvPr id="36888" name="AutoShape 24"/>
          <p:cNvSpPr>
            <a:spLocks noChangeArrowheads="1"/>
          </p:cNvSpPr>
          <p:nvPr/>
        </p:nvSpPr>
        <p:spPr bwMode="auto">
          <a:xfrm>
            <a:off x="1835150" y="3730625"/>
            <a:ext cx="1109663" cy="276225"/>
          </a:xfrm>
          <a:prstGeom prst="homePlate">
            <a:avLst>
              <a:gd name="adj" fmla="val 68591"/>
            </a:avLst>
          </a:prstGeom>
          <a:solidFill>
            <a:srgbClr val="FFFFCC"/>
          </a:solidFill>
          <a:ln w="9525">
            <a:solidFill>
              <a:srgbClr val="D2AA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pPr algn="ctr"/>
            <a:r>
              <a:rPr lang="en-US" sz="1600">
                <a:solidFill>
                  <a:srgbClr val="A48500"/>
                </a:solidFill>
                <a:latin typeface="Times New Roman" pitchFamily="18" charset="0"/>
              </a:rPr>
              <a:t>Symmetries</a:t>
            </a:r>
          </a:p>
        </p:txBody>
      </p:sp>
      <p:pic>
        <p:nvPicPr>
          <p:cNvPr id="36889" name="Picture 2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64388" y="2179638"/>
            <a:ext cx="1249362" cy="124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90" name="AutoShape 26"/>
          <p:cNvSpPr>
            <a:spLocks noChangeArrowheads="1"/>
          </p:cNvSpPr>
          <p:nvPr/>
        </p:nvSpPr>
        <p:spPr bwMode="auto">
          <a:xfrm>
            <a:off x="5940425" y="2420938"/>
            <a:ext cx="1008063" cy="623887"/>
          </a:xfrm>
          <a:prstGeom prst="homePlate">
            <a:avLst>
              <a:gd name="adj" fmla="val 27588"/>
            </a:avLst>
          </a:prstGeom>
          <a:solidFill>
            <a:srgbClr val="E5FFE5"/>
          </a:solidFill>
          <a:ln w="3175" algn="ctr">
            <a:solidFill>
              <a:srgbClr val="2AA62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a:spcBef>
                <a:spcPct val="50000"/>
              </a:spcBef>
            </a:pPr>
            <a:r>
              <a:rPr lang="en-US" sz="1200">
                <a:solidFill>
                  <a:srgbClr val="2AA62A"/>
                </a:solidFill>
                <a:latin typeface="Times New Roman" pitchFamily="18" charset="0"/>
              </a:rPr>
              <a:t>Complete set of symmetries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Object 2"/>
          <p:cNvGraphicFramePr>
            <a:graphicFrameLocks noChangeAspect="1"/>
          </p:cNvGraphicFramePr>
          <p:nvPr/>
        </p:nvGraphicFramePr>
        <p:xfrm>
          <a:off x="239713" y="1352550"/>
          <a:ext cx="2516187" cy="2516188"/>
        </p:xfrm>
        <a:graphic>
          <a:graphicData uri="http://schemas.openxmlformats.org/presentationml/2006/ole">
            <mc:AlternateContent xmlns:mc="http://schemas.openxmlformats.org/markup-compatibility/2006">
              <mc:Choice xmlns:v="urn:schemas-microsoft-com:vml" Requires="v">
                <p:oleObj name="CorelDRAW" r:id="rId2" imgW="3169896" imgH="3169896" progId="CorelDRAW.Graphic.14">
                  <p:embed/>
                </p:oleObj>
              </mc:Choice>
              <mc:Fallback>
                <p:oleObj name="CorelDRAW" r:id="rId2" imgW="3169896" imgH="3169896" progId="CorelDRAW.Graphic.14">
                  <p:embed/>
                  <p:pic>
                    <p:nvPicPr>
                      <p:cNvPr id="378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1352550"/>
                        <a:ext cx="2516187" cy="251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1" name="Rectangle 3"/>
          <p:cNvSpPr>
            <a:spLocks noChangeArrowheads="1"/>
          </p:cNvSpPr>
          <p:nvPr/>
        </p:nvSpPr>
        <p:spPr bwMode="auto">
          <a:xfrm>
            <a:off x="190500" y="188913"/>
            <a:ext cx="4381500" cy="406400"/>
          </a:xfrm>
          <a:prstGeom prst="rect">
            <a:avLst/>
          </a:prstGeom>
          <a:solidFill>
            <a:srgbClr val="E5FFE5"/>
          </a:solidFill>
          <a:ln w="9525" algn="ctr">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sz="2000">
                <a:solidFill>
                  <a:srgbClr val="0000FF"/>
                </a:solidFill>
                <a:latin typeface="Times New Roman" pitchFamily="18" charset="0"/>
              </a:rPr>
              <a:t>Effect of the decoration </a:t>
            </a:r>
            <a:r>
              <a:rPr lang="en-US" sz="2000">
                <a:solidFill>
                  <a:srgbClr val="0000FF"/>
                </a:solidFill>
                <a:latin typeface="Times New Roman" pitchFamily="18" charset="0"/>
                <a:sym typeface="Symbol" pitchFamily="18" charset="2"/>
              </a:rPr>
              <a:t> a 2D example</a:t>
            </a:r>
          </a:p>
        </p:txBody>
      </p:sp>
      <p:sp>
        <p:nvSpPr>
          <p:cNvPr id="37892" name="Text Box 4"/>
          <p:cNvSpPr txBox="1">
            <a:spLocks noChangeArrowheads="1"/>
          </p:cNvSpPr>
          <p:nvPr/>
        </p:nvSpPr>
        <p:spPr bwMode="auto">
          <a:xfrm>
            <a:off x="1724025" y="1524000"/>
            <a:ext cx="758825" cy="427038"/>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4mm</a:t>
            </a:r>
          </a:p>
        </p:txBody>
      </p:sp>
      <p:sp>
        <p:nvSpPr>
          <p:cNvPr id="37893" name="Text Box 5"/>
          <p:cNvSpPr txBox="1">
            <a:spLocks noChangeArrowheads="1"/>
          </p:cNvSpPr>
          <p:nvPr/>
        </p:nvSpPr>
        <p:spPr bwMode="auto">
          <a:xfrm>
            <a:off x="3036888" y="1827213"/>
            <a:ext cx="2720975" cy="376237"/>
          </a:xfrm>
          <a:prstGeom prst="rect">
            <a:avLst/>
          </a:prstGeom>
          <a:solidFill>
            <a:schemeClr val="bg1"/>
          </a:solidFill>
          <a:ln w="952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i="1">
                <a:latin typeface="Times New Roman" pitchFamily="18" charset="0"/>
                <a:cs typeface="Times New Roman" pitchFamily="18" charset="0"/>
                <a:sym typeface="Symbol" pitchFamily="18" charset="2"/>
              </a:rPr>
              <a:t>Redundant inversion centre</a:t>
            </a:r>
          </a:p>
        </p:txBody>
      </p:sp>
      <p:cxnSp>
        <p:nvCxnSpPr>
          <p:cNvPr id="37894" name="AutoShape 6"/>
          <p:cNvCxnSpPr>
            <a:cxnSpLocks noChangeShapeType="1"/>
            <a:stCxn id="37893" idx="1"/>
          </p:cNvCxnSpPr>
          <p:nvPr/>
        </p:nvCxnSpPr>
        <p:spPr bwMode="auto">
          <a:xfrm flipH="1">
            <a:off x="1557338" y="2016125"/>
            <a:ext cx="1479550" cy="565150"/>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5" name="Text Box 7"/>
          <p:cNvSpPr txBox="1">
            <a:spLocks noChangeArrowheads="1"/>
          </p:cNvSpPr>
          <p:nvPr/>
        </p:nvSpPr>
        <p:spPr bwMode="auto">
          <a:xfrm>
            <a:off x="138113" y="4640263"/>
            <a:ext cx="3727450" cy="400050"/>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000">
                <a:latin typeface="Times New Roman" pitchFamily="18" charset="0"/>
                <a:cs typeface="Times New Roman" pitchFamily="18" charset="0"/>
                <a:sym typeface="Symbol" pitchFamily="18" charset="2"/>
              </a:rPr>
              <a:t>Decoration retaining the symmetry</a:t>
            </a:r>
          </a:p>
        </p:txBody>
      </p:sp>
      <p:sp>
        <p:nvSpPr>
          <p:cNvPr id="37896" name="Text Box 8"/>
          <p:cNvSpPr txBox="1">
            <a:spLocks noChangeArrowheads="1"/>
          </p:cNvSpPr>
          <p:nvPr/>
        </p:nvSpPr>
        <p:spPr bwMode="auto">
          <a:xfrm>
            <a:off x="5483225" y="4219575"/>
            <a:ext cx="758825" cy="427038"/>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4mm</a:t>
            </a:r>
          </a:p>
        </p:txBody>
      </p:sp>
      <p:pic>
        <p:nvPicPr>
          <p:cNvPr id="3789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5500" y="4391025"/>
            <a:ext cx="133350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8" name="Text Box 10"/>
          <p:cNvSpPr txBox="1">
            <a:spLocks noChangeArrowheads="1"/>
          </p:cNvSpPr>
          <p:nvPr/>
        </p:nvSpPr>
        <p:spPr bwMode="auto">
          <a:xfrm>
            <a:off x="5813425" y="3105150"/>
            <a:ext cx="3330575" cy="376238"/>
          </a:xfrm>
          <a:prstGeom prst="rect">
            <a:avLst/>
          </a:prstGeom>
          <a:solidFill>
            <a:srgbClr val="FFE1FF"/>
          </a:solidFill>
          <a:ln w="952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i="1">
                <a:solidFill>
                  <a:srgbClr val="CC3300"/>
                </a:solidFill>
                <a:latin typeface="Times New Roman" pitchFamily="18" charset="0"/>
                <a:cs typeface="Times New Roman" pitchFamily="18" charset="0"/>
                <a:sym typeface="Symbol" pitchFamily="18" charset="2"/>
              </a:rPr>
              <a:t>Can be a unit cell for a 2D crystal</a:t>
            </a:r>
          </a:p>
        </p:txBody>
      </p:sp>
      <p:cxnSp>
        <p:nvCxnSpPr>
          <p:cNvPr id="37899" name="AutoShape 11"/>
          <p:cNvCxnSpPr>
            <a:cxnSpLocks noChangeShapeType="1"/>
            <a:stCxn id="37898" idx="2"/>
            <a:endCxn id="37897" idx="0"/>
          </p:cNvCxnSpPr>
          <p:nvPr/>
        </p:nvCxnSpPr>
        <p:spPr bwMode="auto">
          <a:xfrm>
            <a:off x="7478713" y="3481388"/>
            <a:ext cx="363537" cy="909637"/>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0" name="Text Box 12"/>
          <p:cNvSpPr txBox="1">
            <a:spLocks noChangeArrowheads="1"/>
          </p:cNvSpPr>
          <p:nvPr/>
        </p:nvSpPr>
        <p:spPr bwMode="auto">
          <a:xfrm>
            <a:off x="2846388" y="719138"/>
            <a:ext cx="6067425" cy="650875"/>
          </a:xfrm>
          <a:prstGeom prst="rect">
            <a:avLst/>
          </a:prstGeom>
          <a:solidFill>
            <a:schemeClr val="bg1"/>
          </a:solidFill>
          <a:ln w="952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a:latin typeface="Times New Roman" pitchFamily="18" charset="0"/>
                <a:cs typeface="Times New Roman" pitchFamily="18" charset="0"/>
                <a:sym typeface="Symbol" pitchFamily="18" charset="2"/>
              </a:rPr>
              <a:t>Two kinds of decoration are shown  </a:t>
            </a:r>
            <a:br>
              <a:rPr lang="en-US">
                <a:latin typeface="Times New Roman" pitchFamily="18" charset="0"/>
                <a:cs typeface="Times New Roman" pitchFamily="18" charset="0"/>
                <a:sym typeface="Symbol" pitchFamily="18" charset="2"/>
              </a:rPr>
            </a:br>
            <a:r>
              <a:rPr lang="en-US">
                <a:latin typeface="Times New Roman" pitchFamily="18" charset="0"/>
                <a:cs typeface="Times New Roman" pitchFamily="18" charset="0"/>
                <a:sym typeface="Symbol" pitchFamily="18" charset="2"/>
              </a:rPr>
              <a:t>(i) for an isolated object, (ii) an object which can be an unit cell.</a:t>
            </a:r>
          </a:p>
        </p:txBody>
      </p:sp>
      <p:pic>
        <p:nvPicPr>
          <p:cNvPr id="37901" name="Picture 1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64238" y="1509713"/>
            <a:ext cx="1249362" cy="124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02" name="AutoShape 14"/>
          <p:cNvSpPr>
            <a:spLocks noChangeArrowheads="1"/>
          </p:cNvSpPr>
          <p:nvPr/>
        </p:nvSpPr>
        <p:spPr bwMode="auto">
          <a:xfrm>
            <a:off x="7546975" y="1482725"/>
            <a:ext cx="1322388" cy="1195388"/>
          </a:xfrm>
          <a:prstGeom prst="flowChartAlternateProcess">
            <a:avLst/>
          </a:prstGeom>
          <a:solidFill>
            <a:srgbClr val="FFE1FF"/>
          </a:solidFill>
          <a:ln w="9525" algn="ctr">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0" hangingPunct="0"/>
            <a:r>
              <a:rPr lang="en-US">
                <a:latin typeface="Times New Roman" pitchFamily="18" charset="0"/>
              </a:rPr>
              <a:t>Redundant mirrors which need not be drawn</a:t>
            </a:r>
            <a:endParaRPr lang="en-US" sz="2400">
              <a:latin typeface="Times New Roman" pitchFamily="18" charset="0"/>
            </a:endParaRPr>
          </a:p>
        </p:txBody>
      </p:sp>
      <p:sp>
        <p:nvSpPr>
          <p:cNvPr id="37903" name="Line 15"/>
          <p:cNvSpPr>
            <a:spLocks noChangeShapeType="1"/>
          </p:cNvSpPr>
          <p:nvPr/>
        </p:nvSpPr>
        <p:spPr bwMode="auto">
          <a:xfrm flipH="1">
            <a:off x="6945313" y="2046288"/>
            <a:ext cx="604837"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7904" name="Line 16"/>
          <p:cNvSpPr>
            <a:spLocks noChangeShapeType="1"/>
          </p:cNvSpPr>
          <p:nvPr/>
        </p:nvSpPr>
        <p:spPr bwMode="auto">
          <a:xfrm flipH="1">
            <a:off x="6915150" y="2041525"/>
            <a:ext cx="646113" cy="436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cxnSp>
        <p:nvCxnSpPr>
          <p:cNvPr id="37905" name="AutoShape 17"/>
          <p:cNvCxnSpPr>
            <a:cxnSpLocks noChangeShapeType="1"/>
            <a:stCxn id="37895" idx="3"/>
            <a:endCxn id="37914" idx="2"/>
          </p:cNvCxnSpPr>
          <p:nvPr/>
        </p:nvCxnSpPr>
        <p:spPr bwMode="auto">
          <a:xfrm>
            <a:off x="3865563" y="4840288"/>
            <a:ext cx="201612" cy="209550"/>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7906" name="Group 18"/>
          <p:cNvGrpSpPr>
            <a:grpSpLocks/>
          </p:cNvGrpSpPr>
          <p:nvPr/>
        </p:nvGrpSpPr>
        <p:grpSpPr bwMode="auto">
          <a:xfrm>
            <a:off x="3792538" y="3568700"/>
            <a:ext cx="2827337" cy="3016250"/>
            <a:chOff x="2389" y="2248"/>
            <a:chExt cx="1781" cy="1900"/>
          </a:xfrm>
        </p:grpSpPr>
        <p:pic>
          <p:nvPicPr>
            <p:cNvPr id="37913" name="Picture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9" y="2248"/>
              <a:ext cx="1781" cy="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14" name="Oval 20"/>
            <p:cNvSpPr>
              <a:spLocks noChangeArrowheads="1"/>
            </p:cNvSpPr>
            <p:nvPr/>
          </p:nvSpPr>
          <p:spPr bwMode="auto">
            <a:xfrm>
              <a:off x="2562" y="3158"/>
              <a:ext cx="46" cy="4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7907" name="Oval 21"/>
          <p:cNvSpPr>
            <a:spLocks noChangeArrowheads="1"/>
          </p:cNvSpPr>
          <p:nvPr/>
        </p:nvSpPr>
        <p:spPr bwMode="auto">
          <a:xfrm rot="2603640">
            <a:off x="3881438" y="5949950"/>
            <a:ext cx="358775" cy="719138"/>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7908" name="AutoShape 22"/>
          <p:cNvCxnSpPr>
            <a:cxnSpLocks noChangeShapeType="1"/>
            <a:stCxn id="37909" idx="3"/>
            <a:endCxn id="37907" idx="2"/>
          </p:cNvCxnSpPr>
          <p:nvPr/>
        </p:nvCxnSpPr>
        <p:spPr bwMode="auto">
          <a:xfrm>
            <a:off x="3132138" y="6108700"/>
            <a:ext cx="798512" cy="77788"/>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9" name="Text Box 23"/>
          <p:cNvSpPr txBox="1">
            <a:spLocks noChangeArrowheads="1"/>
          </p:cNvSpPr>
          <p:nvPr/>
        </p:nvSpPr>
        <p:spPr bwMode="auto">
          <a:xfrm>
            <a:off x="971550" y="5692775"/>
            <a:ext cx="2160588" cy="831850"/>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sz="1600">
                <a:solidFill>
                  <a:srgbClr val="FF3300"/>
                </a:solidFill>
                <a:latin typeface="Times New Roman" pitchFamily="18" charset="0"/>
                <a:sym typeface="Wingdings" pitchFamily="2" charset="2"/>
              </a:rPr>
              <a:t>This is not a Motif as it is not repeated identically at each point</a:t>
            </a:r>
          </a:p>
        </p:txBody>
      </p:sp>
      <p:sp>
        <p:nvSpPr>
          <p:cNvPr id="37910" name="Oval 24"/>
          <p:cNvSpPr>
            <a:spLocks noChangeArrowheads="1"/>
          </p:cNvSpPr>
          <p:nvPr/>
        </p:nvSpPr>
        <p:spPr bwMode="auto">
          <a:xfrm>
            <a:off x="7091363" y="5518150"/>
            <a:ext cx="360362"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7911" name="AutoShape 25"/>
          <p:cNvCxnSpPr>
            <a:cxnSpLocks noChangeShapeType="1"/>
            <a:stCxn id="37912" idx="0"/>
            <a:endCxn id="37910" idx="4"/>
          </p:cNvCxnSpPr>
          <p:nvPr/>
        </p:nvCxnSpPr>
        <p:spPr bwMode="auto">
          <a:xfrm flipH="1" flipV="1">
            <a:off x="7272338" y="5949950"/>
            <a:ext cx="392112" cy="215900"/>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12" name="Text Box 26"/>
          <p:cNvSpPr txBox="1">
            <a:spLocks noChangeArrowheads="1"/>
          </p:cNvSpPr>
          <p:nvPr/>
        </p:nvSpPr>
        <p:spPr bwMode="auto">
          <a:xfrm>
            <a:off x="7308850" y="6165850"/>
            <a:ext cx="711200" cy="373063"/>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a:solidFill>
                  <a:srgbClr val="FF3300"/>
                </a:solidFill>
                <a:latin typeface="Times New Roman" pitchFamily="18" charset="0"/>
                <a:sym typeface="Wingdings" pitchFamily="2" charset="2"/>
              </a:rPr>
              <a:t>Motif</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1925638" y="784225"/>
            <a:ext cx="619125" cy="427038"/>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mm</a:t>
            </a:r>
          </a:p>
        </p:txBody>
      </p:sp>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9313" y="158750"/>
            <a:ext cx="2695575" cy="321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413" y="195263"/>
            <a:ext cx="2697162" cy="3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7" name="Text Box 5"/>
          <p:cNvSpPr txBox="1">
            <a:spLocks noChangeArrowheads="1"/>
          </p:cNvSpPr>
          <p:nvPr/>
        </p:nvSpPr>
        <p:spPr bwMode="auto">
          <a:xfrm>
            <a:off x="5056188" y="754063"/>
            <a:ext cx="401637" cy="427037"/>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m</a:t>
            </a:r>
          </a:p>
        </p:txBody>
      </p:sp>
      <p:pic>
        <p:nvPicPr>
          <p:cNvPr id="3891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638" y="246063"/>
            <a:ext cx="2846387" cy="303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9" name="Text Box 7"/>
          <p:cNvSpPr txBox="1">
            <a:spLocks noChangeArrowheads="1"/>
          </p:cNvSpPr>
          <p:nvPr/>
        </p:nvSpPr>
        <p:spPr bwMode="auto">
          <a:xfrm>
            <a:off x="7988300" y="841375"/>
            <a:ext cx="401638" cy="427038"/>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m</a:t>
            </a:r>
          </a:p>
        </p:txBody>
      </p:sp>
      <p:graphicFrame>
        <p:nvGraphicFramePr>
          <p:cNvPr id="38920" name="Object 8"/>
          <p:cNvGraphicFramePr>
            <a:graphicFrameLocks noChangeAspect="1"/>
          </p:cNvGraphicFramePr>
          <p:nvPr/>
        </p:nvGraphicFramePr>
        <p:xfrm>
          <a:off x="4017963" y="3590925"/>
          <a:ext cx="1417637" cy="1477963"/>
        </p:xfrm>
        <a:graphic>
          <a:graphicData uri="http://schemas.openxmlformats.org/presentationml/2006/ole">
            <mc:AlternateContent xmlns:mc="http://schemas.openxmlformats.org/markup-compatibility/2006">
              <mc:Choice xmlns:v="urn:schemas-microsoft-com:vml" Requires="v">
                <p:oleObj name="CorelDRAW" r:id="rId5" imgW="2843403" imgH="2965907" progId="CorelDRAW.Graphic.13">
                  <p:embed/>
                </p:oleObj>
              </mc:Choice>
              <mc:Fallback>
                <p:oleObj name="CorelDRAW" r:id="rId5" imgW="2843403" imgH="2965907" progId="CorelDRAW.Graphic.13">
                  <p:embed/>
                  <p:pic>
                    <p:nvPicPr>
                      <p:cNvPr id="3892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7963" y="3590925"/>
                        <a:ext cx="1417637" cy="147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892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5863" y="3611563"/>
            <a:ext cx="1298575"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22"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3713" y="3659188"/>
            <a:ext cx="1379537" cy="147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23" name="AutoShape 11"/>
          <p:cNvSpPr>
            <a:spLocks noChangeArrowheads="1"/>
          </p:cNvSpPr>
          <p:nvPr/>
        </p:nvSpPr>
        <p:spPr bwMode="auto">
          <a:xfrm>
            <a:off x="57150" y="4076700"/>
            <a:ext cx="914400" cy="525463"/>
          </a:xfrm>
          <a:prstGeom prst="rightArrow">
            <a:avLst>
              <a:gd name="adj1" fmla="val 68815"/>
              <a:gd name="adj2" fmla="val 46203"/>
            </a:avLst>
          </a:prstGeom>
          <a:solidFill>
            <a:srgbClr val="CCFFFF"/>
          </a:solidFill>
          <a:ln w="9525" algn="ctr">
            <a:solidFill>
              <a:srgbClr val="00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spAutoFit/>
          </a:bodyPr>
          <a:lstStyle/>
          <a:p>
            <a:pPr algn="ctr"/>
            <a:r>
              <a:rPr lang="en-US" sz="1000">
                <a:solidFill>
                  <a:srgbClr val="3333FF"/>
                </a:solidFill>
                <a:latin typeface="Times New Roman" pitchFamily="18" charset="0"/>
              </a:rPr>
              <a:t>Possible UCs</a:t>
            </a:r>
          </a:p>
          <a:p>
            <a:pPr algn="ctr"/>
            <a:r>
              <a:rPr lang="en-US" sz="1000">
                <a:solidFill>
                  <a:srgbClr val="3333FF"/>
                </a:solidFill>
                <a:latin typeface="Times New Roman" pitchFamily="18" charset="0"/>
              </a:rPr>
              <a:t>of Crystals</a:t>
            </a:r>
          </a:p>
        </p:txBody>
      </p:sp>
      <p:sp>
        <p:nvSpPr>
          <p:cNvPr id="38924" name="Oval 12"/>
          <p:cNvSpPr>
            <a:spLocks noChangeArrowheads="1"/>
          </p:cNvSpPr>
          <p:nvPr/>
        </p:nvSpPr>
        <p:spPr bwMode="auto">
          <a:xfrm>
            <a:off x="2235200" y="4776788"/>
            <a:ext cx="360363"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925" name="Text Box 13"/>
          <p:cNvSpPr txBox="1">
            <a:spLocks noChangeArrowheads="1"/>
          </p:cNvSpPr>
          <p:nvPr/>
        </p:nvSpPr>
        <p:spPr bwMode="auto">
          <a:xfrm>
            <a:off x="4216400" y="5445125"/>
            <a:ext cx="800100" cy="373063"/>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a:solidFill>
                  <a:srgbClr val="FF3300"/>
                </a:solidFill>
                <a:latin typeface="Times New Roman" pitchFamily="18" charset="0"/>
                <a:sym typeface="Wingdings" pitchFamily="2" charset="2"/>
              </a:rPr>
              <a:t>Motifs</a:t>
            </a:r>
          </a:p>
        </p:txBody>
      </p:sp>
      <p:sp>
        <p:nvSpPr>
          <p:cNvPr id="38926" name="Oval 14"/>
          <p:cNvSpPr>
            <a:spLocks noChangeArrowheads="1"/>
          </p:cNvSpPr>
          <p:nvPr/>
        </p:nvSpPr>
        <p:spPr bwMode="auto">
          <a:xfrm>
            <a:off x="3971925" y="4773613"/>
            <a:ext cx="360363"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8927" name="AutoShape 15"/>
          <p:cNvCxnSpPr>
            <a:cxnSpLocks noChangeShapeType="1"/>
            <a:stCxn id="38925" idx="0"/>
            <a:endCxn id="38926" idx="4"/>
          </p:cNvCxnSpPr>
          <p:nvPr/>
        </p:nvCxnSpPr>
        <p:spPr bwMode="auto">
          <a:xfrm flipH="1" flipV="1">
            <a:off x="4152900" y="5205413"/>
            <a:ext cx="463550" cy="239712"/>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8" name="Oval 16"/>
          <p:cNvSpPr>
            <a:spLocks noChangeArrowheads="1"/>
          </p:cNvSpPr>
          <p:nvPr/>
        </p:nvSpPr>
        <p:spPr bwMode="auto">
          <a:xfrm>
            <a:off x="6762750" y="4797425"/>
            <a:ext cx="360363"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8929" name="AutoShape 17"/>
          <p:cNvCxnSpPr>
            <a:cxnSpLocks noChangeShapeType="1"/>
            <a:stCxn id="38925" idx="0"/>
            <a:endCxn id="38928" idx="4"/>
          </p:cNvCxnSpPr>
          <p:nvPr/>
        </p:nvCxnSpPr>
        <p:spPr bwMode="auto">
          <a:xfrm flipV="1">
            <a:off x="4616450" y="5229225"/>
            <a:ext cx="2327275" cy="215900"/>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30" name="AutoShape 18"/>
          <p:cNvCxnSpPr>
            <a:cxnSpLocks noChangeShapeType="1"/>
            <a:stCxn id="38925" idx="0"/>
            <a:endCxn id="38924" idx="4"/>
          </p:cNvCxnSpPr>
          <p:nvPr/>
        </p:nvCxnSpPr>
        <p:spPr bwMode="auto">
          <a:xfrm flipH="1" flipV="1">
            <a:off x="2416175" y="5208588"/>
            <a:ext cx="2200275" cy="236537"/>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3521075"/>
            <a:ext cx="2897188" cy="312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39" name="Text Box 3"/>
          <p:cNvSpPr txBox="1">
            <a:spLocks noChangeArrowheads="1"/>
          </p:cNvSpPr>
          <p:nvPr/>
        </p:nvSpPr>
        <p:spPr bwMode="auto">
          <a:xfrm>
            <a:off x="1606550" y="4230688"/>
            <a:ext cx="1384300" cy="366712"/>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i="1">
                <a:solidFill>
                  <a:schemeClr val="bg1"/>
                </a:solidFill>
                <a:latin typeface="Times New Roman" pitchFamily="18" charset="0"/>
                <a:cs typeface="Times New Roman" pitchFamily="18" charset="0"/>
                <a:sym typeface="Symbol" pitchFamily="18" charset="2"/>
              </a:rPr>
              <a:t>No symmetry</a:t>
            </a:r>
          </a:p>
        </p:txBody>
      </p:sp>
      <p:grpSp>
        <p:nvGrpSpPr>
          <p:cNvPr id="39940" name="Group 4"/>
          <p:cNvGrpSpPr>
            <a:grpSpLocks/>
          </p:cNvGrpSpPr>
          <p:nvPr/>
        </p:nvGrpSpPr>
        <p:grpSpPr bwMode="auto">
          <a:xfrm>
            <a:off x="3803650" y="4292600"/>
            <a:ext cx="1535113" cy="1562100"/>
            <a:chOff x="3172" y="2814"/>
            <a:chExt cx="967" cy="984"/>
          </a:xfrm>
        </p:grpSpPr>
        <p:pic>
          <p:nvPicPr>
            <p:cNvPr id="3995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 y="2904"/>
              <a:ext cx="760" cy="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52" name="AutoShape 6"/>
            <p:cNvSpPr>
              <a:spLocks noChangeAspect="1" noChangeArrowheads="1"/>
            </p:cNvSpPr>
            <p:nvPr/>
          </p:nvSpPr>
          <p:spPr bwMode="auto">
            <a:xfrm>
              <a:off x="3905" y="2814"/>
              <a:ext cx="231" cy="200"/>
            </a:xfrm>
            <a:prstGeom prst="irregularSeal1">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953" name="AutoShape 7"/>
            <p:cNvSpPr>
              <a:spLocks noChangeAspect="1" noChangeArrowheads="1"/>
            </p:cNvSpPr>
            <p:nvPr/>
          </p:nvSpPr>
          <p:spPr bwMode="auto">
            <a:xfrm>
              <a:off x="3172" y="3598"/>
              <a:ext cx="231" cy="200"/>
            </a:xfrm>
            <a:prstGeom prst="irregularSeal1">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954" name="AutoShape 8"/>
            <p:cNvSpPr>
              <a:spLocks noChangeAspect="1" noChangeArrowheads="1"/>
            </p:cNvSpPr>
            <p:nvPr/>
          </p:nvSpPr>
          <p:spPr bwMode="auto">
            <a:xfrm>
              <a:off x="3908" y="3599"/>
              <a:ext cx="231" cy="199"/>
            </a:xfrm>
            <a:prstGeom prst="irregularSeal1">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955" name="AutoShape 9"/>
            <p:cNvSpPr>
              <a:spLocks noChangeAspect="1" noChangeArrowheads="1"/>
            </p:cNvSpPr>
            <p:nvPr/>
          </p:nvSpPr>
          <p:spPr bwMode="auto">
            <a:xfrm>
              <a:off x="3179" y="2826"/>
              <a:ext cx="231" cy="200"/>
            </a:xfrm>
            <a:prstGeom prst="irregularSeal1">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pic>
        <p:nvPicPr>
          <p:cNvPr id="39941"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163" y="179388"/>
            <a:ext cx="3014662" cy="3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2" name="Text Box 11"/>
          <p:cNvSpPr txBox="1">
            <a:spLocks noChangeArrowheads="1"/>
          </p:cNvSpPr>
          <p:nvPr/>
        </p:nvSpPr>
        <p:spPr bwMode="auto">
          <a:xfrm>
            <a:off x="2681288" y="800100"/>
            <a:ext cx="323850" cy="427038"/>
          </a:xfrm>
          <a:prstGeom prst="rect">
            <a:avLst/>
          </a:prstGeom>
          <a:solidFill>
            <a:srgbClr val="0066FF"/>
          </a:solidFill>
          <a:ln>
            <a:noFill/>
          </a:ln>
          <a:effectLst/>
          <a:extLst>
            <a:ext uri="{91240B29-F687-4F45-9708-019B960494DF}">
              <a14:hiddenLine xmlns:a14="http://schemas.microsoft.com/office/drawing/2010/main" w="25400">
                <a:solidFill>
                  <a:srgbClr val="CC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200">
                <a:solidFill>
                  <a:schemeClr val="bg1"/>
                </a:solidFill>
                <a:latin typeface="Times New Roman" pitchFamily="18" charset="0"/>
                <a:cs typeface="Times New Roman" pitchFamily="18" charset="0"/>
                <a:sym typeface="Symbol" pitchFamily="18" charset="2"/>
              </a:rPr>
              <a:t>4</a:t>
            </a:r>
          </a:p>
        </p:txBody>
      </p:sp>
      <p:pic>
        <p:nvPicPr>
          <p:cNvPr id="39943"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1750" y="1117600"/>
            <a:ext cx="1454150" cy="155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4" name="Text Box 13"/>
          <p:cNvSpPr txBox="1">
            <a:spLocks noChangeArrowheads="1"/>
          </p:cNvSpPr>
          <p:nvPr/>
        </p:nvSpPr>
        <p:spPr bwMode="auto">
          <a:xfrm>
            <a:off x="5468938" y="4625975"/>
            <a:ext cx="3297237" cy="919163"/>
          </a:xfrm>
          <a:prstGeom prst="rect">
            <a:avLst/>
          </a:prstGeom>
          <a:solidFill>
            <a:schemeClr val="bg1"/>
          </a:solidFill>
          <a:ln w="3175">
            <a:solidFill>
              <a:srgbClr val="CC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i="1">
                <a:latin typeface="Times New Roman" pitchFamily="18" charset="0"/>
                <a:cs typeface="Times New Roman" pitchFamily="18" charset="0"/>
                <a:sym typeface="Symbol" pitchFamily="18" charset="2"/>
              </a:rPr>
              <a:t>If this is an unit cell of a crystal → then the crystal would still have translational symmetry</a:t>
            </a:r>
          </a:p>
        </p:txBody>
      </p:sp>
      <p:sp>
        <p:nvSpPr>
          <p:cNvPr id="39945" name="Text Box 14"/>
          <p:cNvSpPr txBox="1">
            <a:spLocks noChangeArrowheads="1"/>
          </p:cNvSpPr>
          <p:nvPr/>
        </p:nvSpPr>
        <p:spPr bwMode="auto">
          <a:xfrm>
            <a:off x="1331913" y="5516563"/>
            <a:ext cx="1735137" cy="317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600" i="1">
                <a:solidFill>
                  <a:srgbClr val="0000FF"/>
                </a:solidFill>
                <a:latin typeface="Times New Roman" pitchFamily="18" charset="0"/>
                <a:sym typeface="Wingdings" pitchFamily="2" charset="2"/>
              </a:rPr>
              <a:t>This is Amorphous!!</a:t>
            </a:r>
          </a:p>
        </p:txBody>
      </p:sp>
      <p:sp>
        <p:nvSpPr>
          <p:cNvPr id="39946" name="Text Box 15"/>
          <p:cNvSpPr txBox="1">
            <a:spLocks noChangeArrowheads="1"/>
          </p:cNvSpPr>
          <p:nvPr/>
        </p:nvSpPr>
        <p:spPr bwMode="auto">
          <a:xfrm>
            <a:off x="3708400" y="4941888"/>
            <a:ext cx="1414463" cy="317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1600" i="1">
                <a:solidFill>
                  <a:srgbClr val="0000FF"/>
                </a:solidFill>
                <a:latin typeface="Times New Roman" pitchFamily="18" charset="0"/>
                <a:sym typeface="Wingdings" pitchFamily="2" charset="2"/>
              </a:rPr>
              <a:t>This is a Crystal</a:t>
            </a:r>
          </a:p>
        </p:txBody>
      </p:sp>
      <p:sp>
        <p:nvSpPr>
          <p:cNvPr id="39947" name="Oval 16"/>
          <p:cNvSpPr>
            <a:spLocks noChangeArrowheads="1"/>
          </p:cNvSpPr>
          <p:nvPr/>
        </p:nvSpPr>
        <p:spPr bwMode="auto">
          <a:xfrm>
            <a:off x="4987925" y="5478463"/>
            <a:ext cx="360363"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9948" name="AutoShape 17"/>
          <p:cNvCxnSpPr>
            <a:cxnSpLocks noChangeShapeType="1"/>
            <a:stCxn id="39949" idx="0"/>
            <a:endCxn id="39947" idx="4"/>
          </p:cNvCxnSpPr>
          <p:nvPr/>
        </p:nvCxnSpPr>
        <p:spPr bwMode="auto">
          <a:xfrm flipH="1" flipV="1">
            <a:off x="5168900" y="5910263"/>
            <a:ext cx="1608138" cy="182562"/>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49" name="Text Box 18"/>
          <p:cNvSpPr txBox="1">
            <a:spLocks noChangeArrowheads="1"/>
          </p:cNvSpPr>
          <p:nvPr/>
        </p:nvSpPr>
        <p:spPr bwMode="auto">
          <a:xfrm>
            <a:off x="5221288" y="6092825"/>
            <a:ext cx="3111500" cy="373063"/>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a:solidFill>
                  <a:srgbClr val="FF3300"/>
                </a:solidFill>
                <a:latin typeface="Times New Roman" pitchFamily="18" charset="0"/>
                <a:sym typeface="Wingdings" pitchFamily="2" charset="2"/>
              </a:rPr>
              <a:t>Motif: object with no symmetry</a:t>
            </a:r>
          </a:p>
        </p:txBody>
      </p:sp>
      <p:cxnSp>
        <p:nvCxnSpPr>
          <p:cNvPr id="39950" name="AutoShape 19"/>
          <p:cNvCxnSpPr>
            <a:cxnSpLocks noChangeShapeType="1"/>
            <a:stCxn id="39946" idx="3"/>
            <a:endCxn id="39944" idx="1"/>
          </p:cNvCxnSpPr>
          <p:nvPr/>
        </p:nvCxnSpPr>
        <p:spPr bwMode="auto">
          <a:xfrm flipV="1">
            <a:off x="5122863" y="5086350"/>
            <a:ext cx="346075" cy="14288"/>
          </a:xfrm>
          <a:prstGeom prst="straightConnector1">
            <a:avLst/>
          </a:prstGeom>
          <a:noFill/>
          <a:ln w="952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a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313" y="2006600"/>
            <a:ext cx="2620962" cy="284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Oval 3"/>
          <p:cNvSpPr>
            <a:spLocks noChangeArrowheads="1"/>
          </p:cNvSpPr>
          <p:nvPr/>
        </p:nvSpPr>
        <p:spPr bwMode="auto">
          <a:xfrm>
            <a:off x="5403850" y="4076700"/>
            <a:ext cx="360363" cy="431800"/>
          </a:xfrm>
          <a:prstGeom prst="ellipse">
            <a:avLst/>
          </a:prstGeom>
          <a:noFill/>
          <a:ln w="9525">
            <a:solidFill>
              <a:srgbClr val="FF33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40964" name="AutoShape 4"/>
          <p:cNvCxnSpPr>
            <a:cxnSpLocks noChangeShapeType="1"/>
            <a:stCxn id="40965" idx="0"/>
            <a:endCxn id="40963" idx="4"/>
          </p:cNvCxnSpPr>
          <p:nvPr/>
        </p:nvCxnSpPr>
        <p:spPr bwMode="auto">
          <a:xfrm flipH="1" flipV="1">
            <a:off x="5584825" y="4508500"/>
            <a:ext cx="1008063" cy="649288"/>
          </a:xfrm>
          <a:prstGeom prst="straightConnector1">
            <a:avLst/>
          </a:prstGeom>
          <a:noFill/>
          <a:ln w="9525">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65" name="Text Box 5"/>
          <p:cNvSpPr txBox="1">
            <a:spLocks noChangeArrowheads="1"/>
          </p:cNvSpPr>
          <p:nvPr/>
        </p:nvSpPr>
        <p:spPr bwMode="auto">
          <a:xfrm>
            <a:off x="4284663" y="5157788"/>
            <a:ext cx="4616450" cy="373062"/>
          </a:xfrm>
          <a:prstGeom prst="rect">
            <a:avLst/>
          </a:prstGeom>
          <a:solidFill>
            <a:schemeClr val="bg1"/>
          </a:solidFill>
          <a:ln w="6350" algn="ctr">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buFont typeface="Wingdings" pitchFamily="2" charset="2"/>
              <a:buNone/>
            </a:pPr>
            <a:r>
              <a:rPr lang="en-US">
                <a:solidFill>
                  <a:srgbClr val="FF3300"/>
                </a:solidFill>
                <a:latin typeface="Times New Roman" pitchFamily="18" charset="0"/>
                <a:sym typeface="Wingdings" pitchFamily="2" charset="2"/>
              </a:rPr>
              <a:t>Not a Motif (as repeated at random orientations)</a:t>
            </a:r>
          </a:p>
        </p:txBody>
      </p:sp>
      <p:sp>
        <p:nvSpPr>
          <p:cNvPr id="40966" name="Text Box 6"/>
          <p:cNvSpPr txBox="1">
            <a:spLocks noChangeArrowheads="1"/>
          </p:cNvSpPr>
          <p:nvPr/>
        </p:nvSpPr>
        <p:spPr bwMode="auto">
          <a:xfrm>
            <a:off x="1763713" y="3240088"/>
            <a:ext cx="1244600" cy="377825"/>
          </a:xfrm>
          <a:prstGeom prst="rect">
            <a:avLst/>
          </a:prstGeom>
          <a:solidFill>
            <a:schemeClr val="bg1"/>
          </a:solidFill>
          <a:ln>
            <a:noFill/>
          </a:ln>
          <a:effectLst/>
          <a:extLst>
            <a:ext uri="{91240B29-F687-4F45-9708-019B960494DF}">
              <a14:hiddenLine xmlns:a14="http://schemas.microsoft.com/office/drawing/2010/main" w="635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Wingdings" pitchFamily="2" charset="2"/>
              <a:buNone/>
            </a:pPr>
            <a:r>
              <a:rPr lang="en-US" sz="2000" i="1">
                <a:solidFill>
                  <a:srgbClr val="0000FF"/>
                </a:solidFill>
                <a:latin typeface="Times New Roman" pitchFamily="18" charset="0"/>
                <a:sym typeface="Wingdings" pitchFamily="2" charset="2"/>
              </a:rPr>
              <a:t>Amorphous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696" y="1490007"/>
            <a:ext cx="7260608" cy="2456057"/>
          </a:xfrm>
          <a:prstGeom prst="rect">
            <a:avLst/>
          </a:prstGeom>
        </p:spPr>
        <p:txBody>
          <a:bodyPr wrap="square">
            <a:spAutoFit/>
          </a:bodyPr>
          <a:lstStyle/>
          <a:p>
            <a:pPr algn="ctr" eaLnBrk="0" hangingPunct="0">
              <a:lnSpc>
                <a:spcPct val="120000"/>
              </a:lnSpc>
              <a:defRPr/>
            </a:pPr>
            <a:r>
              <a:rPr lang="en-US" sz="3200" dirty="0">
                <a:latin typeface="Times New Roman" pitchFamily="18" charset="0"/>
              </a:rPr>
              <a:t>Lattices have the highest symmetry</a:t>
            </a:r>
          </a:p>
          <a:p>
            <a:pPr algn="ctr" eaLnBrk="0" hangingPunct="0">
              <a:lnSpc>
                <a:spcPct val="120000"/>
              </a:lnSpc>
              <a:defRPr/>
            </a:pPr>
            <a:r>
              <a:rPr lang="en-US" sz="3200" i="1" dirty="0">
                <a:latin typeface="Times New Roman" pitchFamily="18" charset="0"/>
              </a:rPr>
              <a:t>(Which is allowed for it)</a:t>
            </a:r>
            <a:br>
              <a:rPr lang="en-US" sz="3200" dirty="0">
                <a:latin typeface="Times New Roman" pitchFamily="18" charset="0"/>
              </a:rPr>
            </a:br>
            <a:r>
              <a:rPr lang="en-US" sz="3200" dirty="0">
                <a:solidFill>
                  <a:srgbClr val="FF3300"/>
                </a:solidFill>
                <a:latin typeface="Comic Sans MS" pitchFamily="66" charset="0"/>
                <a:sym typeface="Wingdings" pitchFamily="2" charset="2"/>
              </a:rPr>
              <a:t> Crystals based on the lattice</a:t>
            </a:r>
            <a:br>
              <a:rPr lang="en-US" sz="3200" dirty="0">
                <a:solidFill>
                  <a:srgbClr val="FF3300"/>
                </a:solidFill>
                <a:latin typeface="Comic Sans MS" pitchFamily="66" charset="0"/>
                <a:sym typeface="Wingdings" pitchFamily="2" charset="2"/>
              </a:rPr>
            </a:br>
            <a:r>
              <a:rPr lang="en-US" sz="3200" dirty="0">
                <a:solidFill>
                  <a:srgbClr val="FF3300"/>
                </a:solidFill>
                <a:latin typeface="Comic Sans MS" pitchFamily="66" charset="0"/>
                <a:sym typeface="Wingdings" pitchFamily="2" charset="2"/>
              </a:rPr>
              <a:t> </a:t>
            </a:r>
            <a:r>
              <a:rPr lang="en-US" sz="3200" dirty="0">
                <a:solidFill>
                  <a:srgbClr val="0000FF"/>
                </a:solidFill>
                <a:latin typeface="Comic Sans MS" pitchFamily="66" charset="0"/>
                <a:sym typeface="Wingdings" pitchFamily="2" charset="2"/>
              </a:rPr>
              <a:t> </a:t>
            </a:r>
            <a:r>
              <a:rPr lang="en-US" sz="3200" b="1" dirty="0">
                <a:solidFill>
                  <a:srgbClr val="0000FF"/>
                </a:solidFill>
                <a:latin typeface="Comic Sans MS" pitchFamily="66" charset="0"/>
                <a:sym typeface="Wingdings" pitchFamily="2" charset="2"/>
              </a:rPr>
              <a:t>can</a:t>
            </a:r>
            <a:r>
              <a:rPr lang="en-US" sz="3200" dirty="0">
                <a:solidFill>
                  <a:srgbClr val="FF3300"/>
                </a:solidFill>
                <a:latin typeface="Comic Sans MS" pitchFamily="66" charset="0"/>
                <a:sym typeface="Wingdings" pitchFamily="2" charset="2"/>
              </a:rPr>
              <a:t> have lower symmetry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ew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5863" y="850900"/>
            <a:ext cx="309562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3" descr="tricilinic c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3035300"/>
            <a:ext cx="322897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4"/>
          <p:cNvSpPr txBox="1">
            <a:spLocks noChangeArrowheads="1"/>
          </p:cNvSpPr>
          <p:nvPr/>
        </p:nvSpPr>
        <p:spPr bwMode="auto">
          <a:xfrm>
            <a:off x="2781300" y="5902325"/>
            <a:ext cx="1797050" cy="704850"/>
          </a:xfrm>
          <a:prstGeom prst="rect">
            <a:avLst/>
          </a:prstGeom>
          <a:solidFill>
            <a:srgbClr val="FFE1FF"/>
          </a:solidFill>
          <a:ln w="317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000">
                <a:solidFill>
                  <a:srgbClr val="CC3300"/>
                </a:solidFill>
                <a:latin typeface="Times New Roman" pitchFamily="18" charset="0"/>
                <a:cs typeface="Times New Roman" pitchFamily="18" charset="0"/>
                <a:sym typeface="Symbol" pitchFamily="18" charset="2"/>
              </a:rPr>
              <a:t>Unit cell of</a:t>
            </a:r>
            <a:br>
              <a:rPr lang="en-US" sz="2000">
                <a:solidFill>
                  <a:srgbClr val="CC3300"/>
                </a:solidFill>
                <a:latin typeface="Times New Roman" pitchFamily="18" charset="0"/>
                <a:cs typeface="Times New Roman" pitchFamily="18" charset="0"/>
                <a:sym typeface="Symbol" pitchFamily="18" charset="2"/>
              </a:rPr>
            </a:br>
            <a:r>
              <a:rPr lang="en-US" sz="2000">
                <a:solidFill>
                  <a:srgbClr val="CC3300"/>
                </a:solidFill>
                <a:latin typeface="Times New Roman" pitchFamily="18" charset="0"/>
                <a:cs typeface="Times New Roman" pitchFamily="18" charset="0"/>
                <a:sym typeface="Symbol" pitchFamily="18" charset="2"/>
              </a:rPr>
              <a:t>Triclinic crystal</a:t>
            </a:r>
          </a:p>
        </p:txBody>
      </p:sp>
      <p:sp>
        <p:nvSpPr>
          <p:cNvPr id="43013" name="Text Box 5"/>
          <p:cNvSpPr txBox="1">
            <a:spLocks noChangeArrowheads="1"/>
          </p:cNvSpPr>
          <p:nvPr/>
        </p:nvSpPr>
        <p:spPr bwMode="auto">
          <a:xfrm>
            <a:off x="5375275" y="3716338"/>
            <a:ext cx="2716213" cy="704850"/>
          </a:xfrm>
          <a:prstGeom prst="rect">
            <a:avLst/>
          </a:prstGeom>
          <a:solidFill>
            <a:srgbClr val="FFE1FF"/>
          </a:solidFill>
          <a:ln w="317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000">
                <a:solidFill>
                  <a:srgbClr val="CC3300"/>
                </a:solidFill>
                <a:latin typeface="Times New Roman" pitchFamily="18" charset="0"/>
                <a:cs typeface="Times New Roman" pitchFamily="18" charset="0"/>
                <a:sym typeface="Symbol" pitchFamily="18" charset="2"/>
              </a:rPr>
              <a:t>Amorphous arrangement</a:t>
            </a:r>
            <a:br>
              <a:rPr lang="en-US" sz="2000">
                <a:solidFill>
                  <a:srgbClr val="CC3300"/>
                </a:solidFill>
                <a:latin typeface="Times New Roman" pitchFamily="18" charset="0"/>
                <a:cs typeface="Times New Roman" pitchFamily="18" charset="0"/>
                <a:sym typeface="Symbol" pitchFamily="18" charset="2"/>
              </a:rPr>
            </a:br>
            <a:r>
              <a:rPr lang="en-US" sz="2000" i="1">
                <a:solidFill>
                  <a:srgbClr val="CC3300"/>
                </a:solidFill>
                <a:latin typeface="Times New Roman" pitchFamily="18" charset="0"/>
                <a:cs typeface="Times New Roman" pitchFamily="18" charset="0"/>
                <a:sym typeface="Symbol" pitchFamily="18" charset="2"/>
              </a:rPr>
              <a:t>No unit cell</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2256</TotalTime>
  <Words>3213</Words>
  <Application>Microsoft Office PowerPoint</Application>
  <PresentationFormat>On-screen Show (4:3)</PresentationFormat>
  <Paragraphs>354</Paragraphs>
  <Slides>41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41</vt:i4>
      </vt:variant>
    </vt:vector>
  </HeadingPairs>
  <TitlesOfParts>
    <vt:vector size="49" baseType="lpstr">
      <vt:lpstr>Arial</vt:lpstr>
      <vt:lpstr>Comic Sans MS</vt:lpstr>
      <vt:lpstr>Times New Roman</vt:lpstr>
      <vt:lpstr>Wingdings</vt:lpstr>
      <vt:lpstr>Default Design</vt:lpstr>
      <vt:lpstr>PHOTO-PAINT</vt:lpstr>
      <vt:lpstr>Equation</vt:lpstr>
      <vt:lpstr>CorelDRAW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KANPUR</dc:creator>
  <cp:lastModifiedBy>Mohammed Ziyad</cp:lastModifiedBy>
  <cp:revision>134</cp:revision>
  <dcterms:created xsi:type="dcterms:W3CDTF">2009-05-20T22:33:57Z</dcterms:created>
  <dcterms:modified xsi:type="dcterms:W3CDTF">2026-03-11T15:29:21Z</dcterms:modified>
</cp:coreProperties>
</file>