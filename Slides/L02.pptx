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handoutMasterIdLst>
    <p:handoutMasterId r:id="rId13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F6527D-E0BB-4773-9589-E0E7DF3B753E}" v="6" dt="2026-03-18T12:07:46.7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1" autoAdjust="0"/>
    <p:restoredTop sz="94660"/>
  </p:normalViewPr>
  <p:slideViewPr>
    <p:cSldViewPr snapToGrid="0">
      <p:cViewPr varScale="1">
        <p:scale>
          <a:sx n="71" d="100"/>
          <a:sy n="71" d="100"/>
        </p:scale>
        <p:origin x="174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Ziyad" userId="2029eb95e4d7ca24" providerId="LiveId" clId="{5AFDEDFA-7FFF-4964-9F1B-F9791404DBEF}"/>
    <pc:docChg chg="modSld">
      <pc:chgData name="Mohammed Ziyad" userId="2029eb95e4d7ca24" providerId="LiveId" clId="{5AFDEDFA-7FFF-4964-9F1B-F9791404DBEF}" dt="2026-03-18T12:07:46.781" v="5" actId="164"/>
      <pc:docMkLst>
        <pc:docMk/>
      </pc:docMkLst>
      <pc:sldChg chg="addSp modSp">
        <pc:chgData name="Mohammed Ziyad" userId="2029eb95e4d7ca24" providerId="LiveId" clId="{5AFDEDFA-7FFF-4964-9F1B-F9791404DBEF}" dt="2026-03-18T12:07:46.781" v="5" actId="164"/>
        <pc:sldMkLst>
          <pc:docMk/>
          <pc:sldMk cId="1947272231" sldId="257"/>
        </pc:sldMkLst>
        <pc:grpChg chg="add mod">
          <ac:chgData name="Mohammed Ziyad" userId="2029eb95e4d7ca24" providerId="LiveId" clId="{5AFDEDFA-7FFF-4964-9F1B-F9791404DBEF}" dt="2026-03-18T12:07:46.781" v="5" actId="164"/>
          <ac:grpSpMkLst>
            <pc:docMk/>
            <pc:sldMk cId="1947272231" sldId="257"/>
            <ac:grpSpMk id="2" creationId="{7D862969-F902-A720-121D-74DB0696B867}"/>
          </ac:grpSpMkLst>
        </pc:grpChg>
        <pc:grpChg chg="add mod">
          <ac:chgData name="Mohammed Ziyad" userId="2029eb95e4d7ca24" providerId="LiveId" clId="{5AFDEDFA-7FFF-4964-9F1B-F9791404DBEF}" dt="2026-03-18T12:07:46.535" v="4" actId="164"/>
          <ac:grpSpMkLst>
            <pc:docMk/>
            <pc:sldMk cId="1947272231" sldId="257"/>
            <ac:grpSpMk id="3" creationId="{3FF219C1-5BF2-EE9A-4DEF-04AB6060159A}"/>
          </ac:grpSpMkLst>
        </pc:grpChg>
        <pc:grpChg chg="add mod">
          <ac:chgData name="Mohammed Ziyad" userId="2029eb95e4d7ca24" providerId="LiveId" clId="{5AFDEDFA-7FFF-4964-9F1B-F9791404DBEF}" dt="2026-03-18T12:07:46.282" v="3" actId="164"/>
          <ac:grpSpMkLst>
            <pc:docMk/>
            <pc:sldMk cId="1947272231" sldId="257"/>
            <ac:grpSpMk id="4" creationId="{7B19F0A5-F686-33BF-5FD9-4DCE575E0F34}"/>
          </ac:grpSpMkLst>
        </pc:grpChg>
        <pc:graphicFrameChg chg="mod">
          <ac:chgData name="Mohammed Ziyad" userId="2029eb95e4d7ca24" providerId="LiveId" clId="{5AFDEDFA-7FFF-4964-9F1B-F9791404DBEF}" dt="2026-03-18T12:07:46.781" v="5" actId="164"/>
          <ac:graphicFrameMkLst>
            <pc:docMk/>
            <pc:sldMk cId="1947272231" sldId="257"/>
            <ac:graphicFrameMk id="9225" creationId="{00000000-0000-0000-0000-000000000000}"/>
          </ac:graphicFrameMkLst>
        </pc:graphicFrameChg>
        <pc:graphicFrameChg chg="mod">
          <ac:chgData name="Mohammed Ziyad" userId="2029eb95e4d7ca24" providerId="LiveId" clId="{5AFDEDFA-7FFF-4964-9F1B-F9791404DBEF}" dt="2026-03-18T12:07:46.535" v="4" actId="164"/>
          <ac:graphicFrameMkLst>
            <pc:docMk/>
            <pc:sldMk cId="1947272231" sldId="257"/>
            <ac:graphicFrameMk id="9226" creationId="{00000000-0000-0000-0000-000000000000}"/>
          </ac:graphicFrameMkLst>
        </pc:graphicFrameChg>
        <pc:graphicFrameChg chg="mod">
          <ac:chgData name="Mohammed Ziyad" userId="2029eb95e4d7ca24" providerId="LiveId" clId="{5AFDEDFA-7FFF-4964-9F1B-F9791404DBEF}" dt="2026-03-18T12:07:46.282" v="3" actId="164"/>
          <ac:graphicFrameMkLst>
            <pc:docMk/>
            <pc:sldMk cId="1947272231" sldId="257"/>
            <ac:graphicFrameMk id="9227" creationId="{00000000-0000-0000-0000-000000000000}"/>
          </ac:graphicFrameMkLst>
        </pc:graphicFrameChg>
        <pc:picChg chg="mod">
          <ac:chgData name="Mohammed Ziyad" userId="2029eb95e4d7ca24" providerId="LiveId" clId="{5AFDEDFA-7FFF-4964-9F1B-F9791404DBEF}" dt="2026-03-18T12:07:46.781" v="5" actId="164"/>
          <ac:picMkLst>
            <pc:docMk/>
            <pc:sldMk cId="1947272231" sldId="257"/>
            <ac:picMk id="9220" creationId="{00000000-0000-0000-0000-000000000000}"/>
          </ac:picMkLst>
        </pc:picChg>
        <pc:picChg chg="mod">
          <ac:chgData name="Mohammed Ziyad" userId="2029eb95e4d7ca24" providerId="LiveId" clId="{5AFDEDFA-7FFF-4964-9F1B-F9791404DBEF}" dt="2026-03-18T12:07:46.535" v="4" actId="164"/>
          <ac:picMkLst>
            <pc:docMk/>
            <pc:sldMk cId="1947272231" sldId="257"/>
            <ac:picMk id="9221" creationId="{00000000-0000-0000-0000-000000000000}"/>
          </ac:picMkLst>
        </pc:picChg>
        <pc:picChg chg="mod">
          <ac:chgData name="Mohammed Ziyad" userId="2029eb95e4d7ca24" providerId="LiveId" clId="{5AFDEDFA-7FFF-4964-9F1B-F9791404DBEF}" dt="2026-03-18T12:07:46.282" v="3" actId="164"/>
          <ac:picMkLst>
            <pc:docMk/>
            <pc:sldMk cId="1947272231" sldId="257"/>
            <ac:picMk id="9222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6"/>
          </a:xfrm>
          <a:prstGeom prst="rect">
            <a:avLst/>
          </a:prstGeom>
        </p:spPr>
        <p:txBody>
          <a:bodyPr vert="horz" lIns="95573" tIns="47786" rIns="95573" bIns="47786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2" y="0"/>
            <a:ext cx="2945659" cy="498136"/>
          </a:xfrm>
          <a:prstGeom prst="rect">
            <a:avLst/>
          </a:prstGeom>
        </p:spPr>
        <p:txBody>
          <a:bodyPr vert="horz" lIns="95573" tIns="47786" rIns="95573" bIns="47786" rtlCol="0"/>
          <a:lstStyle>
            <a:lvl1pPr algn="r">
              <a:defRPr sz="1300"/>
            </a:lvl1pPr>
          </a:lstStyle>
          <a:p>
            <a:fld id="{4F9172E8-A890-445D-AF0F-DE9CC5E6298F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5573" tIns="47786" rIns="95573" bIns="47786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2" y="9430091"/>
            <a:ext cx="2945659" cy="498134"/>
          </a:xfrm>
          <a:prstGeom prst="rect">
            <a:avLst/>
          </a:prstGeom>
        </p:spPr>
        <p:txBody>
          <a:bodyPr vert="horz" lIns="95573" tIns="47786" rIns="95573" bIns="47786" rtlCol="0" anchor="b"/>
          <a:lstStyle>
            <a:lvl1pPr algn="r">
              <a:defRPr sz="1300"/>
            </a:lvl1pPr>
          </a:lstStyle>
          <a:p>
            <a:fld id="{ADB2670E-73CA-4674-9A34-8387F6BD85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2267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A947-2B3B-44BC-B629-83E5E86576D5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18-03-2026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B006F-BC5C-49B6-9656-F9B350E6F0A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948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A947-2B3B-44BC-B629-83E5E86576D5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18-03-2026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B006F-BC5C-49B6-9656-F9B350E6F0A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286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A947-2B3B-44BC-B629-83E5E86576D5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18-03-2026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B006F-BC5C-49B6-9656-F9B350E6F0A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693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A947-2B3B-44BC-B629-83E5E86576D5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18-03-2026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B006F-BC5C-49B6-9656-F9B350E6F0A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1683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A947-2B3B-44BC-B629-83E5E86576D5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18-03-2026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B006F-BC5C-49B6-9656-F9B350E6F0A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379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A947-2B3B-44BC-B629-83E5E86576D5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18-03-2026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B006F-BC5C-49B6-9656-F9B350E6F0A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923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A947-2B3B-44BC-B629-83E5E86576D5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18-03-2026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B006F-BC5C-49B6-9656-F9B350E6F0A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639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A947-2B3B-44BC-B629-83E5E86576D5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18-03-2026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B006F-BC5C-49B6-9656-F9B350E6F0A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424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A947-2B3B-44BC-B629-83E5E86576D5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18-03-2026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B006F-BC5C-49B6-9656-F9B350E6F0A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324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A947-2B3B-44BC-B629-83E5E86576D5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18-03-2026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B006F-BC5C-49B6-9656-F9B350E6F0A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88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A947-2B3B-44BC-B629-83E5E86576D5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18-03-2026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B006F-BC5C-49B6-9656-F9B350E6F0A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940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9A947-2B3B-44BC-B629-83E5E86576D5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18-03-2026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B006F-BC5C-49B6-9656-F9B350E6F0A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726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4.bin"/><Relationship Id="rId3" Type="http://schemas.openxmlformats.org/officeDocument/2006/relationships/image" Target="../media/image2.png"/><Relationship Id="rId7" Type="http://schemas.openxmlformats.org/officeDocument/2006/relationships/oleObject" Target="../embeddings/oleObject1.bin"/><Relationship Id="rId12" Type="http://schemas.openxmlformats.org/officeDocument/2006/relationships/image" Target="../media/image8.wmf"/><Relationship Id="rId2" Type="http://schemas.openxmlformats.org/officeDocument/2006/relationships/image" Target="../media/image1.png"/><Relationship Id="rId16" Type="http://schemas.openxmlformats.org/officeDocument/2006/relationships/image" Target="../media/image10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oleObject" Target="../embeddings/oleObject3.bin"/><Relationship Id="rId5" Type="http://schemas.openxmlformats.org/officeDocument/2006/relationships/image" Target="../media/image4.png"/><Relationship Id="rId15" Type="http://schemas.openxmlformats.org/officeDocument/2006/relationships/oleObject" Target="../embeddings/oleObject5.bin"/><Relationship Id="rId10" Type="http://schemas.openxmlformats.org/officeDocument/2006/relationships/image" Target="../media/image7.wmf"/><Relationship Id="rId4" Type="http://schemas.openxmlformats.org/officeDocument/2006/relationships/image" Target="../media/image3.png"/><Relationship Id="rId9" Type="http://schemas.openxmlformats.org/officeDocument/2006/relationships/oleObject" Target="../embeddings/oleObject2.bin"/><Relationship Id="rId14" Type="http://schemas.openxmlformats.org/officeDocument/2006/relationships/image" Target="../media/image9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9.bin"/><Relationship Id="rId3" Type="http://schemas.openxmlformats.org/officeDocument/2006/relationships/image" Target="../media/image12.png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8.wmf"/><Relationship Id="rId2" Type="http://schemas.openxmlformats.org/officeDocument/2006/relationships/image" Target="../media/image11.png"/><Relationship Id="rId16" Type="http://schemas.openxmlformats.org/officeDocument/2006/relationships/image" Target="../media/image20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11" Type="http://schemas.openxmlformats.org/officeDocument/2006/relationships/oleObject" Target="../embeddings/oleObject8.bin"/><Relationship Id="rId5" Type="http://schemas.openxmlformats.org/officeDocument/2006/relationships/image" Target="../media/image14.png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17.wmf"/><Relationship Id="rId4" Type="http://schemas.openxmlformats.org/officeDocument/2006/relationships/image" Target="../media/image13.png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9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31.wmf"/><Relationship Id="rId3" Type="http://schemas.openxmlformats.org/officeDocument/2006/relationships/image" Target="../media/image22.png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16.bin"/><Relationship Id="rId2" Type="http://schemas.openxmlformats.org/officeDocument/2006/relationships/image" Target="../media/image21.png"/><Relationship Id="rId16" Type="http://schemas.openxmlformats.org/officeDocument/2006/relationships/image" Target="../media/image30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11" Type="http://schemas.openxmlformats.org/officeDocument/2006/relationships/oleObject" Target="../embeddings/oleObject13.bin"/><Relationship Id="rId5" Type="http://schemas.openxmlformats.org/officeDocument/2006/relationships/image" Target="../media/image24.png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27.wmf"/><Relationship Id="rId4" Type="http://schemas.openxmlformats.org/officeDocument/2006/relationships/image" Target="../media/image23.png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29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16.wmf"/><Relationship Id="rId3" Type="http://schemas.openxmlformats.org/officeDocument/2006/relationships/image" Target="../media/image32.png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37.wmf"/><Relationship Id="rId17" Type="http://schemas.openxmlformats.org/officeDocument/2006/relationships/oleObject" Target="../embeddings/oleObject22.bin"/><Relationship Id="rId2" Type="http://schemas.openxmlformats.org/officeDocument/2006/relationships/image" Target="../media/image11.png"/><Relationship Id="rId16" Type="http://schemas.openxmlformats.org/officeDocument/2006/relationships/image" Target="../media/image39.wmf"/><Relationship Id="rId20" Type="http://schemas.openxmlformats.org/officeDocument/2006/relationships/image" Target="../media/image18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11" Type="http://schemas.openxmlformats.org/officeDocument/2006/relationships/oleObject" Target="../embeddings/oleObject19.bin"/><Relationship Id="rId5" Type="http://schemas.openxmlformats.org/officeDocument/2006/relationships/image" Target="../media/image33.png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36.wmf"/><Relationship Id="rId19" Type="http://schemas.openxmlformats.org/officeDocument/2006/relationships/oleObject" Target="../embeddings/oleObject23.bin"/><Relationship Id="rId4" Type="http://schemas.openxmlformats.org/officeDocument/2006/relationships/image" Target="../media/image15.png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38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47.wmf"/><Relationship Id="rId3" Type="http://schemas.openxmlformats.org/officeDocument/2006/relationships/image" Target="../media/image41.png"/><Relationship Id="rId7" Type="http://schemas.openxmlformats.org/officeDocument/2006/relationships/image" Target="../media/image44.wmf"/><Relationship Id="rId12" Type="http://schemas.openxmlformats.org/officeDocument/2006/relationships/oleObject" Target="../embeddings/oleObject27.bin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46.wmf"/><Relationship Id="rId5" Type="http://schemas.openxmlformats.org/officeDocument/2006/relationships/image" Target="../media/image43.png"/><Relationship Id="rId10" Type="http://schemas.openxmlformats.org/officeDocument/2006/relationships/oleObject" Target="../embeddings/oleObject26.bin"/><Relationship Id="rId4" Type="http://schemas.openxmlformats.org/officeDocument/2006/relationships/image" Target="../media/image42.png"/><Relationship Id="rId9" Type="http://schemas.openxmlformats.org/officeDocument/2006/relationships/image" Target="../media/image4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55.png"/><Relationship Id="rId3" Type="http://schemas.openxmlformats.org/officeDocument/2006/relationships/image" Target="../media/image48.wmf"/><Relationship Id="rId7" Type="http://schemas.openxmlformats.org/officeDocument/2006/relationships/image" Target="../media/image50.wmf"/><Relationship Id="rId12" Type="http://schemas.openxmlformats.org/officeDocument/2006/relationships/image" Target="../media/image54.png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53.png"/><Relationship Id="rId5" Type="http://schemas.openxmlformats.org/officeDocument/2006/relationships/image" Target="../media/image49.wmf"/><Relationship Id="rId10" Type="http://schemas.openxmlformats.org/officeDocument/2006/relationships/image" Target="../media/image52.png"/><Relationship Id="rId4" Type="http://schemas.openxmlformats.org/officeDocument/2006/relationships/oleObject" Target="../embeddings/oleObject29.bin"/><Relationship Id="rId9" Type="http://schemas.openxmlformats.org/officeDocument/2006/relationships/image" Target="../media/image51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62.wmf"/><Relationship Id="rId3" Type="http://schemas.openxmlformats.org/officeDocument/2006/relationships/image" Target="../media/image56.wmf"/><Relationship Id="rId7" Type="http://schemas.openxmlformats.org/officeDocument/2006/relationships/image" Target="../media/image58.wmf"/><Relationship Id="rId12" Type="http://schemas.openxmlformats.org/officeDocument/2006/relationships/oleObject" Target="../embeddings/oleObject36.bin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61.png"/><Relationship Id="rId5" Type="http://schemas.openxmlformats.org/officeDocument/2006/relationships/image" Target="../media/image57.wmf"/><Relationship Id="rId15" Type="http://schemas.openxmlformats.org/officeDocument/2006/relationships/image" Target="../media/image63.wmf"/><Relationship Id="rId10" Type="http://schemas.openxmlformats.org/officeDocument/2006/relationships/image" Target="../media/image60.png"/><Relationship Id="rId4" Type="http://schemas.openxmlformats.org/officeDocument/2006/relationships/oleObject" Target="../embeddings/oleObject33.bin"/><Relationship Id="rId9" Type="http://schemas.openxmlformats.org/officeDocument/2006/relationships/image" Target="../media/image59.wmf"/><Relationship Id="rId14" Type="http://schemas.openxmlformats.org/officeDocument/2006/relationships/oleObject" Target="../embeddings/oleObject3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image" Target="../media/image65.png"/><Relationship Id="rId7" Type="http://schemas.openxmlformats.org/officeDocument/2006/relationships/oleObject" Target="../embeddings/oleObject39.bin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69.wmf"/><Relationship Id="rId4" Type="http://schemas.openxmlformats.org/officeDocument/2006/relationships/image" Target="../media/image66.png"/><Relationship Id="rId9" Type="http://schemas.openxmlformats.org/officeDocument/2006/relationships/oleObject" Target="../embeddings/oleObject40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5.wmf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74.wmf"/><Relationship Id="rId4" Type="http://schemas.openxmlformats.org/officeDocument/2006/relationships/oleObject" Target="../embeddings/oleObject4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28600"/>
            <a:ext cx="8591550" cy="1066800"/>
          </a:xfrm>
        </p:spPr>
        <p:txBody>
          <a:bodyPr/>
          <a:lstStyle/>
          <a:p>
            <a:r>
              <a:rPr lang="en-US">
                <a:cs typeface="Tunga" pitchFamily="34" charset="0"/>
              </a:rPr>
              <a:t>Cyclic Point Groups</a:t>
            </a:r>
          </a:p>
        </p:txBody>
      </p:sp>
      <p:sp>
        <p:nvSpPr>
          <p:cNvPr id="9219" name="Text Box 9"/>
          <p:cNvSpPr txBox="1">
            <a:spLocks noChangeArrowheads="1"/>
          </p:cNvSpPr>
          <p:nvPr/>
        </p:nvSpPr>
        <p:spPr bwMode="auto">
          <a:xfrm>
            <a:off x="8248650" y="6019800"/>
            <a:ext cx="438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600">
                <a:solidFill>
                  <a:prstClr val="black"/>
                </a:solidFill>
              </a:rPr>
              <a:t>5</a:t>
            </a:r>
          </a:p>
        </p:txBody>
      </p:sp>
      <p:pic>
        <p:nvPicPr>
          <p:cNvPr id="9220" name="Picture 10" descr="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9202"/>
            <a:ext cx="1460500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11" descr="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2" y="1295402"/>
            <a:ext cx="2576513" cy="127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12" descr="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77" y="2743202"/>
            <a:ext cx="2536825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13" descr="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114800"/>
            <a:ext cx="261620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14" descr="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267202"/>
            <a:ext cx="2495550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225" name="Object 15"/>
          <p:cNvGraphicFramePr>
            <a:graphicFrameLocks noChangeAspect="1"/>
          </p:cNvGraphicFramePr>
          <p:nvPr/>
        </p:nvGraphicFramePr>
        <p:xfrm>
          <a:off x="1219200" y="2743200"/>
          <a:ext cx="7874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0057" imgH="215806" progId="Equation.3">
                  <p:embed/>
                </p:oleObj>
              </mc:Choice>
              <mc:Fallback>
                <p:oleObj name="Equation" r:id="rId7" imgW="330057" imgH="215806" progId="Equation.3">
                  <p:embed/>
                  <p:pic>
                    <p:nvPicPr>
                      <p:cNvPr id="922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743200"/>
                        <a:ext cx="7874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" name="Object 16"/>
          <p:cNvGraphicFramePr>
            <a:graphicFrameLocks noChangeAspect="1"/>
          </p:cNvGraphicFramePr>
          <p:nvPr/>
        </p:nvGraphicFramePr>
        <p:xfrm>
          <a:off x="6934200" y="2686050"/>
          <a:ext cx="9080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80835" imgH="215806" progId="Equation.3">
                  <p:embed/>
                </p:oleObj>
              </mc:Choice>
              <mc:Fallback>
                <p:oleObj name="Equation" r:id="rId9" imgW="380835" imgH="215806" progId="Equation.3">
                  <p:embed/>
                  <p:pic>
                    <p:nvPicPr>
                      <p:cNvPr id="922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2686050"/>
                        <a:ext cx="90805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7" name="Object 17"/>
          <p:cNvGraphicFramePr>
            <a:graphicFrameLocks noChangeAspect="1"/>
          </p:cNvGraphicFramePr>
          <p:nvPr/>
        </p:nvGraphicFramePr>
        <p:xfrm>
          <a:off x="4168777" y="4027488"/>
          <a:ext cx="847725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55446" imgH="228501" progId="Equation.3">
                  <p:embed/>
                </p:oleObj>
              </mc:Choice>
              <mc:Fallback>
                <p:oleObj name="Equation" r:id="rId11" imgW="355446" imgH="228501" progId="Equation.3">
                  <p:embed/>
                  <p:pic>
                    <p:nvPicPr>
                      <p:cNvPr id="922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8777" y="4027488"/>
                        <a:ext cx="847725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8" name="Object 18"/>
          <p:cNvGraphicFramePr>
            <a:graphicFrameLocks noChangeAspect="1"/>
          </p:cNvGraphicFramePr>
          <p:nvPr/>
        </p:nvGraphicFramePr>
        <p:xfrm>
          <a:off x="1225550" y="5334000"/>
          <a:ext cx="9080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80835" imgH="215806" progId="Equation.3">
                  <p:embed/>
                </p:oleObj>
              </mc:Choice>
              <mc:Fallback>
                <p:oleObj name="Equation" r:id="rId13" imgW="380835" imgH="215806" progId="Equation.3">
                  <p:embed/>
                  <p:pic>
                    <p:nvPicPr>
                      <p:cNvPr id="922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5334000"/>
                        <a:ext cx="90805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9" name="Object 19"/>
          <p:cNvGraphicFramePr>
            <a:graphicFrameLocks noChangeAspect="1"/>
          </p:cNvGraphicFramePr>
          <p:nvPr/>
        </p:nvGraphicFramePr>
        <p:xfrm>
          <a:off x="6970715" y="5397500"/>
          <a:ext cx="87788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68300" imgH="228600" progId="Equation.3">
                  <p:embed/>
                </p:oleObj>
              </mc:Choice>
              <mc:Fallback>
                <p:oleObj name="Equation" r:id="rId15" imgW="368300" imgH="228600" progId="Equation.3">
                  <p:embed/>
                  <p:pic>
                    <p:nvPicPr>
                      <p:cNvPr id="922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0715" y="5397500"/>
                        <a:ext cx="877887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7272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28600"/>
            <a:ext cx="8591550" cy="1066800"/>
          </a:xfrm>
        </p:spPr>
        <p:txBody>
          <a:bodyPr/>
          <a:lstStyle/>
          <a:p>
            <a:r>
              <a:rPr lang="en-US">
                <a:cs typeface="Tunga" pitchFamily="34" charset="0"/>
              </a:rPr>
              <a:t>Cyclic + Horizontal Mirror Groups</a:t>
            </a:r>
          </a:p>
        </p:txBody>
      </p:sp>
      <p:sp>
        <p:nvSpPr>
          <p:cNvPr id="10243" name="Text Box 9"/>
          <p:cNvSpPr txBox="1">
            <a:spLocks noChangeArrowheads="1"/>
          </p:cNvSpPr>
          <p:nvPr/>
        </p:nvSpPr>
        <p:spPr bwMode="auto">
          <a:xfrm>
            <a:off x="7239000" y="6064250"/>
            <a:ext cx="1733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600">
                <a:solidFill>
                  <a:prstClr val="black"/>
                </a:solidFill>
              </a:rPr>
              <a:t>+5 = 10</a:t>
            </a:r>
          </a:p>
        </p:txBody>
      </p:sp>
      <p:pic>
        <p:nvPicPr>
          <p:cNvPr id="10244" name="Picture 10" descr="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43000"/>
            <a:ext cx="2616200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11" descr="2_over_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143000"/>
            <a:ext cx="2649538" cy="1233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12" descr="4_over_m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10002"/>
            <a:ext cx="2649538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13" descr="6_over_m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962400"/>
            <a:ext cx="2516188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Picture 14" descr="6bar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438400"/>
            <a:ext cx="2452688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249" name="Object 15"/>
          <p:cNvGraphicFramePr>
            <a:graphicFrameLocks noChangeAspect="1"/>
          </p:cNvGraphicFramePr>
          <p:nvPr/>
        </p:nvGraphicFramePr>
        <p:xfrm>
          <a:off x="1006475" y="2424113"/>
          <a:ext cx="106045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44307" imgH="228501" progId="Equation.3">
                  <p:embed/>
                </p:oleObj>
              </mc:Choice>
              <mc:Fallback>
                <p:oleObj name="Equation" r:id="rId7" imgW="444307" imgH="228501" progId="Equation.3">
                  <p:embed/>
                  <p:pic>
                    <p:nvPicPr>
                      <p:cNvPr id="1024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475" y="2424113"/>
                        <a:ext cx="106045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6"/>
          <p:cNvGraphicFramePr>
            <a:graphicFrameLocks noChangeAspect="1"/>
          </p:cNvGraphicFramePr>
          <p:nvPr/>
        </p:nvGraphicFramePr>
        <p:xfrm>
          <a:off x="6875463" y="2074863"/>
          <a:ext cx="1211262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07780" imgH="393529" progId="Equation.3">
                  <p:embed/>
                </p:oleObj>
              </mc:Choice>
              <mc:Fallback>
                <p:oleObj name="Equation" r:id="rId9" imgW="507780" imgH="393529" progId="Equation.3">
                  <p:embed/>
                  <p:pic>
                    <p:nvPicPr>
                      <p:cNvPr id="1025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5463" y="2074863"/>
                        <a:ext cx="1211262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17"/>
          <p:cNvGraphicFramePr>
            <a:graphicFrameLocks noChangeAspect="1"/>
          </p:cNvGraphicFramePr>
          <p:nvPr/>
        </p:nvGraphicFramePr>
        <p:xfrm>
          <a:off x="4222750" y="3522663"/>
          <a:ext cx="1181100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95085" imgH="393529" progId="Equation.3">
                  <p:embed/>
                </p:oleObj>
              </mc:Choice>
              <mc:Fallback>
                <p:oleObj name="Equation" r:id="rId11" imgW="495085" imgH="393529" progId="Equation.3">
                  <p:embed/>
                  <p:pic>
                    <p:nvPicPr>
                      <p:cNvPr id="1025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3522663"/>
                        <a:ext cx="1181100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2" name="Object 18"/>
          <p:cNvGraphicFramePr>
            <a:graphicFrameLocks noChangeAspect="1"/>
          </p:cNvGraphicFramePr>
          <p:nvPr/>
        </p:nvGraphicFramePr>
        <p:xfrm>
          <a:off x="1084263" y="4970463"/>
          <a:ext cx="1211262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07780" imgH="393529" progId="Equation.3">
                  <p:embed/>
                </p:oleObj>
              </mc:Choice>
              <mc:Fallback>
                <p:oleObj name="Equation" r:id="rId13" imgW="507780" imgH="393529" progId="Equation.3">
                  <p:embed/>
                  <p:pic>
                    <p:nvPicPr>
                      <p:cNvPr id="1025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263" y="4970463"/>
                        <a:ext cx="1211262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19"/>
          <p:cNvGraphicFramePr>
            <a:graphicFrameLocks noChangeAspect="1"/>
          </p:cNvGraphicFramePr>
          <p:nvPr/>
        </p:nvGraphicFramePr>
        <p:xfrm>
          <a:off x="6875463" y="4970465"/>
          <a:ext cx="121126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07780" imgH="393529" progId="Equation.3">
                  <p:embed/>
                </p:oleObj>
              </mc:Choice>
              <mc:Fallback>
                <p:oleObj name="Equation" r:id="rId15" imgW="507780" imgH="393529" progId="Equation.3">
                  <p:embed/>
                  <p:pic>
                    <p:nvPicPr>
                      <p:cNvPr id="1025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5463" y="4970465"/>
                        <a:ext cx="1211262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5478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/>
          <p:cNvSpPr>
            <a:spLocks noGrp="1" noChangeArrowheads="1"/>
          </p:cNvSpPr>
          <p:nvPr>
            <p:ph type="title"/>
          </p:nvPr>
        </p:nvSpPr>
        <p:spPr>
          <a:xfrm>
            <a:off x="276225" y="228600"/>
            <a:ext cx="8591550" cy="1066800"/>
          </a:xfrm>
        </p:spPr>
        <p:txBody>
          <a:bodyPr/>
          <a:lstStyle/>
          <a:p>
            <a:r>
              <a:rPr lang="en-US">
                <a:cs typeface="Tunga" pitchFamily="34" charset="0"/>
              </a:rPr>
              <a:t>Cyclic + Vertical Mirror Groups</a:t>
            </a:r>
          </a:p>
        </p:txBody>
      </p:sp>
      <p:pic>
        <p:nvPicPr>
          <p:cNvPr id="11267" name="Picture 5" descr="2m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527" y="1033465"/>
            <a:ext cx="2606675" cy="125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6" descr="3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514600"/>
            <a:ext cx="2706688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7" descr="6mm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338" y="3886202"/>
            <a:ext cx="2506662" cy="118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8" descr="4mm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7" y="3886200"/>
            <a:ext cx="2606675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9" descr="m_2n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2" y="1143000"/>
            <a:ext cx="2625725" cy="1233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2" name="Text Box 10"/>
          <p:cNvSpPr txBox="1">
            <a:spLocks noChangeArrowheads="1"/>
          </p:cNvSpPr>
          <p:nvPr/>
        </p:nvSpPr>
        <p:spPr bwMode="auto">
          <a:xfrm>
            <a:off x="7258050" y="6096000"/>
            <a:ext cx="1733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600">
                <a:solidFill>
                  <a:prstClr val="black"/>
                </a:solidFill>
              </a:rPr>
              <a:t>+4 = 14</a:t>
            </a:r>
          </a:p>
        </p:txBody>
      </p:sp>
      <p:graphicFrame>
        <p:nvGraphicFramePr>
          <p:cNvPr id="11273" name="Object 11"/>
          <p:cNvGraphicFramePr>
            <a:graphicFrameLocks noChangeAspect="1"/>
          </p:cNvGraphicFramePr>
          <p:nvPr/>
        </p:nvGraphicFramePr>
        <p:xfrm>
          <a:off x="1006475" y="2424113"/>
          <a:ext cx="106045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44307" imgH="228501" progId="Equation.3">
                  <p:embed/>
                </p:oleObj>
              </mc:Choice>
              <mc:Fallback>
                <p:oleObj name="Equation" r:id="rId7" imgW="444307" imgH="228501" progId="Equation.3">
                  <p:embed/>
                  <p:pic>
                    <p:nvPicPr>
                      <p:cNvPr id="1127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475" y="2424113"/>
                        <a:ext cx="106045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12"/>
          <p:cNvGraphicFramePr>
            <a:graphicFrameLocks noChangeAspect="1"/>
          </p:cNvGraphicFramePr>
          <p:nvPr/>
        </p:nvGraphicFramePr>
        <p:xfrm>
          <a:off x="6708775" y="2271713"/>
          <a:ext cx="1544638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47700" imgH="228600" progId="Equation.3">
                  <p:embed/>
                </p:oleObj>
              </mc:Choice>
              <mc:Fallback>
                <p:oleObj name="Equation" r:id="rId9" imgW="647700" imgH="228600" progId="Equation.3">
                  <p:embed/>
                  <p:pic>
                    <p:nvPicPr>
                      <p:cNvPr id="1127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8775" y="2271713"/>
                        <a:ext cx="1544638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Object 13"/>
          <p:cNvGraphicFramePr>
            <a:graphicFrameLocks noChangeAspect="1"/>
          </p:cNvGraphicFramePr>
          <p:nvPr/>
        </p:nvGraphicFramePr>
        <p:xfrm>
          <a:off x="4192588" y="3717925"/>
          <a:ext cx="124301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20700" imgH="228600" progId="Equation.3">
                  <p:embed/>
                </p:oleObj>
              </mc:Choice>
              <mc:Fallback>
                <p:oleObj name="Equation" r:id="rId11" imgW="520700" imgH="228600" progId="Equation.3">
                  <p:embed/>
                  <p:pic>
                    <p:nvPicPr>
                      <p:cNvPr id="1127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2588" y="3717925"/>
                        <a:ext cx="1243012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6" name="Object 14"/>
          <p:cNvGraphicFramePr>
            <a:graphicFrameLocks noChangeAspect="1"/>
          </p:cNvGraphicFramePr>
          <p:nvPr/>
        </p:nvGraphicFramePr>
        <p:xfrm>
          <a:off x="917575" y="5167313"/>
          <a:ext cx="1544638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47700" imgH="228600" progId="Equation.3">
                  <p:embed/>
                </p:oleObj>
              </mc:Choice>
              <mc:Fallback>
                <p:oleObj name="Equation" r:id="rId13" imgW="647700" imgH="228600" progId="Equation.3">
                  <p:embed/>
                  <p:pic>
                    <p:nvPicPr>
                      <p:cNvPr id="1127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575" y="5167313"/>
                        <a:ext cx="1544638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7" name="Object 15"/>
          <p:cNvGraphicFramePr>
            <a:graphicFrameLocks noChangeAspect="1"/>
          </p:cNvGraphicFramePr>
          <p:nvPr/>
        </p:nvGraphicFramePr>
        <p:xfrm>
          <a:off x="6843715" y="5149852"/>
          <a:ext cx="154463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47700" imgH="228600" progId="Equation.3">
                  <p:embed/>
                </p:oleObj>
              </mc:Choice>
              <mc:Fallback>
                <p:oleObj name="Equation" r:id="rId15" imgW="647700" imgH="228600" progId="Equation.3">
                  <p:embed/>
                  <p:pic>
                    <p:nvPicPr>
                      <p:cNvPr id="1127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3715" y="5149852"/>
                        <a:ext cx="154463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6" name="Object 16"/>
          <p:cNvGraphicFramePr>
            <a:graphicFrameLocks noChangeAspect="1"/>
          </p:cNvGraphicFramePr>
          <p:nvPr/>
        </p:nvGraphicFramePr>
        <p:xfrm>
          <a:off x="990600" y="2884488"/>
          <a:ext cx="106045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44307" imgH="228501" progId="Equation.3">
                  <p:embed/>
                </p:oleObj>
              </mc:Choice>
              <mc:Fallback>
                <p:oleObj name="Equation" r:id="rId17" imgW="444307" imgH="228501" progId="Equation.3">
                  <p:embed/>
                  <p:pic>
                    <p:nvPicPr>
                      <p:cNvPr id="2561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884488"/>
                        <a:ext cx="106045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8" name="Line 18"/>
          <p:cNvSpPr>
            <a:spLocks noChangeShapeType="1"/>
          </p:cNvSpPr>
          <p:nvPr/>
        </p:nvSpPr>
        <p:spPr bwMode="auto">
          <a:xfrm flipV="1">
            <a:off x="1066800" y="2438400"/>
            <a:ext cx="10668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25619" name="Line 19"/>
          <p:cNvSpPr>
            <a:spLocks noChangeShapeType="1"/>
          </p:cNvSpPr>
          <p:nvPr/>
        </p:nvSpPr>
        <p:spPr bwMode="auto">
          <a:xfrm>
            <a:off x="1066800" y="2438400"/>
            <a:ext cx="10668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29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8" grpId="0" animBg="1"/>
      <p:bldP spid="256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28600"/>
            <a:ext cx="8591550" cy="1066800"/>
          </a:xfrm>
        </p:spPr>
        <p:txBody>
          <a:bodyPr/>
          <a:lstStyle/>
          <a:p>
            <a:r>
              <a:rPr lang="en-US">
                <a:cs typeface="Tunga" pitchFamily="34" charset="0"/>
              </a:rPr>
              <a:t>Rotoreflection Groups</a:t>
            </a:r>
          </a:p>
        </p:txBody>
      </p:sp>
      <p:pic>
        <p:nvPicPr>
          <p:cNvPr id="12291" name="Picture 4" descr="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2616200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5" descr="1ba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900" y="990602"/>
            <a:ext cx="16129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6" descr="6ba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2133600"/>
            <a:ext cx="2452688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7" descr="4ba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5" y="3810002"/>
            <a:ext cx="2719387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8" descr="3bar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2" y="3886200"/>
            <a:ext cx="2665413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296" name="Object 9"/>
          <p:cNvGraphicFramePr>
            <a:graphicFrameLocks noChangeAspect="1"/>
          </p:cNvGraphicFramePr>
          <p:nvPr/>
        </p:nvGraphicFramePr>
        <p:xfrm>
          <a:off x="1111252" y="2424113"/>
          <a:ext cx="847725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55446" imgH="228501" progId="Equation.3">
                  <p:embed/>
                </p:oleObj>
              </mc:Choice>
              <mc:Fallback>
                <p:oleObj name="Equation" r:id="rId7" imgW="355446" imgH="228501" progId="Equation.3">
                  <p:embed/>
                  <p:pic>
                    <p:nvPicPr>
                      <p:cNvPr id="1229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52" y="2424113"/>
                        <a:ext cx="847725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10"/>
          <p:cNvGraphicFramePr>
            <a:graphicFrameLocks noChangeAspect="1"/>
          </p:cNvGraphicFramePr>
          <p:nvPr/>
        </p:nvGraphicFramePr>
        <p:xfrm>
          <a:off x="7042150" y="2271713"/>
          <a:ext cx="877888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68300" imgH="228600" progId="Equation.3">
                  <p:embed/>
                </p:oleObj>
              </mc:Choice>
              <mc:Fallback>
                <p:oleObj name="Equation" r:id="rId9" imgW="368300" imgH="228600" progId="Equation.3">
                  <p:embed/>
                  <p:pic>
                    <p:nvPicPr>
                      <p:cNvPr id="1229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2150" y="2271713"/>
                        <a:ext cx="877888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Object 11"/>
          <p:cNvGraphicFramePr>
            <a:graphicFrameLocks noChangeAspect="1"/>
          </p:cNvGraphicFramePr>
          <p:nvPr/>
        </p:nvGraphicFramePr>
        <p:xfrm>
          <a:off x="4235452" y="3321050"/>
          <a:ext cx="87947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68300" imgH="241300" progId="Equation.3">
                  <p:embed/>
                </p:oleObj>
              </mc:Choice>
              <mc:Fallback>
                <p:oleObj name="Equation" r:id="rId11" imgW="368300" imgH="241300" progId="Equation.3">
                  <p:embed/>
                  <p:pic>
                    <p:nvPicPr>
                      <p:cNvPr id="1229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5452" y="3321050"/>
                        <a:ext cx="879475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9" name="Object 12"/>
          <p:cNvGraphicFramePr>
            <a:graphicFrameLocks noChangeAspect="1"/>
          </p:cNvGraphicFramePr>
          <p:nvPr/>
        </p:nvGraphicFramePr>
        <p:xfrm>
          <a:off x="1249365" y="5167313"/>
          <a:ext cx="877887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68300" imgH="228600" progId="Equation.3">
                  <p:embed/>
                </p:oleObj>
              </mc:Choice>
              <mc:Fallback>
                <p:oleObj name="Equation" r:id="rId13" imgW="368300" imgH="228600" progId="Equation.3">
                  <p:embed/>
                  <p:pic>
                    <p:nvPicPr>
                      <p:cNvPr id="1229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365" y="5167313"/>
                        <a:ext cx="877887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0" name="Object 13"/>
          <p:cNvGraphicFramePr>
            <a:graphicFrameLocks noChangeAspect="1"/>
          </p:cNvGraphicFramePr>
          <p:nvPr/>
        </p:nvGraphicFramePr>
        <p:xfrm>
          <a:off x="7175502" y="5135565"/>
          <a:ext cx="879475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68300" imgH="241300" progId="Equation.3">
                  <p:embed/>
                </p:oleObj>
              </mc:Choice>
              <mc:Fallback>
                <p:oleObj name="Equation" r:id="rId15" imgW="368300" imgH="241300" progId="Equation.3">
                  <p:embed/>
                  <p:pic>
                    <p:nvPicPr>
                      <p:cNvPr id="1230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2" y="5135565"/>
                        <a:ext cx="879475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2" name="Object 14"/>
          <p:cNvGraphicFramePr>
            <a:graphicFrameLocks noChangeAspect="1"/>
          </p:cNvGraphicFramePr>
          <p:nvPr/>
        </p:nvGraphicFramePr>
        <p:xfrm>
          <a:off x="1006475" y="2960688"/>
          <a:ext cx="106045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44307" imgH="228501" progId="Equation.3">
                  <p:embed/>
                </p:oleObj>
              </mc:Choice>
              <mc:Fallback>
                <p:oleObj name="Equation" r:id="rId17" imgW="444307" imgH="228501" progId="Equation.3">
                  <p:embed/>
                  <p:pic>
                    <p:nvPicPr>
                      <p:cNvPr id="2766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475" y="2960688"/>
                        <a:ext cx="106045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3" name="Object 15"/>
          <p:cNvGraphicFramePr>
            <a:graphicFrameLocks noChangeAspect="1"/>
          </p:cNvGraphicFramePr>
          <p:nvPr/>
        </p:nvGraphicFramePr>
        <p:xfrm>
          <a:off x="4152900" y="3786188"/>
          <a:ext cx="1181100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95085" imgH="393529" progId="Equation.3">
                  <p:embed/>
                </p:oleObj>
              </mc:Choice>
              <mc:Fallback>
                <p:oleObj name="Equation" r:id="rId19" imgW="495085" imgH="393529" progId="Equation.3">
                  <p:embed/>
                  <p:pic>
                    <p:nvPicPr>
                      <p:cNvPr id="2766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900" y="3786188"/>
                        <a:ext cx="1181100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3" name="Text Box 16"/>
          <p:cNvSpPr txBox="1">
            <a:spLocks noChangeArrowheads="1"/>
          </p:cNvSpPr>
          <p:nvPr/>
        </p:nvSpPr>
        <p:spPr bwMode="auto">
          <a:xfrm>
            <a:off x="7258050" y="6096000"/>
            <a:ext cx="1733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600">
                <a:solidFill>
                  <a:prstClr val="black"/>
                </a:solidFill>
              </a:rPr>
              <a:t>+3 = 17</a:t>
            </a:r>
          </a:p>
        </p:txBody>
      </p:sp>
      <p:sp>
        <p:nvSpPr>
          <p:cNvPr id="27665" name="Line 17"/>
          <p:cNvSpPr>
            <a:spLocks noChangeShapeType="1"/>
          </p:cNvSpPr>
          <p:nvPr/>
        </p:nvSpPr>
        <p:spPr bwMode="auto">
          <a:xfrm flipV="1">
            <a:off x="1066800" y="2438400"/>
            <a:ext cx="10668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27666" name="Line 18"/>
          <p:cNvSpPr>
            <a:spLocks noChangeShapeType="1"/>
          </p:cNvSpPr>
          <p:nvPr/>
        </p:nvSpPr>
        <p:spPr bwMode="auto">
          <a:xfrm>
            <a:off x="1066800" y="2438400"/>
            <a:ext cx="10668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27667" name="Line 19"/>
          <p:cNvSpPr>
            <a:spLocks noChangeShapeType="1"/>
          </p:cNvSpPr>
          <p:nvPr/>
        </p:nvSpPr>
        <p:spPr bwMode="auto">
          <a:xfrm flipV="1">
            <a:off x="4114800" y="3352800"/>
            <a:ext cx="10668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27668" name="Line 20"/>
          <p:cNvSpPr>
            <a:spLocks noChangeShapeType="1"/>
          </p:cNvSpPr>
          <p:nvPr/>
        </p:nvSpPr>
        <p:spPr bwMode="auto">
          <a:xfrm>
            <a:off x="4114800" y="3352800"/>
            <a:ext cx="10668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611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5" grpId="0" animBg="1"/>
      <p:bldP spid="27666" grpId="0" animBg="1"/>
      <p:bldP spid="27667" grpId="0" animBg="1"/>
      <p:bldP spid="2766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28600"/>
            <a:ext cx="8591550" cy="1066800"/>
          </a:xfrm>
        </p:spPr>
        <p:txBody>
          <a:bodyPr>
            <a:normAutofit fontScale="90000"/>
          </a:bodyPr>
          <a:lstStyle/>
          <a:p>
            <a:r>
              <a:rPr lang="en-US">
                <a:cs typeface="Tunga" pitchFamily="34" charset="0"/>
              </a:rPr>
              <a:t>Rotations + Perpendicular 2-folds</a:t>
            </a:r>
            <a:br>
              <a:rPr lang="en-US">
                <a:cs typeface="Tunga" pitchFamily="34" charset="0"/>
              </a:rPr>
            </a:br>
            <a:r>
              <a:rPr lang="en-US">
                <a:cs typeface="Tunga" pitchFamily="34" charset="0"/>
              </a:rPr>
              <a:t>Dihedral (D</a:t>
            </a:r>
            <a:r>
              <a:rPr lang="en-US" baseline="-25000">
                <a:cs typeface="Tunga" pitchFamily="34" charset="0"/>
              </a:rPr>
              <a:t>n</a:t>
            </a:r>
            <a:r>
              <a:rPr lang="en-US">
                <a:cs typeface="Tunga" pitchFamily="34" charset="0"/>
              </a:rPr>
              <a:t>) Groups</a:t>
            </a:r>
          </a:p>
        </p:txBody>
      </p:sp>
      <p:pic>
        <p:nvPicPr>
          <p:cNvPr id="19459" name="Picture 4" descr="22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219200"/>
            <a:ext cx="3284537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5" descr="3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8900" y="1219200"/>
            <a:ext cx="3365500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6" descr="42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8" y="3810000"/>
            <a:ext cx="3255962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7" descr="62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063" y="3810000"/>
            <a:ext cx="3335337" cy="160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9463" name="Object 8"/>
          <p:cNvGraphicFramePr>
            <a:graphicFrameLocks noChangeAspect="1"/>
          </p:cNvGraphicFramePr>
          <p:nvPr/>
        </p:nvGraphicFramePr>
        <p:xfrm>
          <a:off x="1524000" y="2838450"/>
          <a:ext cx="149225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45626" imgH="215713" progId="Equation.3">
                  <p:embed/>
                </p:oleObj>
              </mc:Choice>
              <mc:Fallback>
                <p:oleObj name="Equation" r:id="rId6" imgW="545626" imgH="215713" progId="Equation.3">
                  <p:embed/>
                  <p:pic>
                    <p:nvPicPr>
                      <p:cNvPr id="1946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838450"/>
                        <a:ext cx="149225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9"/>
          <p:cNvGraphicFramePr>
            <a:graphicFrameLocks noChangeAspect="1"/>
          </p:cNvGraphicFramePr>
          <p:nvPr/>
        </p:nvGraphicFramePr>
        <p:xfrm>
          <a:off x="6172200" y="2801938"/>
          <a:ext cx="1249363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57200" imgH="228600" progId="Equation.3">
                  <p:embed/>
                </p:oleObj>
              </mc:Choice>
              <mc:Fallback>
                <p:oleObj name="Equation" r:id="rId8" imgW="457200" imgH="228600" progId="Equation.3">
                  <p:embed/>
                  <p:pic>
                    <p:nvPicPr>
                      <p:cNvPr id="1946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801938"/>
                        <a:ext cx="1249363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Object 10"/>
          <p:cNvGraphicFramePr>
            <a:graphicFrameLocks noChangeAspect="1"/>
          </p:cNvGraphicFramePr>
          <p:nvPr/>
        </p:nvGraphicFramePr>
        <p:xfrm>
          <a:off x="1524000" y="5353050"/>
          <a:ext cx="149225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45626" imgH="215713" progId="Equation.3">
                  <p:embed/>
                </p:oleObj>
              </mc:Choice>
              <mc:Fallback>
                <p:oleObj name="Equation" r:id="rId10" imgW="545626" imgH="215713" progId="Equation.3">
                  <p:embed/>
                  <p:pic>
                    <p:nvPicPr>
                      <p:cNvPr id="1946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353050"/>
                        <a:ext cx="149225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6" name="Object 11"/>
          <p:cNvGraphicFramePr>
            <a:graphicFrameLocks noChangeAspect="1"/>
          </p:cNvGraphicFramePr>
          <p:nvPr/>
        </p:nvGraphicFramePr>
        <p:xfrm>
          <a:off x="6113463" y="5335588"/>
          <a:ext cx="145732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33169" imgH="228501" progId="Equation.3">
                  <p:embed/>
                </p:oleObj>
              </mc:Choice>
              <mc:Fallback>
                <p:oleObj name="Equation" r:id="rId12" imgW="533169" imgH="228501" progId="Equation.3">
                  <p:embed/>
                  <p:pic>
                    <p:nvPicPr>
                      <p:cNvPr id="1946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3463" y="5335588"/>
                        <a:ext cx="1457325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7" name="Text Box 12"/>
          <p:cNvSpPr txBox="1">
            <a:spLocks noChangeArrowheads="1"/>
          </p:cNvSpPr>
          <p:nvPr/>
        </p:nvSpPr>
        <p:spPr bwMode="auto">
          <a:xfrm>
            <a:off x="7258050" y="6096000"/>
            <a:ext cx="1733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600"/>
              <a:t>+4 = 21</a:t>
            </a:r>
          </a:p>
        </p:txBody>
      </p:sp>
    </p:spTree>
    <p:extLst>
      <p:ext uri="{BB962C8B-B14F-4D97-AF65-F5344CB8AC3E}">
        <p14:creationId xmlns:p14="http://schemas.microsoft.com/office/powerpoint/2010/main" val="1268053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28600"/>
            <a:ext cx="8591550" cy="1066800"/>
          </a:xfrm>
        </p:spPr>
        <p:txBody>
          <a:bodyPr/>
          <a:lstStyle/>
          <a:p>
            <a:r>
              <a:rPr lang="en-US">
                <a:cs typeface="Tunga" pitchFamily="34" charset="0"/>
              </a:rPr>
              <a:t>Dihedral Groups + </a:t>
            </a:r>
            <a:r>
              <a:rPr lang="en-US">
                <a:latin typeface="Symbol" pitchFamily="18" charset="2"/>
                <a:cs typeface="Tunga" pitchFamily="34" charset="0"/>
              </a:rPr>
              <a:t>s</a:t>
            </a:r>
            <a:r>
              <a:rPr lang="en-US" baseline="-25000">
                <a:cs typeface="Tunga" pitchFamily="34" charset="0"/>
              </a:rPr>
              <a:t>h</a:t>
            </a:r>
          </a:p>
        </p:txBody>
      </p:sp>
      <p:graphicFrame>
        <p:nvGraphicFramePr>
          <p:cNvPr id="20483" name="Object 4"/>
          <p:cNvGraphicFramePr>
            <a:graphicFrameLocks noChangeAspect="1"/>
          </p:cNvGraphicFramePr>
          <p:nvPr/>
        </p:nvGraphicFramePr>
        <p:xfrm>
          <a:off x="1316038" y="2686050"/>
          <a:ext cx="190817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500" imgH="228600" progId="Equation.3">
                  <p:embed/>
                </p:oleObj>
              </mc:Choice>
              <mc:Fallback>
                <p:oleObj name="Equation" r:id="rId2" imgW="698500" imgH="228600" progId="Equation.3">
                  <p:embed/>
                  <p:pic>
                    <p:nvPicPr>
                      <p:cNvPr id="2048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038" y="2686050"/>
                        <a:ext cx="1908175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5"/>
          <p:cNvGraphicFramePr>
            <a:graphicFrameLocks noChangeAspect="1"/>
          </p:cNvGraphicFramePr>
          <p:nvPr/>
        </p:nvGraphicFramePr>
        <p:xfrm>
          <a:off x="5929313" y="2649538"/>
          <a:ext cx="1735137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725" imgH="241195" progId="Equation.3">
                  <p:embed/>
                </p:oleObj>
              </mc:Choice>
              <mc:Fallback>
                <p:oleObj name="Equation" r:id="rId4" imgW="634725" imgH="241195" progId="Equation.3">
                  <p:embed/>
                  <p:pic>
                    <p:nvPicPr>
                      <p:cNvPr id="2048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313" y="2649538"/>
                        <a:ext cx="1735137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6"/>
          <p:cNvGraphicFramePr>
            <a:graphicFrameLocks noChangeAspect="1"/>
          </p:cNvGraphicFramePr>
          <p:nvPr/>
        </p:nvGraphicFramePr>
        <p:xfrm>
          <a:off x="1263650" y="4975225"/>
          <a:ext cx="201295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36280" imgH="393529" progId="Equation.3">
                  <p:embed/>
                </p:oleObj>
              </mc:Choice>
              <mc:Fallback>
                <p:oleObj name="Equation" r:id="rId6" imgW="736280" imgH="393529" progId="Equation.3">
                  <p:embed/>
                  <p:pic>
                    <p:nvPicPr>
                      <p:cNvPr id="2048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650" y="4975225"/>
                        <a:ext cx="2012950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7"/>
          <p:cNvGraphicFramePr>
            <a:graphicFrameLocks noChangeAspect="1"/>
          </p:cNvGraphicFramePr>
          <p:nvPr/>
        </p:nvGraphicFramePr>
        <p:xfrm>
          <a:off x="5835650" y="4975225"/>
          <a:ext cx="2012950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280" imgH="393529" progId="Equation.3">
                  <p:embed/>
                </p:oleObj>
              </mc:Choice>
              <mc:Fallback>
                <p:oleObj name="Equation" r:id="rId8" imgW="736280" imgH="393529" progId="Equation.3">
                  <p:embed/>
                  <p:pic>
                    <p:nvPicPr>
                      <p:cNvPr id="2048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5650" y="4975225"/>
                        <a:ext cx="2012950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7" name="Picture 8" descr="4_over_m_mm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505200"/>
            <a:ext cx="3222625" cy="156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8" name="Picture 9" descr="6_over_m_mm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5725" y="3505200"/>
            <a:ext cx="3292475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9" name="Picture 10" descr="mmm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8" y="1066800"/>
            <a:ext cx="3217862" cy="157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90" name="Picture 11" descr="6bar_m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066800"/>
            <a:ext cx="3284538" cy="153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91" name="Text Box 12"/>
          <p:cNvSpPr txBox="1">
            <a:spLocks noChangeArrowheads="1"/>
          </p:cNvSpPr>
          <p:nvPr/>
        </p:nvSpPr>
        <p:spPr bwMode="auto">
          <a:xfrm>
            <a:off x="7258050" y="6096000"/>
            <a:ext cx="1733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600"/>
              <a:t>+4 = 25</a:t>
            </a:r>
          </a:p>
        </p:txBody>
      </p:sp>
    </p:spTree>
    <p:extLst>
      <p:ext uri="{BB962C8B-B14F-4D97-AF65-F5344CB8AC3E}">
        <p14:creationId xmlns:p14="http://schemas.microsoft.com/office/powerpoint/2010/main" val="3860103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28600"/>
            <a:ext cx="8591550" cy="1066800"/>
          </a:xfrm>
        </p:spPr>
        <p:txBody>
          <a:bodyPr/>
          <a:lstStyle/>
          <a:p>
            <a:r>
              <a:rPr lang="en-US">
                <a:cs typeface="Tunga" pitchFamily="34" charset="0"/>
              </a:rPr>
              <a:t>Dihedral Groups + </a:t>
            </a:r>
            <a:r>
              <a:rPr lang="en-US">
                <a:latin typeface="Symbol" pitchFamily="18" charset="2"/>
                <a:cs typeface="Tunga" pitchFamily="34" charset="0"/>
              </a:rPr>
              <a:t>s</a:t>
            </a:r>
            <a:r>
              <a:rPr lang="en-US" baseline="-25000">
                <a:cs typeface="Tunga" pitchFamily="34" charset="0"/>
              </a:rPr>
              <a:t>d</a:t>
            </a:r>
          </a:p>
        </p:txBody>
      </p:sp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1385888" y="2768600"/>
          <a:ext cx="17684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700" imgH="241300" progId="Equation.3">
                  <p:embed/>
                </p:oleObj>
              </mc:Choice>
              <mc:Fallback>
                <p:oleObj name="Equation" r:id="rId2" imgW="647700" imgH="241300" progId="Equation.3">
                  <p:embed/>
                  <p:pic>
                    <p:nvPicPr>
                      <p:cNvPr id="215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5888" y="2768600"/>
                        <a:ext cx="1768475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6015038" y="2749550"/>
          <a:ext cx="15621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1252" imgH="241195" progId="Equation.3">
                  <p:embed/>
                </p:oleObj>
              </mc:Choice>
              <mc:Fallback>
                <p:oleObj name="Equation" r:id="rId4" imgW="571252" imgH="241195" progId="Equation.3">
                  <p:embed/>
                  <p:pic>
                    <p:nvPicPr>
                      <p:cNvPr id="215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5038" y="2749550"/>
                        <a:ext cx="15621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1524000" y="4114800"/>
          <a:ext cx="100647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8300" imgH="228600" progId="Equation.3">
                  <p:embed/>
                </p:oleObj>
              </mc:Choice>
              <mc:Fallback>
                <p:oleObj name="Equation" r:id="rId6" imgW="368300" imgH="228600" progId="Equation.3">
                  <p:embed/>
                  <p:pic>
                    <p:nvPicPr>
                      <p:cNvPr id="215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114800"/>
                        <a:ext cx="1006475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6324600" y="4114800"/>
          <a:ext cx="97155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5446" imgH="228501" progId="Equation.3">
                  <p:embed/>
                </p:oleObj>
              </mc:Choice>
              <mc:Fallback>
                <p:oleObj name="Equation" r:id="rId8" imgW="355446" imgH="228501" progId="Equation.3">
                  <p:embed/>
                  <p:pic>
                    <p:nvPicPr>
                      <p:cNvPr id="215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114800"/>
                        <a:ext cx="97155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11" name="Picture 11" descr="3bar_m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143000"/>
            <a:ext cx="3308350" cy="151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2" name="Picture 12" descr="4bar_2m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43000"/>
            <a:ext cx="326390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4285" name="Object 13"/>
          <p:cNvGraphicFramePr>
            <a:graphicFrameLocks noChangeAspect="1"/>
          </p:cNvGraphicFramePr>
          <p:nvPr/>
        </p:nvGraphicFramePr>
        <p:xfrm>
          <a:off x="1524000" y="4854575"/>
          <a:ext cx="90011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0057" imgH="203112" progId="Equation.3">
                  <p:embed/>
                </p:oleObj>
              </mc:Choice>
              <mc:Fallback>
                <p:oleObj name="Equation" r:id="rId12" imgW="330057" imgH="203112" progId="Equation.3">
                  <p:embed/>
                  <p:pic>
                    <p:nvPicPr>
                      <p:cNvPr id="5428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54575"/>
                        <a:ext cx="90011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6" name="Object 14"/>
          <p:cNvGraphicFramePr>
            <a:graphicFrameLocks noChangeAspect="1"/>
          </p:cNvGraphicFramePr>
          <p:nvPr/>
        </p:nvGraphicFramePr>
        <p:xfrm>
          <a:off x="6248400" y="4902200"/>
          <a:ext cx="107473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93529" imgH="241195" progId="Equation.3">
                  <p:embed/>
                </p:oleObj>
              </mc:Choice>
              <mc:Fallback>
                <p:oleObj name="Equation" r:id="rId14" imgW="393529" imgH="241195" progId="Equation.3">
                  <p:embed/>
                  <p:pic>
                    <p:nvPicPr>
                      <p:cNvPr id="5428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4902200"/>
                        <a:ext cx="107473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5" name="Text Box 15"/>
          <p:cNvSpPr txBox="1">
            <a:spLocks noChangeArrowheads="1"/>
          </p:cNvSpPr>
          <p:nvPr/>
        </p:nvSpPr>
        <p:spPr bwMode="auto">
          <a:xfrm>
            <a:off x="7258050" y="6096000"/>
            <a:ext cx="1733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600"/>
              <a:t>+2 = 27</a:t>
            </a:r>
          </a:p>
        </p:txBody>
      </p:sp>
    </p:spTree>
    <p:extLst>
      <p:ext uri="{BB962C8B-B14F-4D97-AF65-F5344CB8AC3E}">
        <p14:creationId xmlns:p14="http://schemas.microsoft.com/office/powerpoint/2010/main" val="11826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5" descr="2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143000"/>
            <a:ext cx="3284538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7" descr="4bar_3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429000"/>
            <a:ext cx="3335338" cy="164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8" descr="m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505200"/>
            <a:ext cx="3178175" cy="159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Rectangle 10"/>
          <p:cNvSpPr>
            <a:spLocks noGrp="1" noChangeArrowheads="1"/>
          </p:cNvSpPr>
          <p:nvPr>
            <p:ph type="title"/>
          </p:nvPr>
        </p:nvSpPr>
        <p:spPr>
          <a:xfrm>
            <a:off x="276225" y="228600"/>
            <a:ext cx="8591550" cy="1066800"/>
          </a:xfrm>
        </p:spPr>
        <p:txBody>
          <a:bodyPr/>
          <a:lstStyle/>
          <a:p>
            <a:r>
              <a:rPr lang="en-US">
                <a:cs typeface="Tunga" pitchFamily="34" charset="0"/>
              </a:rPr>
              <a:t>T Groups</a:t>
            </a:r>
          </a:p>
        </p:txBody>
      </p:sp>
      <p:graphicFrame>
        <p:nvGraphicFramePr>
          <p:cNvPr id="23558" name="Object 11"/>
          <p:cNvGraphicFramePr>
            <a:graphicFrameLocks noChangeAspect="1"/>
          </p:cNvGraphicFramePr>
          <p:nvPr/>
        </p:nvGraphicFramePr>
        <p:xfrm>
          <a:off x="3962400" y="2778125"/>
          <a:ext cx="1236663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0835" imgH="215806" progId="Equation.3">
                  <p:embed/>
                </p:oleObj>
              </mc:Choice>
              <mc:Fallback>
                <p:oleObj name="Equation" r:id="rId5" imgW="380835" imgH="215806" progId="Equation.3">
                  <p:embed/>
                  <p:pic>
                    <p:nvPicPr>
                      <p:cNvPr id="2355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778125"/>
                        <a:ext cx="1236663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12"/>
          <p:cNvGraphicFramePr>
            <a:graphicFrameLocks noChangeAspect="1"/>
          </p:cNvGraphicFramePr>
          <p:nvPr/>
        </p:nvGraphicFramePr>
        <p:xfrm>
          <a:off x="1477963" y="5048250"/>
          <a:ext cx="14827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57200" imgH="228600" progId="Equation.3">
                  <p:embed/>
                </p:oleObj>
              </mc:Choice>
              <mc:Fallback>
                <p:oleObj name="Equation" r:id="rId7" imgW="457200" imgH="228600" progId="Equation.3">
                  <p:embed/>
                  <p:pic>
                    <p:nvPicPr>
                      <p:cNvPr id="2355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963" y="5048250"/>
                        <a:ext cx="14827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13"/>
          <p:cNvGraphicFramePr>
            <a:graphicFrameLocks noChangeAspect="1"/>
          </p:cNvGraphicFramePr>
          <p:nvPr/>
        </p:nvGraphicFramePr>
        <p:xfrm>
          <a:off x="6208713" y="5006975"/>
          <a:ext cx="1773237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45863" imgH="241195" progId="Equation.3">
                  <p:embed/>
                </p:oleObj>
              </mc:Choice>
              <mc:Fallback>
                <p:oleObj name="Equation" r:id="rId9" imgW="545863" imgH="241195" progId="Equation.3">
                  <p:embed/>
                  <p:pic>
                    <p:nvPicPr>
                      <p:cNvPr id="2356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8713" y="5006975"/>
                        <a:ext cx="1773237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Text Box 14"/>
          <p:cNvSpPr txBox="1">
            <a:spLocks noChangeArrowheads="1"/>
          </p:cNvSpPr>
          <p:nvPr/>
        </p:nvSpPr>
        <p:spPr bwMode="auto">
          <a:xfrm>
            <a:off x="7258050" y="6096000"/>
            <a:ext cx="1733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600"/>
              <a:t>+3 = 30</a:t>
            </a:r>
          </a:p>
        </p:txBody>
      </p:sp>
    </p:spTree>
    <p:extLst>
      <p:ext uri="{BB962C8B-B14F-4D97-AF65-F5344CB8AC3E}">
        <p14:creationId xmlns:p14="http://schemas.microsoft.com/office/powerpoint/2010/main" val="670095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/>
          <p:cNvSpPr>
            <a:spLocks noGrp="1" noChangeArrowheads="1"/>
          </p:cNvSpPr>
          <p:nvPr>
            <p:ph type="title"/>
          </p:nvPr>
        </p:nvSpPr>
        <p:spPr>
          <a:xfrm>
            <a:off x="276225" y="228600"/>
            <a:ext cx="8591550" cy="1066800"/>
          </a:xfrm>
        </p:spPr>
        <p:txBody>
          <a:bodyPr/>
          <a:lstStyle/>
          <a:p>
            <a:r>
              <a:rPr lang="en-US">
                <a:cs typeface="Tunga" pitchFamily="34" charset="0"/>
              </a:rPr>
              <a:t>T Groups</a:t>
            </a:r>
          </a:p>
        </p:txBody>
      </p:sp>
      <p:pic>
        <p:nvPicPr>
          <p:cNvPr id="24579" name="Picture 5" descr="tetr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47800"/>
            <a:ext cx="4762500" cy="364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7" descr="tetrahedr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758950"/>
            <a:ext cx="3565525" cy="342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1807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4" descr="43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66800"/>
            <a:ext cx="4295775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5" descr="m3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200400"/>
            <a:ext cx="4278313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Rectangle 6"/>
          <p:cNvSpPr>
            <a:spLocks noGrp="1" noChangeArrowheads="1"/>
          </p:cNvSpPr>
          <p:nvPr>
            <p:ph type="title"/>
          </p:nvPr>
        </p:nvSpPr>
        <p:spPr>
          <a:xfrm>
            <a:off x="276225" y="228600"/>
            <a:ext cx="8591550" cy="1066800"/>
          </a:xfrm>
        </p:spPr>
        <p:txBody>
          <a:bodyPr/>
          <a:lstStyle/>
          <a:p>
            <a:r>
              <a:rPr lang="en-US">
                <a:cs typeface="Tunga" pitchFamily="34" charset="0"/>
              </a:rPr>
              <a:t>O Groups</a:t>
            </a:r>
          </a:p>
        </p:txBody>
      </p:sp>
      <p:graphicFrame>
        <p:nvGraphicFramePr>
          <p:cNvPr id="25605" name="Object 7"/>
          <p:cNvGraphicFramePr>
            <a:graphicFrameLocks noChangeAspect="1"/>
          </p:cNvGraphicFramePr>
          <p:nvPr/>
        </p:nvGraphicFramePr>
        <p:xfrm>
          <a:off x="1371600" y="3392488"/>
          <a:ext cx="1612900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181" imgH="215713" progId="Equation.3">
                  <p:embed/>
                </p:oleObj>
              </mc:Choice>
              <mc:Fallback>
                <p:oleObj name="Equation" r:id="rId4" imgW="482181" imgH="215713" progId="Equation.3">
                  <p:embed/>
                  <p:pic>
                    <p:nvPicPr>
                      <p:cNvPr id="2560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392488"/>
                        <a:ext cx="1612900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8"/>
          <p:cNvGraphicFramePr>
            <a:graphicFrameLocks noChangeAspect="1"/>
          </p:cNvGraphicFramePr>
          <p:nvPr/>
        </p:nvGraphicFramePr>
        <p:xfrm>
          <a:off x="5764213" y="5237163"/>
          <a:ext cx="1995487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96900" imgH="228600" progId="Equation.3">
                  <p:embed/>
                </p:oleObj>
              </mc:Choice>
              <mc:Fallback>
                <p:oleObj name="Equation" r:id="rId6" imgW="596900" imgH="228600" progId="Equation.3">
                  <p:embed/>
                  <p:pic>
                    <p:nvPicPr>
                      <p:cNvPr id="2560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4213" y="5237163"/>
                        <a:ext cx="1995487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Text Box 9"/>
          <p:cNvSpPr txBox="1">
            <a:spLocks noChangeArrowheads="1"/>
          </p:cNvSpPr>
          <p:nvPr/>
        </p:nvSpPr>
        <p:spPr bwMode="auto">
          <a:xfrm>
            <a:off x="7258050" y="6096000"/>
            <a:ext cx="1733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600"/>
              <a:t>+2 = 32</a:t>
            </a:r>
          </a:p>
        </p:txBody>
      </p:sp>
    </p:spTree>
    <p:extLst>
      <p:ext uri="{BB962C8B-B14F-4D97-AF65-F5344CB8AC3E}">
        <p14:creationId xmlns:p14="http://schemas.microsoft.com/office/powerpoint/2010/main" val="2609463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28600"/>
            <a:ext cx="8591550" cy="1066800"/>
          </a:xfrm>
        </p:spPr>
        <p:txBody>
          <a:bodyPr/>
          <a:lstStyle/>
          <a:p>
            <a:r>
              <a:rPr lang="en-US">
                <a:cs typeface="Tunga" pitchFamily="34" charset="0"/>
              </a:rPr>
              <a:t>O Groups</a:t>
            </a:r>
          </a:p>
        </p:txBody>
      </p:sp>
      <p:pic>
        <p:nvPicPr>
          <p:cNvPr id="26627" name="Picture 4" descr="octohedr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550" y="1598613"/>
            <a:ext cx="3702050" cy="343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Picture 5" descr="oct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28700"/>
            <a:ext cx="5229225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920304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74</Words>
  <Application>Microsoft Office PowerPoint</Application>
  <PresentationFormat>On-screen Show (4:3)</PresentationFormat>
  <Paragraphs>20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Symbol</vt:lpstr>
      <vt:lpstr>Tunga</vt:lpstr>
      <vt:lpstr>1_Office Theme</vt:lpstr>
      <vt:lpstr>Equation</vt:lpstr>
      <vt:lpstr>Cyclic Point Groups</vt:lpstr>
      <vt:lpstr>Cyclic + Horizontal Mirror Groups</vt:lpstr>
      <vt:lpstr>Cyclic + Vertical Mirror Groups</vt:lpstr>
      <vt:lpstr>Rotoreflection Groups</vt:lpstr>
      <vt:lpstr>Rotations + Perpendicular 2-folds Dihedral (Dn) Groups</vt:lpstr>
      <vt:lpstr>Dihedral Groups + sh</vt:lpstr>
      <vt:lpstr>Dihedral Groups + sd</vt:lpstr>
      <vt:lpstr>T Groups</vt:lpstr>
      <vt:lpstr>T Groups</vt:lpstr>
      <vt:lpstr>O Groups</vt:lpstr>
      <vt:lpstr>O Groups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Cyclic Point Groups</dc:title>
  <dc:creator>Mohammed Ziyad</dc:creator>
  <cp:lastModifiedBy>Mohammed Ziyad</cp:lastModifiedBy>
  <cp:revision>1</cp:revision>
  <cp:lastPrinted>2016-12-16T10:23:28Z</cp:lastPrinted>
  <dcterms:created xsi:type="dcterms:W3CDTF">2016-12-16T10:22:41Z</dcterms:created>
  <dcterms:modified xsi:type="dcterms:W3CDTF">2026-03-18T12:07:49Z</dcterms:modified>
</cp:coreProperties>
</file>